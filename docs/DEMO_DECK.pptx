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223760" y="640080"/>
            <a:ext cx="4480560" cy="4480560"/>
          </a:xfrm>
          <a:prstGeom prst="ellipse">
            <a:avLst/>
          </a:prstGeom>
          <a:noFill/>
          <a:ln w="19050">
            <a:solidFill>
              <a:srgbClr val="86BC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3108960"/>
            <a:ext cx="2926080" cy="2926080"/>
          </a:xfrm>
          <a:prstGeom prst="ellipse">
            <a:avLst/>
          </a:prstGeom>
          <a:noFill/>
          <a:ln w="1270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67728" y="932688"/>
            <a:ext cx="292608" cy="292608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EXECUTIVE REFERENCE DECK · V0.7.0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280160"/>
            <a:ext cx="6949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0E0E"/>
                </a:solidFill>
                <a:latin typeface="Arial"/>
              </a:rPr>
              <a:t>SAP Hybris to Salesforce.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0E0E"/>
                </a:solidFill>
                <a:latin typeface="Arial"/>
              </a:rPr>
              <a:t>Migrated by AI. Proven to run</a:t>
            </a:r>
            <a:r>
              <a:rPr sz="34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606040"/>
            <a:ext cx="868680" cy="7315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2880360"/>
            <a:ext cx="6492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3565A"/>
                </a:solidFill>
                <a:latin typeface="Arial"/>
              </a:rPr>
              <a:t>A complete walkthrough — the problem, the architecture, how the AI agent team works, how every output is verified, and what it means for the business. One deck, every answer.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4160520"/>
            <a:ext cx="1564538" cy="384048"/>
          </a:xfrm>
          <a:prstGeom prst="rect">
            <a:avLst/>
          </a:prstGeom>
          <a:noFill/>
          <a:ln w="19050">
            <a:solidFill>
              <a:srgbClr val="A96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4160520"/>
            <a:ext cx="1564538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A9622F"/>
                </a:solidFill>
                <a:latin typeface="Courier New"/>
              </a:rPr>
              <a:t>SAP HYBRIS · 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8042" y="4160520"/>
            <a:ext cx="457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8F9296"/>
                </a:solidFill>
                <a:latin typeface="Arial"/>
              </a:rPr>
              <a:t>──▶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25242" y="4160520"/>
            <a:ext cx="1260957" cy="384048"/>
          </a:xfrm>
          <a:prstGeom prst="rect">
            <a:avLst/>
          </a:prstGeom>
          <a:noFill/>
          <a:ln w="19050">
            <a:solidFill>
              <a:srgbClr val="0E0E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5242" y="4160520"/>
            <a:ext cx="1260957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E0E0E"/>
                </a:solidFill>
                <a:latin typeface="Courier New"/>
              </a:rPr>
              <a:t>AI AGENT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4160520"/>
            <a:ext cx="457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8F9296"/>
                </a:solidFill>
                <a:latin typeface="Arial"/>
              </a:rPr>
              <a:t>──▶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160520"/>
            <a:ext cx="1564538" cy="384048"/>
          </a:xfrm>
          <a:prstGeom prst="rect">
            <a:avLst/>
          </a:prstGeom>
          <a:noFill/>
          <a:ln w="19050">
            <a:solidFill>
              <a:srgbClr val="007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4160520"/>
            <a:ext cx="1564538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07CB0"/>
                </a:solidFill>
                <a:latin typeface="Courier New"/>
              </a:rPr>
              <a:t>SALESFORCE · APEX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4983480"/>
            <a:ext cx="2137867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983480"/>
            <a:ext cx="1863547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Courier New"/>
              </a:rPr>
              <a:t>VS Code extension </a:t>
            </a:r>
            <a:r>
              <a:rPr sz="900" b="1" i="0">
                <a:solidFill>
                  <a:srgbClr val="0E0E0E"/>
                </a:solidFill>
                <a:latin typeface="Courier New"/>
              </a:rPr>
              <a:t>+ CLI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4251" y="4983480"/>
            <a:ext cx="24524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61411" y="4983480"/>
            <a:ext cx="2178100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Courier New"/>
              </a:rPr>
              <a:t>Powered by </a:t>
            </a:r>
            <a:r>
              <a:rPr sz="900" b="1" i="0">
                <a:solidFill>
                  <a:srgbClr val="0E0E0E"/>
                </a:solidFill>
                <a:latin typeface="Courier New"/>
              </a:rPr>
              <a:t>Anthropic Claude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59552" y="4983480"/>
            <a:ext cx="2845612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96712" y="4983480"/>
            <a:ext cx="2571292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E0E0E"/>
                </a:solidFill>
                <a:latin typeface="Courier New"/>
              </a:rPr>
              <a:t>63</a:t>
            </a:r>
            <a:r>
              <a:rPr sz="900" b="0" i="0">
                <a:solidFill>
                  <a:srgbClr val="53565A"/>
                </a:solidFill>
                <a:latin typeface="Courier New"/>
              </a:rPr>
              <a:t> automated tests · all passing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01 / 20</a:t>
            </a:r>
          </a:p>
        </p:txBody>
      </p:sp>
      <p:sp>
        <p:nvSpPr>
          <p:cNvPr id="27" name="Oval 26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What we'll cover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02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208483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2084832"/>
            <a:ext cx="22722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7228" y="20848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why manual migration fails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587752"/>
            <a:ext cx="4466844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18988" y="208483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76188" y="2084832"/>
            <a:ext cx="22722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What the platform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2712" y="20848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in → 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18988" y="2587752"/>
            <a:ext cx="4466844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74320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2743200"/>
            <a:ext cx="22722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How it works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67228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the four moves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" y="3246120"/>
            <a:ext cx="4466844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18988" y="274320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6188" y="2743200"/>
            <a:ext cx="22722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2712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the layers, at a glance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18988" y="3246120"/>
            <a:ext cx="4466844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340156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401568"/>
            <a:ext cx="22722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The 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67228" y="34015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10 stages, end to end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" y="3904488"/>
            <a:ext cx="4466844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18988" y="340156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6188" y="3401568"/>
            <a:ext cx="22722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The AI agent team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82712" y="34015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who does what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18988" y="3904488"/>
            <a:ext cx="4466844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405993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" y="4059936"/>
            <a:ext cx="22722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The user journey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67228" y="405993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right-click → project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" y="4562856"/>
            <a:ext cx="4466844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18988" y="405993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76188" y="4059936"/>
            <a:ext cx="22722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Self-healing verification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82712" y="405993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why you can trust 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18988" y="4562856"/>
            <a:ext cx="4466844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4" y="471830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" y="4718304"/>
            <a:ext cx="22722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Grounding &amp; safety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67228" y="471830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no hallucinations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3504" y="5221224"/>
            <a:ext cx="4466844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18988" y="471830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76188" y="4718304"/>
            <a:ext cx="22722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Evidence, status, security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82712" y="471830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real runs · shipped scope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18988" y="5221224"/>
            <a:ext cx="4466844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3504" y="537667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" y="5376672"/>
            <a:ext cx="22722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Business case &amp; FAQ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67228" y="53766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value, cost, questions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" y="5879592"/>
            <a:ext cx="4466844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18988" y="537667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76188" y="5376672"/>
            <a:ext cx="22722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Roadmap &amp; the ask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82712" y="53766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F9296"/>
                </a:solidFill>
                <a:latin typeface="Arial"/>
              </a:rPr>
              <a:t>what's next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18988" y="5879592"/>
            <a:ext cx="4466844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01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0E0E"/>
                </a:solidFill>
                <a:latin typeface="Arial"/>
              </a:rPr>
              <a:t>Replatforming by hand is slow, expensive —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0E0E"/>
                </a:solidFill>
                <a:latin typeface="Arial"/>
              </a:rPr>
              <a:t>and quietly loses business logic</a:t>
            </a:r>
            <a:r>
              <a:rPr sz="27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03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039112"/>
            <a:ext cx="2965703" cy="50292"/>
          </a:xfrm>
          <a:prstGeom prst="rect">
            <a:avLst/>
          </a:prstGeom>
          <a:solidFill>
            <a:srgbClr val="B3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25267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>
                <a:solidFill>
                  <a:srgbClr val="B3282D"/>
                </a:solidFill>
                <a:latin typeface="Arial"/>
              </a:rPr>
              <a:t>Months →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27832"/>
            <a:ext cx="2526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A mid-size Hybris estate holds hundreds of Java classes, a custom data model, live data, and scheduled jobs. Manual rewrites are measured in quarters.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61815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61815" y="2039112"/>
            <a:ext cx="2965703" cy="50292"/>
          </a:xfrm>
          <a:prstGeom prst="rect">
            <a:avLst/>
          </a:prstGeom>
          <a:solidFill>
            <a:srgbClr val="B3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81271" y="2286000"/>
            <a:ext cx="25267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>
                <a:solidFill>
                  <a:srgbClr val="B3282D"/>
                </a:solidFill>
                <a:latin typeface="Arial"/>
              </a:rPr>
              <a:t>Two-platform experts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1271" y="3227832"/>
            <a:ext cx="2526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It needs engineers senior in both Hybris and Salesforce — among the rarest, costliest skill combinations in the market.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20127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20127" y="2039112"/>
            <a:ext cx="2965703" cy="50292"/>
          </a:xfrm>
          <a:prstGeom prst="rect">
            <a:avLst/>
          </a:prstGeom>
          <a:solidFill>
            <a:srgbClr val="B3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9583" y="2286000"/>
            <a:ext cx="25267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>
                <a:solidFill>
                  <a:srgbClr val="B3282D"/>
                </a:solidFill>
                <a:latin typeface="Arial"/>
              </a:rPr>
              <a:t>Silent logic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9583" y="3227832"/>
            <a:ext cx="2526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Rules like “never accept a zero-value order” vanish in manual translation. Nobody notices — until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Rewriting an old system by hand is like retyping a 1,000-page contract from memory — slow, and the fine print is what gets lost.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02 · WHAT IT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E0E0E"/>
                </a:solidFill>
                <a:latin typeface="Arial"/>
              </a:rPr>
              <a:t>Point it at the old code. Get a working Salesforce project back</a:t>
            </a:r>
            <a:r>
              <a:rPr sz="25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04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84832"/>
            <a:ext cx="3977639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084832"/>
            <a:ext cx="3977639" cy="50292"/>
          </a:xfrm>
          <a:prstGeom prst="rect">
            <a:avLst/>
          </a:prstGeom>
          <a:solidFill>
            <a:srgbClr val="A96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359152"/>
            <a:ext cx="3520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IN — a Hybris codebase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862072"/>
            <a:ext cx="3520439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Java business logic (orders, customers, pricing…)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The data model (items.xml)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Actual data records (ImpEx files)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A9622F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Scheduled jobs (cronjobs + triggers)</a:t>
            </a:r>
          </a:p>
        </p:txBody>
      </p:sp>
      <p:sp>
        <p:nvSpPr>
          <p:cNvPr id="14" name="Oval 13"/>
          <p:cNvSpPr/>
          <p:nvPr/>
        </p:nvSpPr>
        <p:spPr>
          <a:xfrm>
            <a:off x="4887468" y="3182112"/>
            <a:ext cx="914400" cy="914400"/>
          </a:xfrm>
          <a:prstGeom prst="ellipse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87468" y="318211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 AGENT
TEAM</a:t>
            </a:r>
          </a:p>
        </p:txBody>
      </p:sp>
      <p:sp>
        <p:nvSpPr>
          <p:cNvPr id="16" name="Oval 15"/>
          <p:cNvSpPr/>
          <p:nvPr/>
        </p:nvSpPr>
        <p:spPr>
          <a:xfrm>
            <a:off x="5637276" y="3840480"/>
            <a:ext cx="109728" cy="109728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7428" y="423367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F9296"/>
                </a:solidFill>
                <a:latin typeface="Courier New"/>
              </a:rPr>
              <a:t>MINUTES–HOURS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08192" y="2084832"/>
            <a:ext cx="3977639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08192" y="2084832"/>
            <a:ext cx="3977639" cy="50292"/>
          </a:xfrm>
          <a:prstGeom prst="rect">
            <a:avLst/>
          </a:prstGeom>
          <a:solidFill>
            <a:srgbClr val="007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2359152"/>
            <a:ext cx="3520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OUT — deployable Salesforce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862072"/>
            <a:ext cx="3520439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Apex code in Salesforce enterprise patterns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A test class for every class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Data model, data &amp; schedules — migrated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007CB0"/>
                </a:solidFill>
                <a:latin typeface="Arial"/>
              </a:rPr>
              <a:t>—  </a:t>
            </a:r>
            <a:r>
              <a:rPr sz="1150" b="0" i="0">
                <a:solidFill>
                  <a:srgbClr val="53565A"/>
                </a:solidFill>
                <a:latin typeface="Arial"/>
              </a:rPr>
              <a:t>Confidence report: what to trust, what to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Old system in, new system out — with a quality report on top, like a surveyor's certificate handed over with the keys.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03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Four moves — the way a strong engineering team would do it</a:t>
            </a:r>
            <a:r>
              <a:rPr sz="26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05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5925" y="2404872"/>
            <a:ext cx="7317486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1877" y="203911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0E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01877" y="2039112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0E0E0E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2999232"/>
            <a:ext cx="216484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410712"/>
            <a:ext cx="2073401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Reads every file, maps dependencies, and writes down the business rules it finds — before writing any code.</a:t>
            </a:r>
          </a:p>
        </p:txBody>
      </p:sp>
      <p:sp>
        <p:nvSpPr>
          <p:cNvPr id="15" name="Oval 14"/>
          <p:cNvSpPr/>
          <p:nvPr/>
        </p:nvSpPr>
        <p:spPr>
          <a:xfrm>
            <a:off x="3741038" y="203911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0E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1038" y="2039112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0E0E0E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2665" y="2999232"/>
            <a:ext cx="216484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8385" y="3410712"/>
            <a:ext cx="2073401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Decides what each piece becomes — including what should not be custom code at all.</a:t>
            </a:r>
          </a:p>
        </p:txBody>
      </p:sp>
      <p:sp>
        <p:nvSpPr>
          <p:cNvPr id="19" name="Oval 18"/>
          <p:cNvSpPr/>
          <p:nvPr/>
        </p:nvSpPr>
        <p:spPr>
          <a:xfrm>
            <a:off x="6180200" y="203911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0E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0200" y="2039112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0E0E0E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1827" y="2999232"/>
            <a:ext cx="216484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Build &amp;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7547" y="3410712"/>
            <a:ext cx="2073401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Writes the code and tests; a second AI reviews every piece skeptically before it's accepted.</a:t>
            </a:r>
          </a:p>
        </p:txBody>
      </p:sp>
      <p:sp>
        <p:nvSpPr>
          <p:cNvPr id="23" name="Oval 22"/>
          <p:cNvSpPr/>
          <p:nvPr/>
        </p:nvSpPr>
        <p:spPr>
          <a:xfrm>
            <a:off x="8619362" y="2039112"/>
            <a:ext cx="768096" cy="7680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6BC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9362" y="2039112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046A38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0989" y="2999232"/>
            <a:ext cx="216484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Prove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6709" y="3410712"/>
            <a:ext cx="2073401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Deploys to a real Salesforce environment and fixes real errors itself — in a loop, until green.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Read first, decide second, build with a reviewer looking over your shoulder, and don't call it done until it actually runs. Every decision is written down — no black box.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04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Four layers, one engine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06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194767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1947672"/>
            <a:ext cx="1783080" cy="786384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947672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INTERFACES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9464" y="2167128"/>
            <a:ext cx="2126894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60904" y="2167128"/>
            <a:ext cx="194401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VS Code extension — right-click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24374" y="2167128"/>
            <a:ext cx="1704441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5814" y="2167128"/>
            <a:ext cx="1521561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Command line — for CI/CD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56832" y="2167128"/>
            <a:ext cx="1825142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2167128"/>
            <a:ext cx="164226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both drive the same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715768"/>
            <a:ext cx="9482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" y="295351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" y="2953512"/>
            <a:ext cx="1783080" cy="786384"/>
          </a:xfrm>
          <a:prstGeom prst="rect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2953512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ORCHESTRATION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9464" y="3172968"/>
            <a:ext cx="3394252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60904" y="3172968"/>
            <a:ext cx="32113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Agentic mode — Planner · Builder · Critic · Verifier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1732" y="3172968"/>
            <a:ext cx="248899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83172" y="3172968"/>
            <a:ext cx="23061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Linear mode — fixed 10-stage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3721608"/>
            <a:ext cx="9482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" y="395935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" y="3959352"/>
            <a:ext cx="1783080" cy="786384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3959352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SHARED STAGE FUNCTIONS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9464" y="4178807"/>
            <a:ext cx="85953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60904" y="4178807"/>
            <a:ext cx="67665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parse Java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57016" y="4178807"/>
            <a:ext cx="1040587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4178807"/>
            <a:ext cx="85770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derive schema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25619" y="4178807"/>
            <a:ext cx="1040587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17059" y="4178807"/>
            <a:ext cx="85770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generate Apex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94222" y="4178807"/>
            <a:ext cx="1281988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85662" y="4178807"/>
            <a:ext cx="10991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validate &amp; repair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04227" y="4178807"/>
            <a:ext cx="91988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95667" y="4178807"/>
            <a:ext cx="73700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data · jobs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52129" y="4178807"/>
            <a:ext cx="1161288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43569" y="4178807"/>
            <a:ext cx="9784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verify · report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4727448"/>
            <a:ext cx="9482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" y="4965192"/>
            <a:ext cx="948232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3504" y="4965192"/>
            <a:ext cx="1783080" cy="786384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808" y="4965192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FFFFFF"/>
                </a:solidFill>
                <a:latin typeface="Courier New"/>
              </a:rPr>
              <a:t>AI PROVIDERS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69464" y="5184647"/>
            <a:ext cx="2126894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60904" y="5184647"/>
            <a:ext cx="194401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Anthropic Claude — best quality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24374" y="5184647"/>
            <a:ext cx="1945843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15814" y="5184647"/>
            <a:ext cx="176296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OpenRouter — cheap iteration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98233" y="5184647"/>
            <a:ext cx="2368296" cy="347472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89673" y="5184647"/>
            <a:ext cx="2185415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E0E0E"/>
                </a:solidFill>
                <a:latin typeface="Arial"/>
              </a:rPr>
              <a:t>Mock — free, offline, zero exposure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Two “driving modes” — a smart agent team, or a simple assembly line — share the same proven tools underneath, so every fix lands in both. And the AI brain is swappable, including a free offline 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05 · THE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Ten stages, end to end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07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Crawl &amp; schedule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Group classes by domain; sort so dependencies convert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0203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6507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6507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Call graph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6507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Map who-calls-whom for the visual dashboard.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76902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23206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3206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Ingest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206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Parse the Java and data-model definitions precisely.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13601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9905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9905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Derive schema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9905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Build the target object/field catalog — the source of truth.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50300" y="1947672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96604" y="2075688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8632" y="2066543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28632" y="2057400"/>
            <a:ext cx="329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604" y="2313432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Comprehend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96604" y="2660904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AI summarises each class: purpose, queries, rules.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81835" y="3703320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81835" y="3694176"/>
            <a:ext cx="329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Generate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AI writes the Apex + tests, grounded in the schema.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40203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86507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8534" y="3703320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18534" y="3694176"/>
            <a:ext cx="329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86507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Validate &amp; repair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86507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Safety checks; failures loop back to the AI to fix.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6902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23206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3206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Reconcile &amp; metadata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3206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Fill schema gaps with evidence; emit objects &amp; fields.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13601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9905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9905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Data &amp; jobs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59905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ImpEx → CSVs; cron triggers → scheduling runbook.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50300" y="3584448"/>
            <a:ext cx="1735531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96604" y="3712463"/>
            <a:ext cx="146121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46A38"/>
                </a:solidFill>
                <a:latin typeface="Courier New"/>
              </a:rPr>
              <a:t>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28632" y="3703320"/>
            <a:ext cx="329184" cy="21945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28632" y="3694176"/>
            <a:ext cx="3291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FFFFFF"/>
                </a:solidFill>
                <a:latin typeface="Courier New"/>
              </a:rPr>
              <a:t>AI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96604" y="3950208"/>
            <a:ext cx="146121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Verify &amp; report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96604" y="4297680"/>
            <a:ext cx="146121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3565A"/>
                </a:solidFill>
                <a:latin typeface="Arial"/>
              </a:rPr>
              <a:t>Real-org deploy + self-heal; confidence scores.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The </a:t>
            </a:r>
            <a:r>
              <a:rPr sz="1150" b="1" i="0">
                <a:solidFill>
                  <a:srgbClr val="0E0E0E"/>
                </a:solidFill>
                <a:latin typeface="Arial"/>
              </a:rPr>
              <a:t>AI</a:t>
            </a:r>
            <a:r>
              <a:rPr sz="1150" b="0" i="0">
                <a:solidFill>
                  <a:srgbClr val="222427"/>
                </a:solidFill>
                <a:latin typeface="Arial"/>
              </a:rPr>
              <a:t> is used only where judgement is needed — understanding and writing code. Everything mechanical is ordinary tested software: fast, free, repeatable.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06 · THE AGENTIC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0E0E"/>
                </a:solidFill>
                <a:latin typeface="Arial"/>
              </a:rPr>
              <a:t>A manager, a shared whiteboard, and four specialists</a:t>
            </a:r>
            <a:r>
              <a:rPr sz="27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08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84832"/>
            <a:ext cx="9482328" cy="566928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176272"/>
            <a:ext cx="9482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Orchestrator   </a:t>
            </a:r>
            <a:r>
              <a:rPr sz="850" b="0" i="0" spc="100">
                <a:solidFill>
                  <a:srgbClr val="86BC25"/>
                </a:solidFill>
                <a:latin typeface="Courier New"/>
              </a:rPr>
              <a:t>ROUTES WORK · LOOPS UNTIL EVERYTHING IS VERIFIED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679192"/>
            <a:ext cx="94823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▲   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907792"/>
            <a:ext cx="9482328" cy="603504"/>
          </a:xfrm>
          <a:prstGeom prst="rect">
            <a:avLst/>
          </a:prstGeom>
          <a:noFill/>
          <a:ln w="19050">
            <a:solidFill>
              <a:srgbClr val="86BC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907792"/>
            <a:ext cx="9482328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46A38"/>
                </a:solidFill>
                <a:latin typeface="Arial"/>
              </a:rPr>
              <a:t>The Blackboard</a:t>
            </a:r>
            <a:r>
              <a:rPr sz="1100" b="0" i="0">
                <a:solidFill>
                  <a:srgbClr val="222427"/>
                </a:solidFill>
                <a:latin typeface="Arial"/>
              </a:rPr>
              <a:t> — shared state:  schema · migration plan · generated artifacts · </a:t>
            </a:r>
            <a:r>
              <a:rPr sz="1100" b="1" i="0">
                <a:solidFill>
                  <a:srgbClr val="046A38"/>
                </a:solidFill>
                <a:latin typeface="Arial"/>
              </a:rPr>
              <a:t>decision log</a:t>
            </a:r>
            <a:r>
              <a:rPr sz="1100" b="0" i="0">
                <a:solidFill>
                  <a:srgbClr val="222427"/>
                </a:solidFill>
                <a:latin typeface="Arial"/>
              </a:rPr>
              <a:t> · open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547872"/>
            <a:ext cx="94823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8F9296"/>
                </a:solidFill>
                <a:latin typeface="Arial"/>
              </a:rPr>
              <a:t>▲   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3822191"/>
            <a:ext cx="2219706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3959352"/>
            <a:ext cx="22197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60">
                <a:solidFill>
                  <a:srgbClr val="046A38"/>
                </a:solidFill>
                <a:latin typeface="Courier New"/>
              </a:rPr>
              <a:t>STRATEGY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4187952"/>
            <a:ext cx="221970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E0E0E"/>
                </a:solidFill>
                <a:latin typeface="Arial"/>
              </a:rPr>
              <a:t>Planner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24378" y="3822191"/>
            <a:ext cx="2219706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24378" y="3959352"/>
            <a:ext cx="22197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60">
                <a:solidFill>
                  <a:srgbClr val="046A38"/>
                </a:solidFill>
                <a:latin typeface="Courier New"/>
              </a:rPr>
              <a:t>EXECUTION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4378" y="4187952"/>
            <a:ext cx="221970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E0E0E"/>
                </a:solidFill>
                <a:latin typeface="Arial"/>
              </a:rPr>
              <a:t>Builder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5252" y="3822191"/>
            <a:ext cx="2219706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5252" y="3959352"/>
            <a:ext cx="22197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60">
                <a:solidFill>
                  <a:srgbClr val="046A38"/>
                </a:solidFill>
                <a:latin typeface="Courier New"/>
              </a:rPr>
              <a:t>QUALITY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5252" y="4187952"/>
            <a:ext cx="221970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E0E0E"/>
                </a:solidFill>
                <a:latin typeface="Arial"/>
              </a:rPr>
              <a:t>Critic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6125" y="3822191"/>
            <a:ext cx="2219706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6125" y="3959352"/>
            <a:ext cx="22197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60">
                <a:solidFill>
                  <a:srgbClr val="046A38"/>
                </a:solidFill>
                <a:latin typeface="Courier New"/>
              </a:rPr>
              <a:t>PROOF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6125" y="4187952"/>
            <a:ext cx="221970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E0E0E"/>
                </a:solidFill>
                <a:latin typeface="Arial"/>
              </a:rPr>
              <a:t>Verifier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Four specialists around a shared whiteboard — so work can be sent back (Critic finds a problem → Builder fixes it), exactly like a real team. The whiteboard becomes a readable document after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06 · THE AGENT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0E0E"/>
                </a:solidFill>
                <a:latin typeface="Arial"/>
              </a:rPr>
              <a:t>Who does what — and what each one replaces</a:t>
            </a:r>
            <a:r>
              <a:rPr sz="28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09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39112"/>
            <a:ext cx="2205989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039112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286000"/>
            <a:ext cx="18402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80">
                <a:solidFill>
                  <a:srgbClr val="046A38"/>
                </a:solidFill>
                <a:latin typeface="Courier New"/>
              </a:rPr>
              <a:t>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542032"/>
            <a:ext cx="18402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0E0E0E"/>
                </a:solidFill>
                <a:latin typeface="Arial"/>
              </a:rPr>
              <a:t>The Planner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953512"/>
            <a:ext cx="184022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53565A"/>
                </a:solidFill>
                <a:latin typeface="Arial"/>
              </a:rPr>
              <a:t>Routes every piece: build as Apex, recommend a native Salesforce product, or skip — with a written rationale.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" y="4416552"/>
            <a:ext cx="36576" cy="68580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16552"/>
            <a:ext cx="171221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1">
                <a:solidFill>
                  <a:srgbClr val="222427"/>
                </a:solidFill>
                <a:latin typeface="Arial"/>
              </a:rPr>
              <a:t>“Pricing rules? That's Salesforce CPQ — don't hand-build it.”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5330952"/>
            <a:ext cx="1840229" cy="91440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40680"/>
            <a:ext cx="165734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A9622F"/>
                </a:solidFill>
                <a:latin typeface="Courier New"/>
              </a:rPr>
              <a:t>REPLACES — </a:t>
            </a:r>
            <a:r>
              <a:rPr sz="919" b="0" i="0">
                <a:solidFill>
                  <a:srgbClr val="53565A"/>
                </a:solidFill>
                <a:latin typeface="Arial"/>
              </a:rPr>
              <a:t>blind, hard-coded translation of everything.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28950" y="2039112"/>
            <a:ext cx="2205989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028950" y="2039112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1830" y="2286000"/>
            <a:ext cx="18402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80">
                <a:solidFill>
                  <a:srgbClr val="046A38"/>
                </a:solidFill>
                <a:latin typeface="Courier New"/>
              </a:rPr>
              <a:t>EXECUTION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11830" y="2542032"/>
            <a:ext cx="18402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0E0E0E"/>
                </a:solidFill>
                <a:latin typeface="Arial"/>
              </a:rPr>
              <a:t>The Builder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11830" y="2953512"/>
            <a:ext cx="184022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53565A"/>
                </a:solidFill>
                <a:latin typeface="Arial"/>
              </a:rPr>
              <a:t>Writes the Apex + a test class per class, grounded in the real schema and a built-in best-practice base.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1830" y="4416552"/>
            <a:ext cx="36576" cy="68580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846" y="4416552"/>
            <a:ext cx="171221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1">
                <a:solidFill>
                  <a:srgbClr val="222427"/>
                </a:solidFill>
                <a:latin typeface="Arial"/>
              </a:rPr>
              <a:t>“Bulk-safe, secure, in the house pattern — like a senior dev.”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1830" y="5330952"/>
            <a:ext cx="1840229" cy="91440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846" y="5440680"/>
            <a:ext cx="165734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A9622F"/>
                </a:solidFill>
                <a:latin typeface="Courier New"/>
              </a:rPr>
              <a:t>REPLACES — </a:t>
            </a:r>
            <a:r>
              <a:rPr sz="919" b="0" i="0">
                <a:solidFill>
                  <a:srgbClr val="53565A"/>
                </a:solidFill>
                <a:latin typeface="Arial"/>
              </a:rPr>
              <a:t>months of manual line-by-line rewriting.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54396" y="2039112"/>
            <a:ext cx="2205989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54396" y="2039112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37276" y="2286000"/>
            <a:ext cx="18402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80">
                <a:solidFill>
                  <a:srgbClr val="046A38"/>
                </a:solidFill>
                <a:latin typeface="Courier New"/>
              </a:rPr>
              <a:t>QUALITY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6" y="2542032"/>
            <a:ext cx="18402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0E0E0E"/>
                </a:solidFill>
                <a:latin typeface="Arial"/>
              </a:rPr>
              <a:t>The Critic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37276" y="2953512"/>
            <a:ext cx="184022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53565A"/>
                </a:solidFill>
                <a:latin typeface="Arial"/>
              </a:rPr>
              <a:t>Adversarially reviews every artifact: behavior preserved? Secure? Real problems trigger a fix-and-re-review.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37276" y="4416552"/>
            <a:ext cx="36576" cy="68580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5292" y="4416552"/>
            <a:ext cx="171221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1">
                <a:solidFill>
                  <a:srgbClr val="222427"/>
                </a:solidFill>
                <a:latin typeface="Arial"/>
              </a:rPr>
              <a:t>“The zero-total rule got dropped on one path — blocked.”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37276" y="5330952"/>
            <a:ext cx="1840229" cy="91440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5292" y="5440680"/>
            <a:ext cx="165734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A9622F"/>
                </a:solidFill>
                <a:latin typeface="Courier New"/>
              </a:rPr>
              <a:t>REPLACES — </a:t>
            </a:r>
            <a:r>
              <a:rPr sz="919" b="0" i="0">
                <a:solidFill>
                  <a:srgbClr val="53565A"/>
                </a:solidFill>
                <a:latin typeface="Arial"/>
              </a:rPr>
              <a:t>hoping a human catches everything later.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79842" y="2039112"/>
            <a:ext cx="2205989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79842" y="2039112"/>
            <a:ext cx="2205989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62721" y="2286000"/>
            <a:ext cx="18402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 spc="80">
                <a:solidFill>
                  <a:srgbClr val="046A38"/>
                </a:solidFill>
                <a:latin typeface="Courier New"/>
              </a:rPr>
              <a:t>PROOF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2721" y="2542032"/>
            <a:ext cx="18402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0E0E0E"/>
                </a:solidFill>
                <a:latin typeface="Arial"/>
              </a:rPr>
              <a:t>The Verifier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2721" y="2953512"/>
            <a:ext cx="184022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53565A"/>
                </a:solidFill>
                <a:latin typeface="Arial"/>
              </a:rPr>
              <a:t>Deploys to a real org, reads real compiler errors, heals them, and re-deploys until green.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62721" y="4416552"/>
            <a:ext cx="36576" cy="685800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0738" y="4416552"/>
            <a:ext cx="171221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1">
                <a:solidFill>
                  <a:srgbClr val="222427"/>
                </a:solidFill>
                <a:latin typeface="Arial"/>
              </a:rPr>
              <a:t>“Not 'looks right' — it actually ran.”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2721" y="5330952"/>
            <a:ext cx="1840229" cy="91440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90738" y="5440680"/>
            <a:ext cx="165734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A9622F"/>
                </a:solidFill>
                <a:latin typeface="Courier New"/>
              </a:rPr>
              <a:t>REPLACES — </a:t>
            </a:r>
            <a:r>
              <a:rPr sz="919" b="0" i="0">
                <a:solidFill>
                  <a:srgbClr val="53565A"/>
                </a:solidFill>
                <a:latin typeface="Arial"/>
              </a:rPr>
              <a:t>“trust me, it compiles.”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07 · THE USER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0E0E"/>
                </a:solidFill>
                <a:latin typeface="Arial"/>
              </a:rPr>
              <a:t>From right-click to finished project</a:t>
            </a:r>
            <a:r>
              <a:rPr sz="28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10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84832"/>
            <a:ext cx="1735531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286000"/>
            <a:ext cx="365760" cy="365760"/>
          </a:xfrm>
          <a:prstGeom prst="ellipse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286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770632"/>
            <a:ext cx="136977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Configure once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136392"/>
            <a:ext cx="136977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Pick the AI provider and paste your key — or choose free mock mode.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40203" y="2084832"/>
            <a:ext cx="1735531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23083" y="2286000"/>
            <a:ext cx="365760" cy="365760"/>
          </a:xfrm>
          <a:prstGeom prst="ellipse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23083" y="2286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23083" y="2770632"/>
            <a:ext cx="136977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Right-click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23083" y="3136392"/>
            <a:ext cx="136977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On the Hybris folder → “H2A: Migrate to Apex.” First run self-installs.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76902" y="2084832"/>
            <a:ext cx="1735531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59782" y="2286000"/>
            <a:ext cx="365760" cy="365760"/>
          </a:xfrm>
          <a:prstGeom prst="ellipse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59782" y="2286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9782" y="2770632"/>
            <a:ext cx="136977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Watch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9782" y="3136392"/>
            <a:ext cx="136977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A dashboard streams progress: domains, plan decisions, review results.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13601" y="2084832"/>
            <a:ext cx="1735531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96481" y="2286000"/>
            <a:ext cx="365760" cy="365760"/>
          </a:xfrm>
          <a:prstGeom prst="ellipse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6481" y="2286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6481" y="2770632"/>
            <a:ext cx="136977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Receive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6481" y="3136392"/>
            <a:ext cx="136977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A salesforce_&lt;project&gt; folder appears — a complete, deployable project.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0300" y="2084832"/>
            <a:ext cx="1735531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33180" y="2286000"/>
            <a:ext cx="365760" cy="365760"/>
          </a:xfrm>
          <a:prstGeom prst="ellipse">
            <a:avLst/>
          </a:prstGeom>
          <a:solidFill>
            <a:srgbClr val="04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33180" y="2286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33180" y="2770632"/>
            <a:ext cx="136977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Review &amp; ship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33180" y="3136392"/>
            <a:ext cx="136977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65A"/>
                </a:solidFill>
                <a:latin typeface="Arial"/>
              </a:rPr>
              <a:t>Open the report; review what's flagged; deploy with one command.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" y="4599432"/>
            <a:ext cx="9482328" cy="548640"/>
          </a:xfrm>
          <a:prstGeom prst="rect">
            <a:avLst/>
          </a:prstGeom>
          <a:solidFill>
            <a:srgbClr val="F3F3F1"/>
          </a:solidFill>
          <a:ln w="6350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" y="4599432"/>
            <a:ext cx="902512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46A38"/>
                </a:solidFill>
                <a:latin typeface="Courier New"/>
              </a:rPr>
              <a:t>BEHIND THE SCENES   </a:t>
            </a:r>
            <a:r>
              <a:rPr sz="1050" b="0" i="0">
                <a:solidFill>
                  <a:srgbClr val="53565A"/>
                </a:solidFill>
                <a:latin typeface="Arial"/>
              </a:rPr>
              <a:t>the extension bundles the entire Python engine — no manual installation; the same run is scriptable from a terminal for CI/CD.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For the person using it, the whole platform is one right-click and one folder of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08 · SELF-HEALING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0E0E"/>
                </a:solidFill>
                <a:latin typeface="Arial"/>
              </a:rPr>
              <a:t>It doesn't stop at “the AI wrote code.” It proves the code runs</a:t>
            </a:r>
            <a:r>
              <a:rPr sz="24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11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57984"/>
            <a:ext cx="194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Deploy for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68880"/>
            <a:ext cx="19453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Validation-only deploy to an actual Salesforce org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3210" y="2313432"/>
            <a:ext cx="2011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8F9296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4378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70682" y="2157984"/>
            <a:ext cx="194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Read real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0682" y="2468880"/>
            <a:ext cx="19453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The actual compiler output — not a guess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4083" y="2313432"/>
            <a:ext cx="2011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8F9296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5252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91556" y="2157984"/>
            <a:ext cx="194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Fix automatically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1556" y="2468880"/>
            <a:ext cx="19453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Three healing modes (below)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4958" y="2313432"/>
            <a:ext cx="2011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8F9296"/>
                </a:solidFill>
                <a:latin typeface="Arial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6125" y="1993392"/>
            <a:ext cx="2219706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2429" y="2157984"/>
            <a:ext cx="194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Repeat until 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2429" y="2468880"/>
            <a:ext cx="19453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Arial"/>
              </a:rPr>
              <a:t>Anything unresolved is flagged for a human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3182112"/>
            <a:ext cx="9482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 spc="100">
                <a:solidFill>
                  <a:srgbClr val="046A38"/>
                </a:solidFill>
                <a:latin typeface="Courier New"/>
              </a:rPr>
              <a:t>↺  BOUNDED LOOP — RUNS UNTIL GREEN, NEVER SILENTLY SHIPS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" y="3593592"/>
            <a:ext cx="2977895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504" y="3593592"/>
            <a:ext cx="2977895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822191"/>
            <a:ext cx="2575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Metadata healing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4233672"/>
            <a:ext cx="2575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“Missing field” error? If the field is genuinely used in the original Java — proven by evidence — it's added to the data model. Never guessed.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55719" y="3593592"/>
            <a:ext cx="2977895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55719" y="3593592"/>
            <a:ext cx="2977895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56887" y="3822191"/>
            <a:ext cx="2575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Code repair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6887" y="4233672"/>
            <a:ext cx="2575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Compile errors are fed back to the AI with the real error message, and the class is rewritten and re-tried.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07935" y="3593592"/>
            <a:ext cx="2977895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07935" y="3593592"/>
            <a:ext cx="2977895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09103" y="3822191"/>
            <a:ext cx="2575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E0E0E"/>
                </a:solidFill>
                <a:latin typeface="Arial"/>
              </a:rPr>
              <a:t>Coverage healing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09103" y="4233672"/>
            <a:ext cx="2575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Salesforce requires 75% test coverage to deploy. Below it? The tool writes more tests — error paths, bulk scenarios — until it clears the bar.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09 · GROUNDING &amp;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0E0E"/>
                </a:solidFill>
                <a:latin typeface="Arial"/>
              </a:rPr>
              <a:t>Three mechanisms that stop the AI from making things up</a:t>
            </a:r>
            <a:r>
              <a:rPr sz="26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12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039112"/>
            <a:ext cx="2965703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252679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1 · Schema grounding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24912"/>
            <a:ext cx="2526791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Before writing a single query, the AI is shown the exact catalog of objects and fields from your real data model — and everything it writes is checked against that catalog afterwards. Anything that doesn't exist is caught.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61815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61815" y="2039112"/>
            <a:ext cx="2965703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81271" y="2286000"/>
            <a:ext cx="252679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2 · Evidence-based reconciliation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1271" y="2724912"/>
            <a:ext cx="2526791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Generated code references a field the model never declared? The system checks the original Java source. Genuinely used → added, properly typed. No evidence → flagged for human review. Never silently guessed.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20127" y="2039112"/>
            <a:ext cx="296570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20127" y="2039112"/>
            <a:ext cx="2965703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9583" y="2286000"/>
            <a:ext cx="252679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E0E0E"/>
                </a:solidFill>
                <a:latin typeface="Arial"/>
              </a:rPr>
              <a:t>3 · A built-in knowledge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9583" y="2724912"/>
            <a:ext cx="2526791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Salesforce's governor limits, security rules, and enterprise patterns are bundled as a reference library the agents retrieve and cite while writing and reviewing — facts, not memory.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The AI works “open book”: it can only use what provably exists, its claims are checked against the source, and it looks rules up instead of recalling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10 · THE DELIVERABLE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What lands in the output folder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13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39112"/>
            <a:ext cx="2977895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2221992"/>
            <a:ext cx="1260043" cy="29260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221992"/>
            <a:ext cx="25206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46A38"/>
                </a:solidFill>
                <a:latin typeface="Courier New"/>
              </a:rPr>
              <a:t>force-app/…/classes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569464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Apex code +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880360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Selectors, Services, REST controllers, scheduled jobs — each with its own test class.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55719" y="2039112"/>
            <a:ext cx="2977895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38599" y="2221992"/>
            <a:ext cx="1260043" cy="29260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1751" y="2221992"/>
            <a:ext cx="25206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46A38"/>
                </a:solidFill>
                <a:latin typeface="Courier New"/>
              </a:rPr>
              <a:t>force-app/…/objects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38599" y="2569464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Data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38599" y="2880360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Custom objects, fields, picklists, relationships, required/unique constraints.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07935" y="2039112"/>
            <a:ext cx="2977895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0815" y="2221992"/>
            <a:ext cx="1600200" cy="29260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3967" y="2221992"/>
            <a:ext cx="25206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46A38"/>
                </a:solidFill>
                <a:latin typeface="Courier New"/>
              </a:rPr>
              <a:t>data/ · DATA_MIGRATION.md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90815" y="2569464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The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0815" y="2880360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Load-ready CSVs plus a safe, re-runnable import runbook.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3776472"/>
            <a:ext cx="2977895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" y="3959352"/>
            <a:ext cx="1770278" cy="29260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3959352"/>
            <a:ext cx="25206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46A38"/>
                </a:solidFill>
                <a:latin typeface="Courier New"/>
              </a:rPr>
              <a:t>CRON_JOBS.md · schedule.apex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306824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Schedules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4617720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Every timed job translated, same timing, with a ready-to-run script.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55719" y="3776472"/>
            <a:ext cx="2977895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38599" y="3959352"/>
            <a:ext cx="1146657" cy="29260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1751" y="3959352"/>
            <a:ext cx="25206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46A38"/>
                </a:solidFill>
                <a:latin typeface="Courier New"/>
              </a:rPr>
              <a:t>MIGRATION_PLAN.md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38599" y="4306824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The decisions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8599" y="4617720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The Planner's call on every class, the Critic's findings, the full decision log.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07935" y="3776472"/>
            <a:ext cx="2977895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90815" y="3959352"/>
            <a:ext cx="1373428" cy="29260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3967" y="3959352"/>
            <a:ext cx="25206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46A38"/>
                </a:solidFill>
                <a:latin typeface="Courier New"/>
              </a:rPr>
              <a:t>FEASIBILITY_REPORT.md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90815" y="4306824"/>
            <a:ext cx="2612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E0E0E"/>
                </a:solidFill>
                <a:latin typeface="Arial"/>
              </a:rPr>
              <a:t>The scorecard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90815" y="4617720"/>
            <a:ext cx="26121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53565A"/>
                </a:solidFill>
                <a:latin typeface="Arial"/>
              </a:rPr>
              <a:t>Validation results, a High/Medium/Low confidence score per class, deploy status, cost.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IN PLAIN 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Not just code — a complete package: the system, its data, its schedules, and the paper trail that tells your reviewers exactly where to look.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11 ·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Two unscripted moments from a real run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14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39112"/>
            <a:ext cx="4581144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039112"/>
            <a:ext cx="4581144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286000"/>
            <a:ext cx="1475841" cy="292608"/>
          </a:xfrm>
          <a:prstGeom prst="rect">
            <a:avLst/>
          </a:prstGeom>
          <a:solidFill>
            <a:srgbClr val="E6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286000"/>
            <a:ext cx="41239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007CB0"/>
                </a:solidFill>
                <a:latin typeface="Courier New"/>
              </a:rPr>
              <a:t>THE PLANNER'S JUDGEMENT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24912"/>
            <a:ext cx="4123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0E0E"/>
                </a:solidFill>
                <a:latin typeface="Arial"/>
              </a:rPr>
              <a:t>It refused to write unnecessary code.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227832"/>
            <a:ext cx="41239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Handed a custom discount/promotions engine, the Planner didn't translate it — it recommended Salesforce CPQ, the native product built for pricing rules, and generated no custom code for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690872"/>
            <a:ext cx="4105656" cy="100584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4828032"/>
            <a:ext cx="38496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222427"/>
                </a:solidFill>
                <a:latin typeface="Arial"/>
              </a:rPr>
              <a:t>Its own words: “Discount/promo-code pricing rules are a textbook fit for Salesforce CPQ.” Architect-level judgement — less code to own, less debt.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04688" y="2039112"/>
            <a:ext cx="4581144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04688" y="2039112"/>
            <a:ext cx="4581144" cy="50292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42431" y="2286000"/>
            <a:ext cx="1210665" cy="29260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2286000"/>
            <a:ext cx="41239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80">
                <a:solidFill>
                  <a:srgbClr val="046A38"/>
                </a:solidFill>
                <a:latin typeface="Courier New"/>
              </a:rPr>
              <a:t>THE CRITIC'S CATCH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42431" y="2724912"/>
            <a:ext cx="41239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E0E0E"/>
                </a:solidFill>
                <a:latin typeface="Arial"/>
              </a:rPr>
              <a:t>It caught a silently-lost business rule.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3227832"/>
            <a:ext cx="41239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3565A"/>
                </a:solidFill>
                <a:latin typeface="Arial"/>
              </a:rPr>
              <a:t>The original Java rejected non-positive order totals. The first translation compiled perfectly — but dropped that check on one path. The Critic caught it and blocked the class as “needs review.”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42431" y="4690872"/>
            <a:ext cx="4105656" cy="1005840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88736" y="4828032"/>
            <a:ext cx="38496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222427"/>
                </a:solidFill>
                <a:latin typeface="Arial"/>
              </a:rPr>
              <a:t>This is exactly the bug class that slips through manual migrations and surfaces in production. Here it never reached a human unflagged.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12 · CURRENT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Shipped and working today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15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0391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 spc="100">
                <a:solidFill>
                  <a:srgbClr val="53565A"/>
                </a:solidFill>
                <a:latin typeface="Courier New"/>
              </a:rPr>
              <a:t>CAPABILITY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0391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 spc="100">
                <a:solidFill>
                  <a:srgbClr val="53565A"/>
                </a:solidFill>
                <a:latin typeface="Courier New"/>
              </a:rPr>
              <a:t>WHAT IT COVERS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7111" y="203911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 spc="100">
                <a:solidFill>
                  <a:srgbClr val="53565A"/>
                </a:solidFill>
                <a:latin typeface="Courier New"/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331720"/>
            <a:ext cx="9482328" cy="2011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404872"/>
            <a:ext cx="37490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Code migration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404872"/>
            <a:ext cx="4754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Java business logic → best-practice Apex, one test class per class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89719" y="2542032"/>
            <a:ext cx="896112" cy="292608"/>
          </a:xfrm>
          <a:prstGeom prst="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2542032"/>
            <a:ext cx="89611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46A38"/>
                </a:solidFill>
                <a:latin typeface="Courier New"/>
              </a:rPr>
              <a:t>SHIPPED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" y="2916936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71800"/>
            <a:ext cx="37490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Data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2971800"/>
            <a:ext cx="4754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Objects, fields, picklists, relationships, constraints — from items.xml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19" y="3108960"/>
            <a:ext cx="896112" cy="292608"/>
          </a:xfrm>
          <a:prstGeom prst="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19" y="3108960"/>
            <a:ext cx="89611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46A38"/>
                </a:solidFill>
                <a:latin typeface="Courier New"/>
              </a:rPr>
              <a:t>SHIPPED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" y="3483864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3538728"/>
            <a:ext cx="37490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Data records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5424" y="3538728"/>
            <a:ext cx="4754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ImpEx → load-ready CSVs + re-runnable import runbook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9719" y="3675887"/>
            <a:ext cx="896112" cy="292608"/>
          </a:xfrm>
          <a:prstGeom prst="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19" y="3675887"/>
            <a:ext cx="89611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46A38"/>
                </a:solidFill>
                <a:latin typeface="Courier New"/>
              </a:rPr>
              <a:t>SHIPPED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" y="4050792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4105656"/>
            <a:ext cx="37490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Scheduled jobs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4105656"/>
            <a:ext cx="4754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Cronjobs → Salesforce scheduled Apex, identical timing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89719" y="4242816"/>
            <a:ext cx="896112" cy="292608"/>
          </a:xfrm>
          <a:prstGeom prst="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719" y="4242816"/>
            <a:ext cx="89611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46A38"/>
                </a:solidFill>
                <a:latin typeface="Courier New"/>
              </a:rPr>
              <a:t>SHIPPED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" y="4617720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" y="4672583"/>
            <a:ext cx="37490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Agent team + self-healing verification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4672583"/>
            <a:ext cx="4754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Planner · Builder · Critic · Verifier; deploy loop; confidence scoring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89719" y="4809743"/>
            <a:ext cx="896112" cy="292608"/>
          </a:xfrm>
          <a:prstGeom prst="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89719" y="4809743"/>
            <a:ext cx="89611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46A38"/>
                </a:solidFill>
                <a:latin typeface="Courier New"/>
              </a:rPr>
              <a:t>SHIPPED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" y="5184648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5239512"/>
            <a:ext cx="374903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E0E0E"/>
                </a:solidFill>
                <a:latin typeface="Arial"/>
              </a:rPr>
              <a:t>Workflows &amp; storefront APIs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5424" y="5239512"/>
            <a:ext cx="4754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565A"/>
                </a:solidFill>
                <a:latin typeface="Arial"/>
              </a:rPr>
              <a:t>Hybris processes → Flow; OCC REST → Apex REST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53144" y="5376672"/>
            <a:ext cx="932688" cy="29260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53144" y="5376672"/>
            <a:ext cx="93268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8F9296"/>
                </a:solidFill>
                <a:latin typeface="Courier New"/>
              </a:rPr>
              <a:t>ROADMAP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" y="5751576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3504" y="5943600"/>
            <a:ext cx="2766974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0664" y="5943600"/>
            <a:ext cx="2492654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E0E0E"/>
                </a:solidFill>
                <a:latin typeface="Courier New"/>
              </a:rPr>
              <a:t>63</a:t>
            </a:r>
            <a:r>
              <a:rPr sz="900" b="0" i="0">
                <a:solidFill>
                  <a:srgbClr val="53565A"/>
                </a:solidFill>
                <a:latin typeface="Courier New"/>
              </a:rPr>
              <a:t> automated tests, all passing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53358" y="5943600"/>
            <a:ext cx="3474719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90518" y="5943600"/>
            <a:ext cx="3200399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0E0E0E"/>
                </a:solidFill>
                <a:latin typeface="Courier New"/>
              </a:rPr>
              <a:t>3</a:t>
            </a:r>
            <a:r>
              <a:rPr sz="900" b="0" i="0">
                <a:solidFill>
                  <a:srgbClr val="53565A"/>
                </a:solidFill>
                <a:latin typeface="Courier New"/>
              </a:rPr>
              <a:t> AI providers incl. a free offline mode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10958" y="5943600"/>
            <a:ext cx="2688335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48118" y="5943600"/>
            <a:ext cx="2414015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53565A"/>
                </a:solidFill>
                <a:latin typeface="Courier New"/>
              </a:rPr>
              <a:t>every run reports its own </a:t>
            </a:r>
            <a:r>
              <a:rPr sz="900" b="1" i="0">
                <a:solidFill>
                  <a:srgbClr val="0E0E0E"/>
                </a:solidFill>
                <a:latin typeface="Courier New"/>
              </a:rPr>
              <a:t>cost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13 · SECURITY &amp; DATA HANDLING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0E0E"/>
                </a:solidFill>
                <a:latin typeface="Arial"/>
              </a:rPr>
              <a:t>Your code, your keys, your choice of where it goes</a:t>
            </a:r>
            <a:r>
              <a:rPr sz="27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16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39112"/>
            <a:ext cx="4581144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2258568"/>
            <a:ext cx="384048" cy="384048"/>
          </a:xfrm>
          <a:prstGeom prst="ellipse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2585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86BC25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240280"/>
            <a:ext cx="36210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You control the AI provider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551176"/>
            <a:ext cx="36210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Source code goes only to the vendor you configure. Keys live in your settings — never in source control, never in the shipped product (audited every release).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04688" y="2039112"/>
            <a:ext cx="4581144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05855" y="2258568"/>
            <a:ext cx="384048" cy="384048"/>
          </a:xfrm>
          <a:prstGeom prst="ellipse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855" y="22585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86BC25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240280"/>
            <a:ext cx="36210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A zero-exposure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2551176"/>
            <a:ext cx="36210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Mock mode runs the entire pipeline with nothing leaving the machine — for sensitive codebases and free evaluation.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" y="3502152"/>
            <a:ext cx="4581144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3721608"/>
            <a:ext cx="384048" cy="384048"/>
          </a:xfrm>
          <a:prstGeom prst="ellipse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7216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86BC25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3703320"/>
            <a:ext cx="36210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Secure code by default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4014216"/>
            <a:ext cx="36210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Generated Apex enforces Salesforce field-level security and record-sharing as a house standard, not an afterthought.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04688" y="3502152"/>
            <a:ext cx="4581144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5855" y="3721608"/>
            <a:ext cx="384048" cy="384048"/>
          </a:xfrm>
          <a:prstGeom prst="ellipse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855" y="37216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86BC25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3703320"/>
            <a:ext cx="36210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E0E0E"/>
                </a:solidFill>
                <a:latin typeface="Arial"/>
              </a:rPr>
              <a:t>Nothing destructive, ever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4496" y="4014216"/>
            <a:ext cx="36210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Deployments are validation-only dry runs. A human holds the final go-live button. Every AI decision is logged and auditable.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ON THE ROADMAP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Private/VPC model hosting and approval-gated review workflows for regulated environments.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14 · THE BUSINESS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What changes, concretely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17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0848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 spc="100">
                <a:solidFill>
                  <a:srgbClr val="53565A"/>
                </a:solidFill>
                <a:latin typeface="Courier New"/>
              </a:rPr>
              <a:t>WITHOUT THE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6107" y="20848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 spc="100">
                <a:solidFill>
                  <a:srgbClr val="53565A"/>
                </a:solidFill>
                <a:latin typeface="Courier New"/>
              </a:rPr>
              <a:t>WITH THE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2377440"/>
            <a:ext cx="9482328" cy="20116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450592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Months of manual rewriting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36107" y="2450592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A working first draft in minutes–hours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" y="3054096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108960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Business rules silently lost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6107" y="3108960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An AI reviewer checks rule preservation; a parity score proves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" y="3712464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767328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“Trust me, it compiles”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36107" y="3767328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Deployed to a real org and self-corrected until verifiably green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" y="4370832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4425696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Everything becomes custom code to own forever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36107" y="4425696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Native Salesforce products recommended where they fit — less debt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" y="5029200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5084064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B3282D"/>
                </a:solidFill>
                <a:latin typeface="Arial"/>
              </a:rPr>
              <a:t>A black-box engagement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36107" y="5084064"/>
            <a:ext cx="446684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46A38"/>
                </a:solidFill>
                <a:latin typeface="Arial"/>
              </a:rPr>
              <a:t>A decision log and a confidence score on every class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" y="5687568"/>
            <a:ext cx="9482328" cy="1097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THE HONEST POSITIONING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A strong, verified first draft plus a prioritized review list. It makes expert reviewers dramatically faster — it doesn't remove them, and we don't pretend it does.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15 · COMMON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E0E0E"/>
                </a:solidFill>
                <a:latin typeface="Arial"/>
              </a:rPr>
              <a:t>The questions every room asks</a:t>
            </a:r>
            <a:r>
              <a:rPr sz="30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18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039112"/>
            <a:ext cx="4594859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21992"/>
            <a:ext cx="41925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Q.  </a:t>
            </a:r>
            <a:r>
              <a:rPr sz="1150" b="1" i="0">
                <a:solidFill>
                  <a:srgbClr val="0E0E0E"/>
                </a:solidFill>
                <a:latin typeface="Arial"/>
              </a:rPr>
              <a:t>Does this replace our developers?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587752"/>
            <a:ext cx="41925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No — it replaces the grind. Experts review a scored draft instead of rewriting; confidence scores show exactly where to look.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90972" y="2039112"/>
            <a:ext cx="4594859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2140" y="2221992"/>
            <a:ext cx="41925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Q.  </a:t>
            </a:r>
            <a:r>
              <a:rPr sz="1150" b="1" i="0">
                <a:solidFill>
                  <a:srgbClr val="0E0E0E"/>
                </a:solidFill>
                <a:latin typeface="Arial"/>
              </a:rPr>
              <a:t>What if the AI makes something up?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2140" y="2587752"/>
            <a:ext cx="41925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Three nets: it can only use fields that provably exist; a second AI reviews every class; the code must compile against a real org.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3410712"/>
            <a:ext cx="4594859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593592"/>
            <a:ext cx="41925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Q.  </a:t>
            </a:r>
            <a:r>
              <a:rPr sz="1150" b="1" i="0">
                <a:solidFill>
                  <a:srgbClr val="0E0E0E"/>
                </a:solidFill>
                <a:latin typeface="Arial"/>
              </a:rPr>
              <a:t>Is our source code safe?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959352"/>
            <a:ext cx="41925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It goes only to the provider you configure — or nowhere at all in mock mode. No secrets are ever bundled; deploys are dry-run only.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90972" y="3410712"/>
            <a:ext cx="4594859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92140" y="3593592"/>
            <a:ext cx="41925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Q.  </a:t>
            </a:r>
            <a:r>
              <a:rPr sz="1150" b="1" i="0">
                <a:solidFill>
                  <a:srgbClr val="0E0E0E"/>
                </a:solidFill>
                <a:latin typeface="Arial"/>
              </a:rPr>
              <a:t>What does a run cost?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92140" y="3959352"/>
            <a:ext cx="41925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Every report itemizes its own AI usage. Caching keeps repeat costs low; cheaper models handle the simple steps automatically.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4782312"/>
            <a:ext cx="4594859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965192"/>
            <a:ext cx="41925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Q.  </a:t>
            </a:r>
            <a:r>
              <a:rPr sz="1150" b="1" i="0">
                <a:solidFill>
                  <a:srgbClr val="0E0E0E"/>
                </a:solidFill>
                <a:latin typeface="Arial"/>
              </a:rPr>
              <a:t>What can't it do yet?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330952"/>
            <a:ext cx="41925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Hybris workflow processes and storefront REST APIs are next on the roadmap — and it tells you honestly what it skipped, and why.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90972" y="4782312"/>
            <a:ext cx="4594859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92140" y="4965192"/>
            <a:ext cx="419252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046A38"/>
                </a:solidFill>
                <a:latin typeface="Courier New"/>
              </a:rPr>
              <a:t>Q.  </a:t>
            </a:r>
            <a:r>
              <a:rPr sz="1150" b="1" i="0">
                <a:solidFill>
                  <a:srgbClr val="0E0E0E"/>
                </a:solidFill>
                <a:latin typeface="Arial"/>
              </a:rPr>
              <a:t>Can we try it on our codebase?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2140" y="5330952"/>
            <a:ext cx="419252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3565A"/>
                </a:solidFill>
                <a:latin typeface="Arial"/>
              </a:rPr>
              <a:t>Yes — today. Free mock mode first (zero exposure), then a real scored run. It's a right-click in VS Code.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03504" y="493776"/>
            <a:ext cx="118872" cy="118872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438912"/>
            <a:ext cx="920800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 spc="200">
                <a:solidFill>
                  <a:srgbClr val="53565A"/>
                </a:solidFill>
                <a:latin typeface="Courier New"/>
              </a:rPr>
              <a:t>16 · WHERE THIS IS GOING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822960"/>
            <a:ext cx="948232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0E0E"/>
                </a:solidFill>
                <a:latin typeface="Arial"/>
              </a:rPr>
              <a:t>Built in phases — each one de-risks the next</a:t>
            </a:r>
            <a:r>
              <a:rPr sz="2800" b="1" i="0">
                <a:solidFill>
                  <a:srgbClr val="86BC25"/>
                </a:solidFill>
                <a:latin typeface="Arial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664208"/>
            <a:ext cx="9482328" cy="18288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H2A MIGRATOR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8F9296"/>
                </a:solidFill>
                <a:latin typeface="Courier New"/>
              </a:rPr>
              <a:t>19 / 20</a:t>
            </a:r>
          </a:p>
        </p:txBody>
      </p:sp>
      <p:sp>
        <p:nvSpPr>
          <p:cNvPr id="9" name="Oval 8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176272"/>
            <a:ext cx="1750161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" y="2176272"/>
            <a:ext cx="1750161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404872"/>
            <a:ext cx="147584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60">
                <a:solidFill>
                  <a:srgbClr val="046A38"/>
                </a:solidFill>
                <a:latin typeface="Courier New"/>
              </a:rPr>
              <a:t>PHASE 0 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147584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Prove correctness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227832"/>
            <a:ext cx="147584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53565A"/>
                </a:solidFill>
                <a:latin typeface="Arial"/>
              </a:rPr>
              <a:t>Self-healing deploys, confidence scoring, behavior-parity checks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36545" y="2176272"/>
            <a:ext cx="1750161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36545" y="2176272"/>
            <a:ext cx="1750161" cy="5029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82849" y="2404872"/>
            <a:ext cx="147584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60">
                <a:solidFill>
                  <a:srgbClr val="046A38"/>
                </a:solidFill>
                <a:latin typeface="Courier New"/>
              </a:rPr>
              <a:t>PHASE 1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2849" y="2679192"/>
            <a:ext cx="147584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The agent 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2849" y="3227832"/>
            <a:ext cx="147584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53565A"/>
                </a:solidFill>
                <a:latin typeface="Arial"/>
              </a:rPr>
              <a:t>Planner, Builder, Critic, Verifier over a shared whiteboard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9587" y="2176272"/>
            <a:ext cx="1750161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69587" y="2176272"/>
            <a:ext cx="1750161" cy="50292"/>
          </a:xfrm>
          <a:prstGeom prst="rect">
            <a:avLst/>
          </a:prstGeom>
          <a:solidFill>
            <a:srgbClr val="9A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5891" y="2404872"/>
            <a:ext cx="147584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60">
                <a:solidFill>
                  <a:srgbClr val="9A6B0A"/>
                </a:solidFill>
                <a:latin typeface="Courier New"/>
              </a:rPr>
              <a:t>PHASE 2 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5891" y="2679192"/>
            <a:ext cx="147584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The whole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5891" y="3227832"/>
            <a:ext cx="147584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53565A"/>
                </a:solidFill>
                <a:latin typeface="Arial"/>
              </a:rPr>
              <a:t>Data ✓ · schema ✓ · jobs ✓ · workflows &amp; storefront APIs next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2628" y="2176272"/>
            <a:ext cx="1750161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2628" y="2176272"/>
            <a:ext cx="1750161" cy="5029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8932" y="2404872"/>
            <a:ext cx="147584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60">
                <a:solidFill>
                  <a:srgbClr val="8F9296"/>
                </a:solidFill>
                <a:latin typeface="Courier New"/>
              </a:rPr>
              <a:t>PHASE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8932" y="2679192"/>
            <a:ext cx="147584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Enterprise-grade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8932" y="3227832"/>
            <a:ext cx="147584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53565A"/>
                </a:solidFill>
                <a:latin typeface="Arial"/>
              </a:rPr>
              <a:t>Review workspace, audit trail, private/VPC models, org-aware reuse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35670" y="2176272"/>
            <a:ext cx="1750161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2D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35670" y="2176272"/>
            <a:ext cx="1750161" cy="50292"/>
          </a:xfrm>
          <a:prstGeom prst="rect">
            <a:avLst/>
          </a:prstGeom>
          <a:solidFill>
            <a:srgbClr val="D2D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81974" y="2404872"/>
            <a:ext cx="147584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60">
                <a:solidFill>
                  <a:srgbClr val="8F9296"/>
                </a:solidFill>
                <a:latin typeface="Courier New"/>
              </a:rPr>
              <a:t>PHASE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1974" y="2679192"/>
            <a:ext cx="147584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E0E0E"/>
                </a:solidFill>
                <a:latin typeface="Arial"/>
              </a:rPr>
              <a:t>It learns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1974" y="3227832"/>
            <a:ext cx="147584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300"/>
              </a:spcAft>
            </a:pPr>
            <a:r>
              <a:rPr sz="930" b="0" i="0">
                <a:solidFill>
                  <a:srgbClr val="53565A"/>
                </a:solidFill>
                <a:latin typeface="Arial"/>
              </a:rPr>
              <a:t>Every migration makes the next better and cheaper; assessment product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" y="6455664"/>
            <a:ext cx="9482328" cy="713232"/>
          </a:xfrm>
          <a:prstGeom prst="rect">
            <a:avLst/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3504" y="6455664"/>
            <a:ext cx="64008" cy="713232"/>
          </a:xfrm>
          <a:prstGeom prst="rect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6565392"/>
            <a:ext cx="8979407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 spc="140">
                <a:solidFill>
                  <a:srgbClr val="046A38"/>
                </a:solidFill>
                <a:latin typeface="Courier New"/>
              </a:rPr>
              <a:t>THE THROUGH-LINE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427"/>
                </a:solidFill>
                <a:latin typeface="Arial"/>
              </a:rPr>
              <a:t>Every phase moves along one axis: from output you have to trust → to output you can verify. That axis is the moat.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0E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206240" y="6126480"/>
            <a:ext cx="2286000" cy="2286000"/>
          </a:xfrm>
          <a:prstGeom prst="ellipse">
            <a:avLst/>
          </a:prstGeom>
          <a:noFill/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 spc="200">
                <a:solidFill>
                  <a:srgbClr val="86BC25"/>
                </a:solidFill>
                <a:latin typeface="Courier New"/>
              </a:rPr>
              <a:t>●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886053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Give us one real slice of a Hybris codebase.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FFFFFF"/>
                </a:solidFill>
                <a:latin typeface="Arial"/>
              </a:rPr>
              <a:t>We'll hand back verified Salesforce — and the receipts</a:t>
            </a:r>
            <a:r>
              <a:rPr sz="2700" b="1" i="0">
                <a:solidFill>
                  <a:srgbClr val="86BC25"/>
                </a:solidFill>
                <a:latin typeface="Arial"/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114800"/>
            <a:ext cx="66659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A7A8AA"/>
                </a:solidFill>
                <a:latin typeface="Arial"/>
              </a:rPr>
              <a:t>A pilot costs days, not months. Free mock mode first, a scored real run second, your team's verdict third.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2413101" y="5120640"/>
            <a:ext cx="1591055" cy="384048"/>
          </a:xfrm>
          <a:prstGeom prst="rect">
            <a:avLst/>
          </a:prstGeom>
          <a:solidFill>
            <a:srgbClr val="181818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77693" y="5120640"/>
            <a:ext cx="1261872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A7A8AA"/>
                </a:solidFill>
                <a:latin typeface="Courier New"/>
              </a:rPr>
              <a:t>Live demo </a:t>
            </a:r>
            <a:r>
              <a:rPr sz="900" b="1" i="0">
                <a:solidFill>
                  <a:srgbClr val="FFFFFF"/>
                </a:solidFill>
                <a:latin typeface="Courier New"/>
              </a:rPr>
              <a:t>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7037" y="5120640"/>
            <a:ext cx="2637129" cy="384048"/>
          </a:xfrm>
          <a:prstGeom prst="rect">
            <a:avLst/>
          </a:prstGeom>
          <a:solidFill>
            <a:srgbClr val="181818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1629" y="5120640"/>
            <a:ext cx="2307945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A7A8AA"/>
                </a:solidFill>
                <a:latin typeface="Courier New"/>
              </a:rPr>
              <a:t>Full docs: </a:t>
            </a:r>
            <a:r>
              <a:rPr sz="900" b="1" i="0">
                <a:solidFill>
                  <a:srgbClr val="FFFFFF"/>
                </a:solidFill>
                <a:latin typeface="Courier New"/>
              </a:rPr>
              <a:t>PRD · TDD · flows ·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7047" y="5120640"/>
            <a:ext cx="1269187" cy="384048"/>
          </a:xfrm>
          <a:prstGeom prst="rect">
            <a:avLst/>
          </a:prstGeom>
          <a:solidFill>
            <a:srgbClr val="181818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1639" y="5120640"/>
            <a:ext cx="940003" cy="3840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Courier New"/>
              </a:rPr>
              <a:t>Pilot-ready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7296912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6A6D70"/>
                </a:solidFill>
                <a:latin typeface="Courier New"/>
              </a:rPr>
              <a:t>H2A MIGRATOR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4151" y="729691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 spc="120">
                <a:solidFill>
                  <a:srgbClr val="6A6D70"/>
                </a:solidFill>
                <a:latin typeface="Courier New"/>
              </a:rPr>
              <a:t>20 / 20</a:t>
            </a:r>
          </a:p>
        </p:txBody>
      </p:sp>
      <p:sp>
        <p:nvSpPr>
          <p:cNvPr id="15" name="Oval 14"/>
          <p:cNvSpPr/>
          <p:nvPr/>
        </p:nvSpPr>
        <p:spPr>
          <a:xfrm>
            <a:off x="9957815" y="7319772"/>
            <a:ext cx="82296" cy="82296"/>
          </a:xfrm>
          <a:prstGeom prst="ellipse">
            <a:avLst/>
          </a:prstGeom>
          <a:solidFill>
            <a:srgbClr val="86B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