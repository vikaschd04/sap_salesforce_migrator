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0688638" cy="7562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8" d="100"/>
          <a:sy n="78" d="100"/>
        </p:scale>
        <p:origin x="560" y="-10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223760" y="640080"/>
            <a:ext cx="4480560" cy="4480560"/>
          </a:xfrm>
          <a:prstGeom prst="ellipse">
            <a:avLst/>
          </a:prstGeom>
          <a:noFill/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412480" y="3108960"/>
            <a:ext cx="2926080" cy="2926080"/>
          </a:xfrm>
          <a:prstGeom prst="ellipse">
            <a:avLst/>
          </a:prstGeom>
          <a:noFill/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967728" y="932688"/>
            <a:ext cx="292608" cy="29260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MIGRATION ACCELERATOR · 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280160"/>
            <a:ext cx="69494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SAP Hybris to Salesforce.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Migrated by AI. Proven to run</a:t>
            </a:r>
            <a:r>
              <a:rPr sz="34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606040"/>
            <a:ext cx="868680" cy="7315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" y="2880360"/>
            <a:ext cx="6492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3565A"/>
                </a:solidFill>
                <a:latin typeface="Arial"/>
              </a:rPr>
              <a:t>Migrating a complete Hybris estate is a multi-month program. This accelerator removes the biggest bottleneck — it uses AI to do the manual code-move, and then proves the result actually works, before your experts spend a minute on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343400"/>
            <a:ext cx="1564538" cy="384048"/>
          </a:xfrm>
          <a:prstGeom prst="rect">
            <a:avLst/>
          </a:prstGeom>
          <a:noFill/>
          <a:ln w="19050">
            <a:solidFill>
              <a:srgbClr val="A96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4343400"/>
            <a:ext cx="156453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9622F"/>
                </a:solidFill>
                <a:latin typeface="Courier New"/>
              </a:rPr>
              <a:t>SAP HYBRIS ·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8042" y="4343400"/>
            <a:ext cx="457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5242" y="4343400"/>
            <a:ext cx="1260957" cy="384048"/>
          </a:xfrm>
          <a:prstGeom prst="rect">
            <a:avLst/>
          </a:prstGeom>
          <a:noFill/>
          <a:ln w="1905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5242" y="4343400"/>
            <a:ext cx="1260957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0E0E"/>
                </a:solidFill>
                <a:latin typeface="Courier New"/>
              </a:rPr>
              <a:t>AI AGENT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343400"/>
            <a:ext cx="4572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343400"/>
            <a:ext cx="1564538" cy="384048"/>
          </a:xfrm>
          <a:prstGeom prst="rect">
            <a:avLst/>
          </a:prstGeom>
          <a:noFill/>
          <a:ln w="19050">
            <a:solidFill>
              <a:srgbClr val="007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3400" y="4343400"/>
            <a:ext cx="1564538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07CB0"/>
                </a:solidFill>
                <a:latin typeface="Courier New"/>
              </a:rPr>
              <a:t>SALESFORCE · 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5166360"/>
            <a:ext cx="2137867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" y="5166360"/>
            <a:ext cx="1863547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VS Code extension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+ CLI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4251" y="5166360"/>
            <a:ext cx="24524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061411" y="5166360"/>
            <a:ext cx="2178100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Powered by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Anthropic 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01 / 10</a:t>
            </a:r>
          </a:p>
        </p:txBody>
      </p:sp>
      <p:sp>
        <p:nvSpPr>
          <p:cNvPr id="27" name="Oval 26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dirty="0">
                <a:solidFill>
                  <a:srgbClr val="0E0E0E"/>
                </a:solidFill>
                <a:latin typeface="Arial"/>
              </a:rPr>
              <a:t>A full Hybris migration by hand is slow, expensive —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 dirty="0">
                <a:solidFill>
                  <a:srgbClr val="0E0E0E"/>
                </a:solidFill>
                <a:latin typeface="Arial"/>
              </a:rPr>
              <a:t>and it quietly loses business logic</a:t>
            </a:r>
            <a:r>
              <a:rPr sz="2500" b="1" i="0" dirty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02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3504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2526791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Months →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832"/>
            <a:ext cx="2526791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A complete Hybris estate holds hundreds of Java classes, a custom data model, live data, and scheduled jobs. Rewriting it manually is measured in quarters — often years.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61815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61815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81271" y="2286000"/>
            <a:ext cx="2526791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Rare, costly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1271" y="3227832"/>
            <a:ext cx="2526791" cy="844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8000"/>
              </a:lnSpc>
              <a:spcAft>
                <a:spcPts val="300"/>
              </a:spcAft>
            </a:pPr>
            <a:r>
              <a:rPr sz="1100" b="0" i="0" dirty="0">
                <a:solidFill>
                  <a:srgbClr val="53565A"/>
                </a:solidFill>
                <a:latin typeface="Arial"/>
              </a:rPr>
              <a:t>It needs senior </a:t>
            </a:r>
            <a:r>
              <a:rPr lang="en-US" sz="1100" dirty="0">
                <a:solidFill>
                  <a:srgbClr val="53565A"/>
                </a:solidFill>
                <a:latin typeface="Arial"/>
              </a:rPr>
              <a:t>engineers </a:t>
            </a:r>
            <a:r>
              <a:rPr sz="1100" b="0" i="0" dirty="0">
                <a:solidFill>
                  <a:srgbClr val="53565A"/>
                </a:solidFill>
                <a:latin typeface="Arial"/>
              </a:rPr>
              <a:t>in both Hybris and Salesforce — one of the scarcest, most expensive skill combinations in the market.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20127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20127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39583" y="2286000"/>
            <a:ext cx="2526791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B3282D"/>
                </a:solidFill>
                <a:latin typeface="Arial"/>
              </a:rPr>
              <a:t>Silent logic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9583" y="3227832"/>
            <a:ext cx="2526791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Rules like “never accept a zero-value order” vanish during a manual rewrite. Nobody notices — until it breaks in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Rewriting an old system by hand is like retyping a 1,000-page contract from memory — slow, and the fine print is what gets lost.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02 · THE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Point it at the old code.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Get a verified Salesforce project back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03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2221992"/>
            <a:ext cx="3977639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3504" y="2221992"/>
            <a:ext cx="3977639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" y="2478024"/>
            <a:ext cx="3520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IN — a Hybris codebase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53512"/>
            <a:ext cx="3520439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Java business logic (orders, customers, pricing…)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The data model (items.xml)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Actual data records (ImpEx files)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Scheduled jobs (cronjobs + triggers)</a:t>
            </a:r>
          </a:p>
        </p:txBody>
      </p:sp>
      <p:sp>
        <p:nvSpPr>
          <p:cNvPr id="14" name="Oval 13"/>
          <p:cNvSpPr/>
          <p:nvPr/>
        </p:nvSpPr>
        <p:spPr>
          <a:xfrm>
            <a:off x="4887468" y="3227832"/>
            <a:ext cx="914400" cy="914400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87468" y="3227832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 AGENT
TEAM</a:t>
            </a:r>
          </a:p>
        </p:txBody>
      </p:sp>
      <p:sp>
        <p:nvSpPr>
          <p:cNvPr id="16" name="Oval 15"/>
          <p:cNvSpPr/>
          <p:nvPr/>
        </p:nvSpPr>
        <p:spPr>
          <a:xfrm>
            <a:off x="5637276" y="3886200"/>
            <a:ext cx="109728" cy="10972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67428" y="427939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Courier New"/>
              </a:rPr>
              <a:t>MINUTES–HOURS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08192" y="2221992"/>
            <a:ext cx="3977639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08192" y="2221992"/>
            <a:ext cx="3977639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2478024"/>
            <a:ext cx="3520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OUT — deployable Salesforce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953512"/>
            <a:ext cx="3520439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Apex code in Salesforce enterprise patterns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 test class for every class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Data model, data &amp; schedules — migrated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Confidence report: what to trust, what to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359979"/>
            <a:ext cx="9482328" cy="808917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2646" y="6359979"/>
            <a:ext cx="54865" cy="808917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0392" y="6483858"/>
            <a:ext cx="89794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 dirty="0">
                <a:solidFill>
                  <a:srgbClr val="046A38"/>
                </a:solidFill>
                <a:latin typeface="Courier New"/>
              </a:rPr>
              <a:t>WHY IT MATTERS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222427"/>
                </a:solidFill>
                <a:latin typeface="Arial"/>
              </a:rPr>
              <a:t>The full migration is still a program — but the code-move stops being the bottleneck. The accelerator does the grind with AI intelligence; your experts review a scored draft instead of rewriting from scratch.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31124"/>
            <a:ext cx="9482328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Four layers, one engine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04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3504" y="194767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1947672"/>
            <a:ext cx="1554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INTERFACES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9464" y="2167128"/>
            <a:ext cx="212689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60904" y="2167128"/>
            <a:ext cx="1944014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VS Code extension — right-click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24374" y="2167128"/>
            <a:ext cx="1704441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5814" y="2167128"/>
            <a:ext cx="1521561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Command line — for CI/CD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56832" y="2167128"/>
            <a:ext cx="1825142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2167128"/>
            <a:ext cx="164226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both drive the same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715768"/>
            <a:ext cx="94823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" y="295351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3504" y="2953512"/>
            <a:ext cx="1783080" cy="786384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2953512"/>
            <a:ext cx="1554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ORCHESTRATION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9464" y="3172968"/>
            <a:ext cx="3394252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0904" y="3172968"/>
            <a:ext cx="32113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Agentic mode — Planner · Builder · Critic · Verifier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732" y="3172968"/>
            <a:ext cx="248899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83172" y="3172968"/>
            <a:ext cx="230611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Linear mode — fixed 10-stage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3721608"/>
            <a:ext cx="94823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" y="395935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3504" y="395935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" y="3959352"/>
            <a:ext cx="1554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SHARED STAGE FUNCTIONS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9464" y="4178807"/>
            <a:ext cx="85953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660904" y="4178807"/>
            <a:ext cx="67665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parse Java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57016" y="4178807"/>
            <a:ext cx="1040587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48456" y="4178807"/>
            <a:ext cx="857707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derive schema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25619" y="4178807"/>
            <a:ext cx="1040587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17059" y="4178807"/>
            <a:ext cx="857707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generate Apex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94222" y="4178807"/>
            <a:ext cx="12819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5662" y="4178807"/>
            <a:ext cx="1099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validate &amp; repair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04227" y="4178807"/>
            <a:ext cx="91988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95667" y="4178807"/>
            <a:ext cx="7370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data · jobs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52129" y="4178807"/>
            <a:ext cx="11612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43569" y="4178807"/>
            <a:ext cx="9784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verify · report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4743776"/>
            <a:ext cx="94823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" y="496519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03504" y="496519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49808" y="4965192"/>
            <a:ext cx="155448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AI PROVIDERS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9464" y="5184647"/>
            <a:ext cx="212689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660904" y="5184647"/>
            <a:ext cx="1944014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Anthropic Claude — best quality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24374" y="5184647"/>
            <a:ext cx="1945843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915814" y="5184647"/>
            <a:ext cx="1762963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OpenRouter — cheap iteration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98233" y="5184647"/>
            <a:ext cx="236829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89673" y="5184647"/>
            <a:ext cx="2185415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Mock — free, offline, zero exposure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" y="6382512"/>
            <a:ext cx="9482328" cy="786384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02806" y="6382512"/>
            <a:ext cx="64706" cy="786384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8890" y="6483858"/>
            <a:ext cx="89794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 dirty="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222427"/>
                </a:solidFill>
                <a:latin typeface="Arial"/>
              </a:rPr>
              <a:t>Two “driving modes” — a smart agent team, or a simple assembly line — share the same proven tools underneath. And the AI brain is swappable, including a free offline one for zero-exposure evaluation.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04 · THE AI AGENT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A manager, a shared whiteboard, and four specialists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05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9482328" cy="475488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" y="1993392"/>
            <a:ext cx="948232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Orchestrator   </a:t>
            </a:r>
            <a:r>
              <a:rPr sz="850" b="0" i="0" spc="100">
                <a:solidFill>
                  <a:srgbClr val="86BC25"/>
                </a:solidFill>
                <a:latin typeface="Courier New"/>
              </a:rPr>
              <a:t>ROUTES WORK · LOOPS UNTIL EVERYTHING IS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478024"/>
            <a:ext cx="94823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Arial"/>
              </a:rPr>
              <a:t>▲   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670048"/>
            <a:ext cx="948232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" y="2670048"/>
            <a:ext cx="9482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The Blackboard</a:t>
            </a:r>
            <a:r>
              <a:rPr sz="1050" b="0" i="0">
                <a:solidFill>
                  <a:srgbClr val="222427"/>
                </a:solidFill>
                <a:latin typeface="Arial"/>
              </a:rPr>
              <a:t> — shared state: schema · migration plan · artifacts · </a:t>
            </a:r>
            <a:r>
              <a:rPr sz="1050" b="1" i="0">
                <a:solidFill>
                  <a:srgbClr val="046A38"/>
                </a:solidFill>
                <a:latin typeface="Arial"/>
              </a:rPr>
              <a:t>decision log</a:t>
            </a:r>
            <a:r>
              <a:rPr sz="1050" b="0" i="0">
                <a:solidFill>
                  <a:srgbClr val="222427"/>
                </a:solidFill>
                <a:latin typeface="Arial"/>
              </a:rPr>
              <a:t> · open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154680"/>
            <a:ext cx="94823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Arial"/>
              </a:rPr>
              <a:t>▲   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3504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8096" y="3593592"/>
            <a:ext cx="187680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822191"/>
            <a:ext cx="187680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187952"/>
            <a:ext cx="1876805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Decides what becomes Apex, what should be a native Salesforce product, and what to skip — with a written rationale.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5422392"/>
            <a:ext cx="174878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“Pricing rules? That's CPQ — don't hand-build it.”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28950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028950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93542" y="3593592"/>
            <a:ext cx="187680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EXECUTION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3542" y="3822191"/>
            <a:ext cx="187680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3542" y="4187952"/>
            <a:ext cx="1876805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Writes the Apex + a test class per class, grounded in your real data model and best practices.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93542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303270" y="5422392"/>
            <a:ext cx="174878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“Bulk-safe, secure, on pattern — like a senior dev.”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54396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54396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18988" y="3593592"/>
            <a:ext cx="187680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QUALITY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8988" y="3822191"/>
            <a:ext cx="187680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Critic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8988" y="4187952"/>
            <a:ext cx="1876805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Adversarially reviews every piece: is the original behavior preserved? Is it secure?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18988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728716" y="5422392"/>
            <a:ext cx="174878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“The zero-total rule got dropped — blocked.”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79842" y="3383280"/>
            <a:ext cx="2205989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879842" y="3383280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44433" y="3593592"/>
            <a:ext cx="187680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 spc="80">
                <a:solidFill>
                  <a:srgbClr val="046A38"/>
                </a:solidFill>
                <a:latin typeface="Courier New"/>
              </a:rPr>
              <a:t>PROOF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4433" y="3822191"/>
            <a:ext cx="187680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The Verifier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4433" y="4187952"/>
            <a:ext cx="1876805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Deploys to a real org, reads real compiler errors, and heals them until green.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4433" y="5422392"/>
            <a:ext cx="36576" cy="54864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54162" y="5422392"/>
            <a:ext cx="174878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19" b="0" i="1">
                <a:solidFill>
                  <a:srgbClr val="222427"/>
                </a:solidFill>
                <a:latin typeface="Arial"/>
              </a:rPr>
              <a:t>“Not ‘looks right’ — it actually ran.”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05 / 10</a:t>
            </a:r>
          </a:p>
        </p:txBody>
      </p:sp>
      <p:sp>
        <p:nvSpPr>
          <p:cNvPr id="46" name="Oval 45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164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05 ·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Ten stages, end to end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06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2075688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13432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Crawl &amp;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60904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Group classes by domain; sort so dependencies convert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0203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86507" y="2075688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507" y="2313432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Call 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6507" y="2660904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Map who-calls-whom for the visual dashboard.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76902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23206" y="2075688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3206" y="2313432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206" y="2660904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Parse the Java and data-model definitions precisely.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3601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59905" y="2075688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9905" y="2313432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Derive schema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9905" y="2660904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Build the target object/field catalog — the source of truth.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50300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96604" y="2075688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8632" y="2066543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28632" y="205740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604" y="2313432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Comprehend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6604" y="2660904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AI summarises each class: purpose, queries, rules.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9808" y="3712463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81835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81835" y="369417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950208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Generate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4297680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AI writes the Apex + tests, grounded in the schema.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40203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686507" y="3712463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8534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18534" y="369417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86507" y="3950208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Validate &amp; repair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86507" y="4297680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Safety checks; failures loop back to the AI to fix.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6902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623206" y="3712463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3206" y="3950208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Reconcile &amp; metadata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3206" y="4297680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Fill schema gaps with evidence; emit objects &amp; fields.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13601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59905" y="3712463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905" y="3950208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Data &amp; jobs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905" y="4297680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ImpEx → CSVs; cron triggers → scheduling runbook.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0300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496604" y="3712463"/>
            <a:ext cx="146121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28632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628632" y="3694176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96604" y="3950208"/>
            <a:ext cx="146121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Verify &amp; report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6604" y="4297680"/>
            <a:ext cx="14612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Real-org deploy + self-heal; confidence scores.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" y="6343650"/>
            <a:ext cx="9482328" cy="825246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12646" y="6343650"/>
            <a:ext cx="54865" cy="825246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0392" y="6483858"/>
            <a:ext cx="89794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 dirty="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222427"/>
                </a:solidFill>
                <a:latin typeface="Arial"/>
              </a:rPr>
              <a:t>The </a:t>
            </a:r>
            <a:r>
              <a:rPr sz="1150" b="1" i="0" dirty="0">
                <a:solidFill>
                  <a:srgbClr val="0E0E0E"/>
                </a:solidFill>
                <a:latin typeface="Arial"/>
              </a:rPr>
              <a:t>AI</a:t>
            </a:r>
            <a:r>
              <a:rPr sz="1150" b="0" i="0" dirty="0">
                <a:solidFill>
                  <a:srgbClr val="222427"/>
                </a:solidFill>
                <a:latin typeface="Arial"/>
              </a:rPr>
              <a:t> is used only where judgement is needed — understanding and writing code. Everything mechanical is ordinary tested software: fast, free, repeatable.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06 · WHY YOU CAN TRUST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0E0E"/>
                </a:solidFill>
                <a:latin typeface="Arial"/>
              </a:rPr>
              <a:t>It doesn't stop at “the AI wrote code.” It proves the code runs</a:t>
            </a:r>
            <a:r>
              <a:rPr sz="23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07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2157984"/>
            <a:ext cx="194538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Deploy for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68880"/>
            <a:ext cx="19453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Validation-only deploy to an actual Salesforce org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3210" y="2313432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4378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70682" y="2157984"/>
            <a:ext cx="194538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Read real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0682" y="2468880"/>
            <a:ext cx="19453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The actual compiler output — not a guess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4083" y="2313432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5252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91556" y="2157984"/>
            <a:ext cx="194538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Fix automatically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1556" y="2468880"/>
            <a:ext cx="19453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Three healing modes (below)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4958" y="2313432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6125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12429" y="2157984"/>
            <a:ext cx="194538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Repeat until 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2429" y="2468880"/>
            <a:ext cx="194538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Anything unresolved is flagged for a human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3182112"/>
            <a:ext cx="9482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 spc="100">
                <a:solidFill>
                  <a:srgbClr val="046A38"/>
                </a:solidFill>
                <a:latin typeface="Courier New"/>
              </a:rPr>
              <a:t>↺  BOUNDED LOOP — RUNS UNTIL GREEN, NEVER SILENTLY SHIPS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3504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3803904"/>
            <a:ext cx="2575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Metadata 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187952"/>
            <a:ext cx="25755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“Missing field” error? If the field is genuinely used in the original Java — proven by evidence — it's added to the data model. Never guessed.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855719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56887" y="3803904"/>
            <a:ext cx="2575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Code repair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6887" y="4187952"/>
            <a:ext cx="25755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Compile errors are fed back to the AI with the real error message, and the class is rewritten and re-tried.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07935" y="3593592"/>
            <a:ext cx="2977895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107935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09103" y="3803904"/>
            <a:ext cx="2575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Coverage healing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9103" y="4187952"/>
            <a:ext cx="25755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Salesforce requires 75% test coverage to deploy. Below it? The tool writes more tests — error paths, bulk scenarios — until it clears the bar.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" y="6351814"/>
            <a:ext cx="9482328" cy="81708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2806" y="6351814"/>
            <a:ext cx="64706" cy="81708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" y="6483858"/>
            <a:ext cx="89794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 dirty="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222427"/>
                </a:solidFill>
                <a:latin typeface="Arial"/>
              </a:rPr>
              <a:t>The AI can only use fields that provably exist, a second AI challenges every piece, and the code must actually compile against a real org. Correctness comes from the loop — not from trusting the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07 · THE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dirty="0">
                <a:solidFill>
                  <a:srgbClr val="0E0E0E"/>
                </a:solidFill>
                <a:latin typeface="Arial"/>
              </a:rPr>
              <a:t>What lands in the output folder</a:t>
            </a:r>
            <a:r>
              <a:rPr sz="3000" b="1" i="0" dirty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08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2157984"/>
            <a:ext cx="1401645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6" y="2157984"/>
            <a:ext cx="25206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force-app/…/classes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87168"/>
            <a:ext cx="26121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Apex code +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798064"/>
            <a:ext cx="26121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Selectors, Services, REST controllers, scheduled jobs — each with its own test class.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55719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38599" y="2157984"/>
            <a:ext cx="1447801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1751" y="2157984"/>
            <a:ext cx="25206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force-app/…/objects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8599" y="2487168"/>
            <a:ext cx="26121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Data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599" y="2798064"/>
            <a:ext cx="26121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 dirty="0">
                <a:solidFill>
                  <a:srgbClr val="53565A"/>
                </a:solidFill>
                <a:latin typeface="Arial"/>
              </a:rPr>
              <a:t>Custom objects, fields, picklists, relationships, required/unique constraints.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07935" y="199339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90815" y="2157984"/>
            <a:ext cx="1779706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3967" y="2157984"/>
            <a:ext cx="25206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data/ · DATA_MIGRATION.md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0815" y="2487168"/>
            <a:ext cx="26121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0815" y="2798064"/>
            <a:ext cx="26121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 dirty="0">
                <a:solidFill>
                  <a:srgbClr val="53565A"/>
                </a:solidFill>
                <a:latin typeface="Arial"/>
              </a:rPr>
              <a:t>Load-ready CSVs plus a safe, re-runnable import runbook.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86384" y="3849624"/>
            <a:ext cx="1973145" cy="265176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3849624"/>
            <a:ext cx="25206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CRON_JOBS.md · schedule.apex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178808"/>
            <a:ext cx="26121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Schedules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4489704"/>
            <a:ext cx="26121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Every timed job translated, same timing, with a ready-to-run script.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038599" y="3849624"/>
            <a:ext cx="1235530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1751" y="3849624"/>
            <a:ext cx="25206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MIGRATION_PLAN.md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8599" y="4178808"/>
            <a:ext cx="26121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decisions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8599" y="4489704"/>
            <a:ext cx="26121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The Planner's call on every class, the Critic's findings, the full decision log.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07935" y="3685032"/>
            <a:ext cx="297789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290815" y="3849624"/>
            <a:ext cx="1526614" cy="27432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63967" y="3849624"/>
            <a:ext cx="25206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46A38"/>
                </a:solidFill>
                <a:latin typeface="Courier New"/>
              </a:rPr>
              <a:t>FEASIBILITY_REPORT.md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0815" y="4178808"/>
            <a:ext cx="26121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scorecard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0815" y="4489704"/>
            <a:ext cx="26121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Validation results, a High/Medium/Low confidence score per class, deploy status, cost.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" y="5513832"/>
            <a:ext cx="2766974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0664" y="5513832"/>
            <a:ext cx="2492654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63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automated tests, all passing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53358" y="5513832"/>
            <a:ext cx="292425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90518" y="5513832"/>
            <a:ext cx="2649931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AI providers incl. free offline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60489" y="5513832"/>
            <a:ext cx="2688335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797649" y="5513832"/>
            <a:ext cx="2414015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every run reports its own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cost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Not just code — a complete package: the system, its data, its schedules, and the paper trail that tells your reviewers exactly where to look.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08 · THE 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What the accelerator changes, concretely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09 / 10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203911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WITHOUT THE ACCELERATOR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6107" y="203911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WITH THE ACCELERATOR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2331720"/>
            <a:ext cx="9482328" cy="2011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" y="2404872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Months of manual rewriting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36107" y="2404872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 working, verified first draft in minutes–hours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" y="3008375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3063239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Business rules silently lost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6107" y="3063239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An AI reviewer checks rule preservation; a parity score proves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" y="3666744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" y="3721608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“Trust me, it compiles”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6107" y="3721608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Deployed to a real org and self-corrected until verifiably 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" y="4325112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" y="4379976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Everything becomes custom code to own forever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6107" y="4379976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Native Salesforce products recommended where they fit — less debt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4983480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944" y="5038344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A black-box engagement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6107" y="5038344"/>
            <a:ext cx="446684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 decision log and a confidence score on every class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" y="5641848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 dirty="0">
                <a:solidFill>
                  <a:srgbClr val="046A38"/>
                </a:solidFill>
                <a:latin typeface="Courier New"/>
              </a:rPr>
              <a:t>THE HONEST POSITIONING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222427"/>
                </a:solidFill>
                <a:latin typeface="Arial"/>
              </a:rPr>
              <a:t>A strong, verified first draft plus a prioritized review list. It makes expert reviewers dramatically faster — it doesn't remove them, and we don't pretend it does.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206240" y="6126480"/>
            <a:ext cx="2286000" cy="2286000"/>
          </a:xfrm>
          <a:prstGeom prst="ellipse">
            <a:avLst/>
          </a:prstGeom>
          <a:noFill/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06893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 spc="200">
                <a:solidFill>
                  <a:srgbClr val="86BC25"/>
                </a:solidFill>
                <a:latin typeface="Courier New"/>
              </a:rPr>
              <a:t>●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8860536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Give us one real slice of a Hybris codebase.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We'll hand back verified Salesforce — and the receipts</a:t>
            </a:r>
            <a:r>
              <a:rPr sz="2700" b="1" i="0">
                <a:solidFill>
                  <a:srgbClr val="86BC25"/>
                </a:solidFill>
                <a:latin typeface="Arial"/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114800"/>
            <a:ext cx="66659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A7A8AA"/>
                </a:solidFill>
                <a:latin typeface="Arial"/>
              </a:rPr>
              <a:t>A pilot costs days, not months. Free mock mode first, a scored real run second, your team's verdict third.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1970531" y="5120640"/>
            <a:ext cx="1591055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35124" y="5120640"/>
            <a:ext cx="1261872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A7A8AA"/>
                </a:solidFill>
                <a:latin typeface="Courier New"/>
              </a:rPr>
              <a:t>Live demo </a:t>
            </a:r>
            <a:r>
              <a:rPr sz="900" b="1" i="0">
                <a:solidFill>
                  <a:srgbClr val="FFFFFF"/>
                </a:solidFill>
                <a:latin typeface="Courier New"/>
              </a:rPr>
              <a:t>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4468" y="5120640"/>
            <a:ext cx="3522268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09059" y="5120640"/>
            <a:ext cx="3193084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A7A8AA"/>
                </a:solidFill>
                <a:latin typeface="Courier New"/>
              </a:rPr>
              <a:t>Full docs: </a:t>
            </a:r>
            <a:r>
              <a:rPr sz="900" b="1" i="0">
                <a:solidFill>
                  <a:srgbClr val="FFFFFF"/>
                </a:solidFill>
                <a:latin typeface="Courier New"/>
              </a:rPr>
              <a:t>PRD · TDD · flows ·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49616" y="5120640"/>
            <a:ext cx="1269187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14208" y="5120640"/>
            <a:ext cx="940003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Courier New"/>
              </a:rPr>
              <a:t>Pilot-ready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6A6D70"/>
                </a:solidFill>
                <a:latin typeface="Courier New"/>
              </a:rPr>
              <a:t>H2A MIGRATOR · ACCELERATOR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6A6D70"/>
                </a:solidFill>
                <a:latin typeface="Courier New"/>
              </a:rPr>
              <a:t>10 / 10</a:t>
            </a:r>
          </a:p>
        </p:txBody>
      </p:sp>
      <p:sp>
        <p:nvSpPr>
          <p:cNvPr id="15" name="Oval 14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1528</Words>
  <Application>Microsoft Office PowerPoint</Application>
  <PresentationFormat>Custom</PresentationFormat>
  <Paragraphs>216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Kumar, Vikas</dc:creator>
  <cp:keywords/>
  <dc:description>generated using python-pptx</dc:description>
  <cp:lastModifiedBy>Kumar, Vikas</cp:lastModifiedBy>
  <cp:revision>4</cp:revision>
  <dcterms:created xsi:type="dcterms:W3CDTF">2013-01-27T09:14:16Z</dcterms:created>
  <dcterms:modified xsi:type="dcterms:W3CDTF">2026-07-16T12:40:42Z</dcterms:modified>
  <cp:category/>
</cp:coreProperties>
</file>