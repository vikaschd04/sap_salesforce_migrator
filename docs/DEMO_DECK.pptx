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0689336" cy="756208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223760" y="640080"/>
            <a:ext cx="4480560" cy="4480560"/>
          </a:xfrm>
          <a:prstGeom prst="ellipse">
            <a:avLst/>
          </a:prstGeom>
          <a:noFill/>
          <a:ln w="190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412480" y="3108960"/>
            <a:ext cx="2926080" cy="2926080"/>
          </a:xfrm>
          <a:prstGeom prst="ellipse">
            <a:avLst/>
          </a:prstGeom>
          <a:noFill/>
          <a:ln w="1270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967728" y="932688"/>
            <a:ext cx="292608" cy="292608"/>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03504" y="493776"/>
            <a:ext cx="118872" cy="118872"/>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438912"/>
            <a:ext cx="9208007" cy="292608"/>
          </a:xfrm>
          <a:prstGeom prst="rect">
            <a:avLst/>
          </a:prstGeom>
          <a:noFill/>
        </p:spPr>
        <p:txBody>
          <a:bodyPr wrap="square" anchor="t" lIns="0" rIns="0" tIns="0" bIns="0">
            <a:spAutoFit/>
          </a:bodyPr>
          <a:lstStyle/>
          <a:p>
            <a:pPr algn="l">
              <a:lnSpc>
                <a:spcPct val="108000"/>
              </a:lnSpc>
              <a:spcBef>
                <a:spcPts val="0"/>
              </a:spcBef>
              <a:spcAft>
                <a:spcPts val="300"/>
              </a:spcAft>
            </a:pPr>
            <a:r>
              <a:rPr sz="1050" b="1" i="0" spc="200">
                <a:solidFill>
                  <a:srgbClr val="53565A"/>
                </a:solidFill>
                <a:latin typeface="Courier New"/>
              </a:rPr>
              <a:t>PORTAGE · TWO PIPELINES, ONE ENGINE · EXECUTIVE OVERVIEW</a:t>
            </a:r>
          </a:p>
        </p:txBody>
      </p:sp>
      <p:sp>
        <p:nvSpPr>
          <p:cNvPr id="8" name="TextBox 7"/>
          <p:cNvSpPr txBox="1"/>
          <p:nvPr/>
        </p:nvSpPr>
        <p:spPr>
          <a:xfrm>
            <a:off x="603504" y="1280160"/>
            <a:ext cx="6949440" cy="1463040"/>
          </a:xfrm>
          <a:prstGeom prst="rect">
            <a:avLst/>
          </a:prstGeom>
          <a:noFill/>
        </p:spPr>
        <p:txBody>
          <a:bodyPr wrap="square" anchor="t" lIns="0" rIns="0" tIns="0" bIns="0">
            <a:spAutoFit/>
          </a:bodyPr>
          <a:lstStyle/>
          <a:p>
            <a:pPr algn="l">
              <a:lnSpc>
                <a:spcPct val="105000"/>
              </a:lnSpc>
              <a:spcBef>
                <a:spcPts val="0"/>
              </a:spcBef>
              <a:spcAft>
                <a:spcPts val="0"/>
              </a:spcAft>
            </a:pPr>
            <a:r>
              <a:rPr sz="3400" b="1" i="0">
                <a:solidFill>
                  <a:srgbClr val="0E0E0E"/>
                </a:solidFill>
                <a:latin typeface="Arial"/>
              </a:rPr>
              <a:t>SAP Hybris to Salesforce.</a:t>
            </a:r>
          </a:p>
          <a:p>
            <a:pPr algn="l">
              <a:lnSpc>
                <a:spcPct val="105000"/>
              </a:lnSpc>
              <a:spcBef>
                <a:spcPts val="0"/>
              </a:spcBef>
              <a:spcAft>
                <a:spcPts val="0"/>
              </a:spcAft>
            </a:pPr>
            <a:r>
              <a:rPr sz="3400" b="1" i="0">
                <a:solidFill>
                  <a:srgbClr val="0E0E0E"/>
                </a:solidFill>
                <a:latin typeface="Arial"/>
              </a:rPr>
              <a:t>Migrated by AI. Proven to run</a:t>
            </a:r>
            <a:r>
              <a:rPr sz="3400" b="1" i="0">
                <a:solidFill>
                  <a:srgbClr val="86BC25"/>
                </a:solidFill>
                <a:latin typeface="Arial"/>
              </a:rPr>
              <a:t>.</a:t>
            </a:r>
          </a:p>
        </p:txBody>
      </p:sp>
      <p:sp>
        <p:nvSpPr>
          <p:cNvPr id="9" name="Rectangle 8"/>
          <p:cNvSpPr/>
          <p:nvPr/>
        </p:nvSpPr>
        <p:spPr>
          <a:xfrm>
            <a:off x="603504" y="2606040"/>
            <a:ext cx="868680" cy="7315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 y="2880360"/>
            <a:ext cx="6492240" cy="1097280"/>
          </a:xfrm>
          <a:prstGeom prst="rect">
            <a:avLst/>
          </a:prstGeom>
          <a:noFill/>
        </p:spPr>
        <p:txBody>
          <a:bodyPr wrap="square" anchor="t" lIns="0" rIns="0" tIns="0" bIns="0">
            <a:spAutoFit/>
          </a:bodyPr>
          <a:lstStyle/>
          <a:p>
            <a:pPr algn="l">
              <a:lnSpc>
                <a:spcPct val="130000"/>
              </a:lnSpc>
              <a:spcBef>
                <a:spcPts val="0"/>
              </a:spcBef>
              <a:spcAft>
                <a:spcPts val="300"/>
              </a:spcAft>
            </a:pPr>
            <a:r>
              <a:rPr sz="1350" b="0" i="0">
                <a:solidFill>
                  <a:srgbClr val="53565A"/>
                </a:solidFill>
                <a:latin typeface="Arial"/>
              </a:rPr>
              <a:t>Migrating a commerce estate is a multi-month program. Portage removes the biggest bottleneck — it uses AI to do the manual code-move, then proves the result actually works before your experts spend a minute on it. Two migrations run today: SAP Hybris to Salesforce, shown here, and Adobe Commerce to SAP Hybris.</a:t>
            </a:r>
          </a:p>
        </p:txBody>
      </p:sp>
      <p:sp>
        <p:nvSpPr>
          <p:cNvPr id="11" name="Rectangle 10"/>
          <p:cNvSpPr/>
          <p:nvPr/>
        </p:nvSpPr>
        <p:spPr>
          <a:xfrm>
            <a:off x="603504" y="4343400"/>
            <a:ext cx="1564538" cy="384048"/>
          </a:xfrm>
          <a:prstGeom prst="rect">
            <a:avLst/>
          </a:prstGeom>
          <a:noFill/>
          <a:ln w="19050">
            <a:solidFill>
              <a:srgbClr val="A962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4343400"/>
            <a:ext cx="1564538" cy="384048"/>
          </a:xfrm>
          <a:prstGeom prst="rect">
            <a:avLst/>
          </a:prstGeom>
          <a:noFill/>
        </p:spPr>
        <p:txBody>
          <a:bodyPr wrap="none" anchor="ctr" lIns="0" rIns="0" tIns="0" bIns="0">
            <a:spAutoFit/>
          </a:bodyPr>
          <a:lstStyle/>
          <a:p>
            <a:pPr algn="ctr">
              <a:lnSpc>
                <a:spcPct val="108000"/>
              </a:lnSpc>
              <a:spcBef>
                <a:spcPts val="0"/>
              </a:spcBef>
              <a:spcAft>
                <a:spcPts val="300"/>
              </a:spcAft>
            </a:pPr>
            <a:r>
              <a:rPr sz="1000" b="1" i="0">
                <a:solidFill>
                  <a:srgbClr val="A9622F"/>
                </a:solidFill>
                <a:latin typeface="Courier New"/>
              </a:rPr>
              <a:t>SAP HYBRIS · JAVA</a:t>
            </a:r>
          </a:p>
        </p:txBody>
      </p:sp>
      <p:sp>
        <p:nvSpPr>
          <p:cNvPr id="13" name="TextBox 12"/>
          <p:cNvSpPr txBox="1"/>
          <p:nvPr/>
        </p:nvSpPr>
        <p:spPr>
          <a:xfrm>
            <a:off x="2168042" y="4343400"/>
            <a:ext cx="457200" cy="384048"/>
          </a:xfrm>
          <a:prstGeom prst="rect">
            <a:avLst/>
          </a:prstGeom>
          <a:noFill/>
        </p:spPr>
        <p:txBody>
          <a:bodyPr wrap="square" anchor="ctr" lIns="0" rIns="0" tIns="0" bIns="0">
            <a:spAutoFit/>
          </a:bodyPr>
          <a:lstStyle/>
          <a:p>
            <a:pPr algn="ctr">
              <a:lnSpc>
                <a:spcPct val="108000"/>
              </a:lnSpc>
              <a:spcBef>
                <a:spcPts val="0"/>
              </a:spcBef>
              <a:spcAft>
                <a:spcPts val="300"/>
              </a:spcAft>
            </a:pPr>
            <a:r>
              <a:rPr sz="1100" b="0" i="0">
                <a:solidFill>
                  <a:srgbClr val="8F9296"/>
                </a:solidFill>
                <a:latin typeface="Arial"/>
              </a:rPr>
              <a:t>──▶</a:t>
            </a:r>
          </a:p>
        </p:txBody>
      </p:sp>
      <p:sp>
        <p:nvSpPr>
          <p:cNvPr id="14" name="Rectangle 13"/>
          <p:cNvSpPr/>
          <p:nvPr/>
        </p:nvSpPr>
        <p:spPr>
          <a:xfrm>
            <a:off x="2625242" y="4343400"/>
            <a:ext cx="1260957" cy="384048"/>
          </a:xfrm>
          <a:prstGeom prst="rect">
            <a:avLst/>
          </a:prstGeom>
          <a:noFill/>
          <a:ln w="19050">
            <a:solidFill>
              <a:srgbClr val="0E0E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25242" y="4343400"/>
            <a:ext cx="1260957" cy="384048"/>
          </a:xfrm>
          <a:prstGeom prst="rect">
            <a:avLst/>
          </a:prstGeom>
          <a:noFill/>
        </p:spPr>
        <p:txBody>
          <a:bodyPr wrap="none" anchor="ctr" lIns="0" rIns="0" tIns="0" bIns="0">
            <a:spAutoFit/>
          </a:bodyPr>
          <a:lstStyle/>
          <a:p>
            <a:pPr algn="ctr">
              <a:lnSpc>
                <a:spcPct val="108000"/>
              </a:lnSpc>
              <a:spcBef>
                <a:spcPts val="0"/>
              </a:spcBef>
              <a:spcAft>
                <a:spcPts val="300"/>
              </a:spcAft>
            </a:pPr>
            <a:r>
              <a:rPr sz="1000" b="1" i="0">
                <a:solidFill>
                  <a:srgbClr val="0E0E0E"/>
                </a:solidFill>
                <a:latin typeface="Courier New"/>
              </a:rPr>
              <a:t>AI AGENT TEAM</a:t>
            </a:r>
          </a:p>
        </p:txBody>
      </p:sp>
      <p:sp>
        <p:nvSpPr>
          <p:cNvPr id="16" name="TextBox 15"/>
          <p:cNvSpPr txBox="1"/>
          <p:nvPr/>
        </p:nvSpPr>
        <p:spPr>
          <a:xfrm>
            <a:off x="3886200" y="4343400"/>
            <a:ext cx="457200" cy="384048"/>
          </a:xfrm>
          <a:prstGeom prst="rect">
            <a:avLst/>
          </a:prstGeom>
          <a:noFill/>
        </p:spPr>
        <p:txBody>
          <a:bodyPr wrap="square" anchor="ctr" lIns="0" rIns="0" tIns="0" bIns="0">
            <a:spAutoFit/>
          </a:bodyPr>
          <a:lstStyle/>
          <a:p>
            <a:pPr algn="ctr">
              <a:lnSpc>
                <a:spcPct val="108000"/>
              </a:lnSpc>
              <a:spcBef>
                <a:spcPts val="0"/>
              </a:spcBef>
              <a:spcAft>
                <a:spcPts val="300"/>
              </a:spcAft>
            </a:pPr>
            <a:r>
              <a:rPr sz="1100" b="0" i="0">
                <a:solidFill>
                  <a:srgbClr val="8F9296"/>
                </a:solidFill>
                <a:latin typeface="Arial"/>
              </a:rPr>
              <a:t>──▶</a:t>
            </a:r>
          </a:p>
        </p:txBody>
      </p:sp>
      <p:sp>
        <p:nvSpPr>
          <p:cNvPr id="17" name="Rectangle 16"/>
          <p:cNvSpPr/>
          <p:nvPr/>
        </p:nvSpPr>
        <p:spPr>
          <a:xfrm>
            <a:off x="4343400" y="4343400"/>
            <a:ext cx="1564538" cy="384048"/>
          </a:xfrm>
          <a:prstGeom prst="rect">
            <a:avLst/>
          </a:prstGeom>
          <a:noFill/>
          <a:ln w="19050">
            <a:solidFill>
              <a:srgbClr val="007C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43400" y="4343400"/>
            <a:ext cx="1564538" cy="384048"/>
          </a:xfrm>
          <a:prstGeom prst="rect">
            <a:avLst/>
          </a:prstGeom>
          <a:noFill/>
        </p:spPr>
        <p:txBody>
          <a:bodyPr wrap="none" anchor="ctr" lIns="0" rIns="0" tIns="0" bIns="0">
            <a:spAutoFit/>
          </a:bodyPr>
          <a:lstStyle/>
          <a:p>
            <a:pPr algn="ctr">
              <a:lnSpc>
                <a:spcPct val="108000"/>
              </a:lnSpc>
              <a:spcBef>
                <a:spcPts val="0"/>
              </a:spcBef>
              <a:spcAft>
                <a:spcPts val="300"/>
              </a:spcAft>
            </a:pPr>
            <a:r>
              <a:rPr sz="1000" b="1" i="0">
                <a:solidFill>
                  <a:srgbClr val="007CB0"/>
                </a:solidFill>
                <a:latin typeface="Courier New"/>
              </a:rPr>
              <a:t>SALESFORCE · APEX</a:t>
            </a:r>
          </a:p>
        </p:txBody>
      </p:sp>
      <p:sp>
        <p:nvSpPr>
          <p:cNvPr id="19" name="Rectangle 18"/>
          <p:cNvSpPr/>
          <p:nvPr/>
        </p:nvSpPr>
        <p:spPr>
          <a:xfrm>
            <a:off x="603504" y="5166360"/>
            <a:ext cx="2452420" cy="347472"/>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 y="5166360"/>
            <a:ext cx="2178100" cy="347472"/>
          </a:xfrm>
          <a:prstGeom prst="rect">
            <a:avLst/>
          </a:prstGeom>
          <a:noFill/>
        </p:spPr>
        <p:txBody>
          <a:bodyPr wrap="none" anchor="ctr" lIns="0" rIns="0" tIns="0" bIns="0">
            <a:spAutoFit/>
          </a:bodyPr>
          <a:lstStyle/>
          <a:p>
            <a:pPr algn="l">
              <a:lnSpc>
                <a:spcPct val="100000"/>
              </a:lnSpc>
              <a:spcBef>
                <a:spcPts val="0"/>
              </a:spcBef>
              <a:spcAft>
                <a:spcPts val="300"/>
              </a:spcAft>
            </a:pPr>
            <a:r>
              <a:rPr sz="900" b="1" i="0">
                <a:solidFill>
                  <a:srgbClr val="0E0E0E"/>
                </a:solidFill>
                <a:latin typeface="Courier New"/>
              </a:rPr>
              <a:t>Web cockpit </a:t>
            </a:r>
            <a:r>
              <a:rPr sz="900" b="0" i="0">
                <a:solidFill>
                  <a:srgbClr val="53565A"/>
                </a:solidFill>
                <a:latin typeface="Courier New"/>
              </a:rPr>
              <a:t>· VS Code · CLI</a:t>
            </a:r>
          </a:p>
        </p:txBody>
      </p:sp>
      <p:sp>
        <p:nvSpPr>
          <p:cNvPr id="21" name="Rectangle 20"/>
          <p:cNvSpPr/>
          <p:nvPr/>
        </p:nvSpPr>
        <p:spPr>
          <a:xfrm>
            <a:off x="3238804" y="5166360"/>
            <a:ext cx="2452420" cy="347472"/>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75964" y="5166360"/>
            <a:ext cx="2178100" cy="347472"/>
          </a:xfrm>
          <a:prstGeom prst="rect">
            <a:avLst/>
          </a:prstGeom>
          <a:noFill/>
        </p:spPr>
        <p:txBody>
          <a:bodyPr wrap="none" anchor="ctr" lIns="0" rIns="0" tIns="0" bIns="0">
            <a:spAutoFit/>
          </a:bodyPr>
          <a:lstStyle/>
          <a:p>
            <a:pPr algn="l">
              <a:lnSpc>
                <a:spcPct val="100000"/>
              </a:lnSpc>
              <a:spcBef>
                <a:spcPts val="0"/>
              </a:spcBef>
              <a:spcAft>
                <a:spcPts val="300"/>
              </a:spcAft>
            </a:pPr>
            <a:r>
              <a:rPr sz="900" b="0" i="0">
                <a:solidFill>
                  <a:srgbClr val="53565A"/>
                </a:solidFill>
                <a:latin typeface="Courier New"/>
              </a:rPr>
              <a:t>Powered by </a:t>
            </a:r>
            <a:r>
              <a:rPr sz="900" b="1" i="0">
                <a:solidFill>
                  <a:srgbClr val="0E0E0E"/>
                </a:solidFill>
                <a:latin typeface="Courier New"/>
              </a:rPr>
              <a:t>Anthropic Claude</a:t>
            </a:r>
          </a:p>
        </p:txBody>
      </p:sp>
      <p:sp>
        <p:nvSpPr>
          <p:cNvPr id="23" name="Rectangle 22"/>
          <p:cNvSpPr/>
          <p:nvPr/>
        </p:nvSpPr>
        <p:spPr>
          <a:xfrm>
            <a:off x="5874105" y="5166360"/>
            <a:ext cx="2924251" cy="347472"/>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11265" y="5166360"/>
            <a:ext cx="2649931" cy="347472"/>
          </a:xfrm>
          <a:prstGeom prst="rect">
            <a:avLst/>
          </a:prstGeom>
          <a:noFill/>
        </p:spPr>
        <p:txBody>
          <a:bodyPr wrap="none" anchor="ctr" lIns="0" rIns="0" tIns="0" bIns="0">
            <a:spAutoFit/>
          </a:bodyPr>
          <a:lstStyle/>
          <a:p>
            <a:pPr algn="l">
              <a:lnSpc>
                <a:spcPct val="100000"/>
              </a:lnSpc>
              <a:spcBef>
                <a:spcPts val="0"/>
              </a:spcBef>
              <a:spcAft>
                <a:spcPts val="300"/>
              </a:spcAft>
            </a:pPr>
            <a:r>
              <a:rPr sz="900" b="1" i="0">
                <a:solidFill>
                  <a:srgbClr val="0E0E0E"/>
                </a:solidFill>
                <a:latin typeface="Courier New"/>
              </a:rPr>
              <a:t>340</a:t>
            </a:r>
            <a:r>
              <a:rPr sz="900" b="0" i="0">
                <a:solidFill>
                  <a:srgbClr val="53565A"/>
                </a:solidFill>
                <a:latin typeface="Courier New"/>
              </a:rPr>
              <a:t> automated tests · all passing</a:t>
            </a:r>
          </a:p>
        </p:txBody>
      </p:sp>
      <p:sp>
        <p:nvSpPr>
          <p:cNvPr id="25" name="TextBox 24"/>
          <p:cNvSpPr txBox="1"/>
          <p:nvPr/>
        </p:nvSpPr>
        <p:spPr>
          <a:xfrm>
            <a:off x="603504" y="7296912"/>
            <a:ext cx="3657600" cy="228600"/>
          </a:xfrm>
          <a:prstGeom prst="rect">
            <a:avLst/>
          </a:prstGeom>
          <a:noFill/>
        </p:spPr>
        <p:txBody>
          <a:bodyPr wrap="square" anchor="t" lIns="0" rIns="0" tIns="0" bIns="0">
            <a:spAutoFit/>
          </a:bodyPr>
          <a:lstStyle/>
          <a:p>
            <a:pPr algn="l">
              <a:lnSpc>
                <a:spcPct val="108000"/>
              </a:lnSpc>
              <a:spcBef>
                <a:spcPts val="0"/>
              </a:spcBef>
              <a:spcAft>
                <a:spcPts val="300"/>
              </a:spcAft>
            </a:pPr>
            <a:r>
              <a:rPr sz="800" b="0" i="0" spc="120">
                <a:solidFill>
                  <a:srgbClr val="8F9296"/>
                </a:solidFill>
                <a:latin typeface="Courier New"/>
              </a:rPr>
              <a:t>PORTAGE · MIGRATION ACCELERATOR</a:t>
            </a:r>
          </a:p>
        </p:txBody>
      </p:sp>
      <p:sp>
        <p:nvSpPr>
          <p:cNvPr id="26" name="TextBox 25"/>
          <p:cNvSpPr txBox="1"/>
          <p:nvPr/>
        </p:nvSpPr>
        <p:spPr>
          <a:xfrm>
            <a:off x="8074151" y="7296912"/>
            <a:ext cx="1828800" cy="228600"/>
          </a:xfrm>
          <a:prstGeom prst="rect">
            <a:avLst/>
          </a:prstGeom>
          <a:noFill/>
        </p:spPr>
        <p:txBody>
          <a:bodyPr wrap="square" anchor="t" lIns="0" rIns="0" tIns="0" bIns="0">
            <a:spAutoFit/>
          </a:bodyPr>
          <a:lstStyle/>
          <a:p>
            <a:pPr algn="r">
              <a:lnSpc>
                <a:spcPct val="108000"/>
              </a:lnSpc>
              <a:spcBef>
                <a:spcPts val="0"/>
              </a:spcBef>
              <a:spcAft>
                <a:spcPts val="300"/>
              </a:spcAft>
            </a:pPr>
            <a:r>
              <a:rPr sz="800" b="0" i="0" spc="120">
                <a:solidFill>
                  <a:srgbClr val="8F9296"/>
                </a:solidFill>
                <a:latin typeface="Courier New"/>
              </a:rPr>
              <a:t>01 / 10</a:t>
            </a:r>
          </a:p>
        </p:txBody>
      </p:sp>
      <p:sp>
        <p:nvSpPr>
          <p:cNvPr id="27" name="Oval 26"/>
          <p:cNvSpPr/>
          <p:nvPr/>
        </p:nvSpPr>
        <p:spPr>
          <a:xfrm>
            <a:off x="9957815" y="7319772"/>
            <a:ext cx="82296" cy="82296"/>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03504" y="493776"/>
            <a:ext cx="118872" cy="118872"/>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0392" y="438912"/>
            <a:ext cx="9208007" cy="292608"/>
          </a:xfrm>
          <a:prstGeom prst="rect">
            <a:avLst/>
          </a:prstGeom>
          <a:noFill/>
        </p:spPr>
        <p:txBody>
          <a:bodyPr wrap="square" anchor="t" lIns="0" rIns="0" tIns="0" bIns="0">
            <a:spAutoFit/>
          </a:bodyPr>
          <a:lstStyle/>
          <a:p>
            <a:pPr algn="l">
              <a:lnSpc>
                <a:spcPct val="108000"/>
              </a:lnSpc>
              <a:spcBef>
                <a:spcPts val="0"/>
              </a:spcBef>
              <a:spcAft>
                <a:spcPts val="300"/>
              </a:spcAft>
            </a:pPr>
            <a:r>
              <a:rPr sz="1050" b="1" i="0" spc="200">
                <a:solidFill>
                  <a:srgbClr val="53565A"/>
                </a:solidFill>
                <a:latin typeface="Courier New"/>
              </a:rPr>
              <a:t>01 · THE PROBLEM</a:t>
            </a:r>
          </a:p>
        </p:txBody>
      </p:sp>
      <p:sp>
        <p:nvSpPr>
          <p:cNvPr id="5" name="TextBox 4"/>
          <p:cNvSpPr txBox="1"/>
          <p:nvPr/>
        </p:nvSpPr>
        <p:spPr>
          <a:xfrm>
            <a:off x="603504" y="822960"/>
            <a:ext cx="9482328" cy="960120"/>
          </a:xfrm>
          <a:prstGeom prst="rect">
            <a:avLst/>
          </a:prstGeom>
          <a:noFill/>
        </p:spPr>
        <p:txBody>
          <a:bodyPr wrap="square" anchor="t" lIns="0" rIns="0" tIns="0" bIns="0">
            <a:spAutoFit/>
          </a:bodyPr>
          <a:lstStyle/>
          <a:p>
            <a:pPr algn="l">
              <a:lnSpc>
                <a:spcPct val="102000"/>
              </a:lnSpc>
              <a:spcBef>
                <a:spcPts val="0"/>
              </a:spcBef>
              <a:spcAft>
                <a:spcPts val="0"/>
              </a:spcAft>
            </a:pPr>
            <a:r>
              <a:rPr sz="2500" b="1" i="0">
                <a:solidFill>
                  <a:srgbClr val="0E0E0E"/>
                </a:solidFill>
                <a:latin typeface="Arial"/>
              </a:rPr>
              <a:t>A full Hybris migration by hand is slow, expensive —</a:t>
            </a:r>
          </a:p>
          <a:p>
            <a:pPr algn="l">
              <a:lnSpc>
                <a:spcPct val="102000"/>
              </a:lnSpc>
              <a:spcBef>
                <a:spcPts val="0"/>
              </a:spcBef>
              <a:spcAft>
                <a:spcPts val="0"/>
              </a:spcAft>
            </a:pPr>
            <a:r>
              <a:rPr sz="2500" b="1" i="0">
                <a:solidFill>
                  <a:srgbClr val="0E0E0E"/>
                </a:solidFill>
                <a:latin typeface="Arial"/>
              </a:rPr>
              <a:t>and it quietly loses business logic</a:t>
            </a:r>
            <a:r>
              <a:rPr sz="2500" b="1" i="0">
                <a:solidFill>
                  <a:srgbClr val="86BC25"/>
                </a:solidFill>
                <a:latin typeface="Arial"/>
              </a:rPr>
              <a:t>.</a:t>
            </a:r>
          </a:p>
        </p:txBody>
      </p:sp>
      <p:sp>
        <p:nvSpPr>
          <p:cNvPr id="6" name="Rectangle 5"/>
          <p:cNvSpPr/>
          <p:nvPr/>
        </p:nvSpPr>
        <p:spPr>
          <a:xfrm>
            <a:off x="603504" y="1664208"/>
            <a:ext cx="9482328" cy="18288"/>
          </a:xfrm>
          <a:prstGeom prst="rect">
            <a:avLst/>
          </a:prstGeom>
          <a:solidFill>
            <a:srgbClr val="D2D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7296912"/>
            <a:ext cx="3657600" cy="228600"/>
          </a:xfrm>
          <a:prstGeom prst="rect">
            <a:avLst/>
          </a:prstGeom>
          <a:noFill/>
        </p:spPr>
        <p:txBody>
          <a:bodyPr wrap="square" anchor="t" lIns="0" rIns="0" tIns="0" bIns="0">
            <a:spAutoFit/>
          </a:bodyPr>
          <a:lstStyle/>
          <a:p>
            <a:pPr algn="l">
              <a:lnSpc>
                <a:spcPct val="108000"/>
              </a:lnSpc>
              <a:spcBef>
                <a:spcPts val="0"/>
              </a:spcBef>
              <a:spcAft>
                <a:spcPts val="300"/>
              </a:spcAft>
            </a:pPr>
            <a:r>
              <a:rPr sz="800" b="0" i="0" spc="120">
                <a:solidFill>
                  <a:srgbClr val="8F9296"/>
                </a:solidFill>
                <a:latin typeface="Courier New"/>
              </a:rPr>
              <a:t>PORTAGE · MIGRATION ACCELERATOR</a:t>
            </a:r>
          </a:p>
        </p:txBody>
      </p:sp>
      <p:sp>
        <p:nvSpPr>
          <p:cNvPr id="8" name="TextBox 7"/>
          <p:cNvSpPr txBox="1"/>
          <p:nvPr/>
        </p:nvSpPr>
        <p:spPr>
          <a:xfrm>
            <a:off x="8074151" y="7296912"/>
            <a:ext cx="1828800" cy="228600"/>
          </a:xfrm>
          <a:prstGeom prst="rect">
            <a:avLst/>
          </a:prstGeom>
          <a:noFill/>
        </p:spPr>
        <p:txBody>
          <a:bodyPr wrap="square" anchor="t" lIns="0" rIns="0" tIns="0" bIns="0">
            <a:spAutoFit/>
          </a:bodyPr>
          <a:lstStyle/>
          <a:p>
            <a:pPr algn="r">
              <a:lnSpc>
                <a:spcPct val="108000"/>
              </a:lnSpc>
              <a:spcBef>
                <a:spcPts val="0"/>
              </a:spcBef>
              <a:spcAft>
                <a:spcPts val="300"/>
              </a:spcAft>
            </a:pPr>
            <a:r>
              <a:rPr sz="800" b="0" i="0" spc="120">
                <a:solidFill>
                  <a:srgbClr val="8F9296"/>
                </a:solidFill>
                <a:latin typeface="Courier New"/>
              </a:rPr>
              <a:t>02 / 10</a:t>
            </a:r>
          </a:p>
        </p:txBody>
      </p:sp>
      <p:sp>
        <p:nvSpPr>
          <p:cNvPr id="9" name="Oval 8"/>
          <p:cNvSpPr/>
          <p:nvPr/>
        </p:nvSpPr>
        <p:spPr>
          <a:xfrm>
            <a:off x="9957815" y="7319772"/>
            <a:ext cx="82296" cy="82296"/>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 y="2039112"/>
            <a:ext cx="2965703" cy="35661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 y="2039112"/>
            <a:ext cx="2965703" cy="50292"/>
          </a:xfrm>
          <a:prstGeom prst="rect">
            <a:avLst/>
          </a:prstGeom>
          <a:solidFill>
            <a:srgbClr val="B32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286000"/>
            <a:ext cx="2526791" cy="914400"/>
          </a:xfrm>
          <a:prstGeom prst="rect">
            <a:avLst/>
          </a:prstGeom>
          <a:noFill/>
        </p:spPr>
        <p:txBody>
          <a:bodyPr wrap="square" anchor="t" lIns="0" rIns="0" tIns="0" bIns="0">
            <a:spAutoFit/>
          </a:bodyPr>
          <a:lstStyle/>
          <a:p>
            <a:pPr algn="l">
              <a:lnSpc>
                <a:spcPct val="105000"/>
              </a:lnSpc>
              <a:spcBef>
                <a:spcPts val="0"/>
              </a:spcBef>
              <a:spcAft>
                <a:spcPts val="300"/>
              </a:spcAft>
            </a:pPr>
            <a:r>
              <a:rPr sz="1800" b="1" i="0">
                <a:solidFill>
                  <a:srgbClr val="B3282D"/>
                </a:solidFill>
                <a:latin typeface="Arial"/>
              </a:rPr>
              <a:t>Months → Years</a:t>
            </a:r>
          </a:p>
        </p:txBody>
      </p:sp>
      <p:sp>
        <p:nvSpPr>
          <p:cNvPr id="13" name="TextBox 12"/>
          <p:cNvSpPr txBox="1"/>
          <p:nvPr/>
        </p:nvSpPr>
        <p:spPr>
          <a:xfrm>
            <a:off x="822960" y="3227832"/>
            <a:ext cx="2526791" cy="2103120"/>
          </a:xfrm>
          <a:prstGeom prst="rect">
            <a:avLst/>
          </a:prstGeom>
          <a:noFill/>
        </p:spPr>
        <p:txBody>
          <a:bodyPr wrap="square" anchor="t" lIns="0" rIns="0" tIns="0" bIns="0">
            <a:spAutoFit/>
          </a:bodyPr>
          <a:lstStyle/>
          <a:p>
            <a:pPr algn="l">
              <a:lnSpc>
                <a:spcPct val="128000"/>
              </a:lnSpc>
              <a:spcBef>
                <a:spcPts val="0"/>
              </a:spcBef>
              <a:spcAft>
                <a:spcPts val="300"/>
              </a:spcAft>
            </a:pPr>
            <a:r>
              <a:rPr sz="1100" b="0" i="0">
                <a:solidFill>
                  <a:srgbClr val="53565A"/>
                </a:solidFill>
                <a:latin typeface="Arial"/>
              </a:rPr>
              <a:t>A complete Hybris estate holds hundreds of Java classes, a custom data model, live data, and scheduled jobs. Rewriting it manually is measured in quarters — often years.</a:t>
            </a:r>
          </a:p>
        </p:txBody>
      </p:sp>
      <p:sp>
        <p:nvSpPr>
          <p:cNvPr id="14" name="Rectangle 13"/>
          <p:cNvSpPr/>
          <p:nvPr/>
        </p:nvSpPr>
        <p:spPr>
          <a:xfrm>
            <a:off x="3861815" y="2039112"/>
            <a:ext cx="2965703" cy="35661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61815" y="2039112"/>
            <a:ext cx="2965703" cy="50292"/>
          </a:xfrm>
          <a:prstGeom prst="rect">
            <a:avLst/>
          </a:prstGeom>
          <a:solidFill>
            <a:srgbClr val="B32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1271" y="2286000"/>
            <a:ext cx="2526791" cy="914400"/>
          </a:xfrm>
          <a:prstGeom prst="rect">
            <a:avLst/>
          </a:prstGeom>
          <a:noFill/>
        </p:spPr>
        <p:txBody>
          <a:bodyPr wrap="square" anchor="t" lIns="0" rIns="0" tIns="0" bIns="0">
            <a:spAutoFit/>
          </a:bodyPr>
          <a:lstStyle/>
          <a:p>
            <a:pPr algn="l">
              <a:lnSpc>
                <a:spcPct val="105000"/>
              </a:lnSpc>
              <a:spcBef>
                <a:spcPts val="0"/>
              </a:spcBef>
              <a:spcAft>
                <a:spcPts val="300"/>
              </a:spcAft>
            </a:pPr>
            <a:r>
              <a:rPr sz="1800" b="1" i="0">
                <a:solidFill>
                  <a:srgbClr val="B3282D"/>
                </a:solidFill>
                <a:latin typeface="Arial"/>
              </a:rPr>
              <a:t>Rare, costly experts</a:t>
            </a:r>
          </a:p>
        </p:txBody>
      </p:sp>
      <p:sp>
        <p:nvSpPr>
          <p:cNvPr id="17" name="TextBox 16"/>
          <p:cNvSpPr txBox="1"/>
          <p:nvPr/>
        </p:nvSpPr>
        <p:spPr>
          <a:xfrm>
            <a:off x="4081271" y="3227832"/>
            <a:ext cx="2526791" cy="2103120"/>
          </a:xfrm>
          <a:prstGeom prst="rect">
            <a:avLst/>
          </a:prstGeom>
          <a:noFill/>
        </p:spPr>
        <p:txBody>
          <a:bodyPr wrap="square" anchor="t" lIns="0" rIns="0" tIns="0" bIns="0">
            <a:spAutoFit/>
          </a:bodyPr>
          <a:lstStyle/>
          <a:p>
            <a:pPr algn="l">
              <a:lnSpc>
                <a:spcPct val="128000"/>
              </a:lnSpc>
              <a:spcBef>
                <a:spcPts val="0"/>
              </a:spcBef>
              <a:spcAft>
                <a:spcPts val="300"/>
              </a:spcAft>
            </a:pPr>
            <a:r>
              <a:rPr sz="1100" b="0" i="0">
                <a:solidFill>
                  <a:srgbClr val="53565A"/>
                </a:solidFill>
                <a:latin typeface="Arial"/>
              </a:rPr>
              <a:t>It needs engineers senior in both Hybris and Salesforce — one of the scarcest, most expensive skill combinations in the market.</a:t>
            </a:r>
          </a:p>
        </p:txBody>
      </p:sp>
      <p:sp>
        <p:nvSpPr>
          <p:cNvPr id="18" name="Rectangle 17"/>
          <p:cNvSpPr/>
          <p:nvPr/>
        </p:nvSpPr>
        <p:spPr>
          <a:xfrm>
            <a:off x="7120127" y="2039112"/>
            <a:ext cx="2965703" cy="35661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20127" y="2039112"/>
            <a:ext cx="2965703" cy="50292"/>
          </a:xfrm>
          <a:prstGeom prst="rect">
            <a:avLst/>
          </a:prstGeom>
          <a:solidFill>
            <a:srgbClr val="B32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39583" y="2286000"/>
            <a:ext cx="2526791" cy="914400"/>
          </a:xfrm>
          <a:prstGeom prst="rect">
            <a:avLst/>
          </a:prstGeom>
          <a:noFill/>
        </p:spPr>
        <p:txBody>
          <a:bodyPr wrap="square" anchor="t" lIns="0" rIns="0" tIns="0" bIns="0">
            <a:spAutoFit/>
          </a:bodyPr>
          <a:lstStyle/>
          <a:p>
            <a:pPr algn="l">
              <a:lnSpc>
                <a:spcPct val="105000"/>
              </a:lnSpc>
              <a:spcBef>
                <a:spcPts val="0"/>
              </a:spcBef>
              <a:spcAft>
                <a:spcPts val="300"/>
              </a:spcAft>
            </a:pPr>
            <a:r>
              <a:rPr sz="1800" b="1" i="0">
                <a:solidFill>
                  <a:srgbClr val="B3282D"/>
                </a:solidFill>
                <a:latin typeface="Arial"/>
              </a:rPr>
              <a:t>Silent logic loss</a:t>
            </a:r>
          </a:p>
        </p:txBody>
      </p:sp>
      <p:sp>
        <p:nvSpPr>
          <p:cNvPr id="21" name="TextBox 20"/>
          <p:cNvSpPr txBox="1"/>
          <p:nvPr/>
        </p:nvSpPr>
        <p:spPr>
          <a:xfrm>
            <a:off x="7339583" y="3227832"/>
            <a:ext cx="2526791" cy="2103120"/>
          </a:xfrm>
          <a:prstGeom prst="rect">
            <a:avLst/>
          </a:prstGeom>
          <a:noFill/>
        </p:spPr>
        <p:txBody>
          <a:bodyPr wrap="square" anchor="t" lIns="0" rIns="0" tIns="0" bIns="0">
            <a:spAutoFit/>
          </a:bodyPr>
          <a:lstStyle/>
          <a:p>
            <a:pPr algn="l">
              <a:lnSpc>
                <a:spcPct val="128000"/>
              </a:lnSpc>
              <a:spcBef>
                <a:spcPts val="0"/>
              </a:spcBef>
              <a:spcAft>
                <a:spcPts val="300"/>
              </a:spcAft>
            </a:pPr>
            <a:r>
              <a:rPr sz="1100" b="0" i="0">
                <a:solidFill>
                  <a:srgbClr val="53565A"/>
                </a:solidFill>
                <a:latin typeface="Arial"/>
              </a:rPr>
              <a:t>Rules like “never accept a zero-value order” vanish during a manual rewrite. Nobody notices — until it breaks in production.</a:t>
            </a:r>
          </a:p>
        </p:txBody>
      </p:sp>
      <p:sp>
        <p:nvSpPr>
          <p:cNvPr id="22" name="Rectangle 21"/>
          <p:cNvSpPr/>
          <p:nvPr/>
        </p:nvSpPr>
        <p:spPr>
          <a:xfrm>
            <a:off x="603504" y="6455664"/>
            <a:ext cx="9482328" cy="713232"/>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3504" y="6455664"/>
            <a:ext cx="64008" cy="71323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 y="6565392"/>
            <a:ext cx="8979407" cy="512064"/>
          </a:xfrm>
          <a:prstGeom prst="rect">
            <a:avLst/>
          </a:prstGeom>
          <a:noFill/>
        </p:spPr>
        <p:txBody>
          <a:bodyPr wrap="square" anchor="t" lIns="0" rIns="0" tIns="0" bIns="0">
            <a:spAutoFit/>
          </a:bodyPr>
          <a:lstStyle/>
          <a:p>
            <a:pPr algn="l">
              <a:lnSpc>
                <a:spcPct val="108000"/>
              </a:lnSpc>
              <a:spcBef>
                <a:spcPts val="0"/>
              </a:spcBef>
              <a:spcAft>
                <a:spcPts val="400"/>
              </a:spcAft>
            </a:pPr>
            <a:r>
              <a:rPr sz="850" b="1" i="0" spc="140">
                <a:solidFill>
                  <a:srgbClr val="046A38"/>
                </a:solidFill>
                <a:latin typeface="Courier New"/>
              </a:rPr>
              <a:t>IN PLAIN WORDS</a:t>
            </a:r>
          </a:p>
          <a:p>
            <a:pPr algn="l">
              <a:lnSpc>
                <a:spcPct val="116000"/>
              </a:lnSpc>
              <a:spcBef>
                <a:spcPts val="0"/>
              </a:spcBef>
              <a:spcAft>
                <a:spcPts val="300"/>
              </a:spcAft>
            </a:pPr>
            <a:r>
              <a:rPr sz="1150" b="0" i="0">
                <a:solidFill>
                  <a:srgbClr val="222427"/>
                </a:solidFill>
                <a:latin typeface="Arial"/>
              </a:rPr>
              <a:t>Rewriting an old system by hand is like retyping a 1,000-page contract from memory — slow, and the fine print is what gets lost.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03504" y="493776"/>
            <a:ext cx="118872" cy="118872"/>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0392" y="438912"/>
            <a:ext cx="9208007" cy="292608"/>
          </a:xfrm>
          <a:prstGeom prst="rect">
            <a:avLst/>
          </a:prstGeom>
          <a:noFill/>
        </p:spPr>
        <p:txBody>
          <a:bodyPr wrap="square" anchor="t" lIns="0" rIns="0" tIns="0" bIns="0">
            <a:spAutoFit/>
          </a:bodyPr>
          <a:lstStyle/>
          <a:p>
            <a:pPr algn="l">
              <a:lnSpc>
                <a:spcPct val="108000"/>
              </a:lnSpc>
              <a:spcBef>
                <a:spcPts val="0"/>
              </a:spcBef>
              <a:spcAft>
                <a:spcPts val="300"/>
              </a:spcAft>
            </a:pPr>
            <a:r>
              <a:rPr sz="1050" b="1" i="0" spc="200">
                <a:solidFill>
                  <a:srgbClr val="53565A"/>
                </a:solidFill>
                <a:latin typeface="Courier New"/>
              </a:rPr>
              <a:t>02 · THE ACCELERATOR</a:t>
            </a:r>
          </a:p>
        </p:txBody>
      </p:sp>
      <p:sp>
        <p:nvSpPr>
          <p:cNvPr id="5" name="TextBox 4"/>
          <p:cNvSpPr txBox="1"/>
          <p:nvPr/>
        </p:nvSpPr>
        <p:spPr>
          <a:xfrm>
            <a:off x="603504" y="822960"/>
            <a:ext cx="9482328" cy="960120"/>
          </a:xfrm>
          <a:prstGeom prst="rect">
            <a:avLst/>
          </a:prstGeom>
          <a:noFill/>
        </p:spPr>
        <p:txBody>
          <a:bodyPr wrap="square" anchor="t" lIns="0" rIns="0" tIns="0" bIns="0">
            <a:spAutoFit/>
          </a:bodyPr>
          <a:lstStyle/>
          <a:p>
            <a:pPr algn="l">
              <a:lnSpc>
                <a:spcPct val="102000"/>
              </a:lnSpc>
              <a:spcBef>
                <a:spcPts val="0"/>
              </a:spcBef>
              <a:spcAft>
                <a:spcPts val="0"/>
              </a:spcAft>
            </a:pPr>
            <a:r>
              <a:rPr sz="2600" b="1" i="0">
                <a:solidFill>
                  <a:srgbClr val="0E0E0E"/>
                </a:solidFill>
                <a:latin typeface="Arial"/>
              </a:rPr>
              <a:t>Point it at the old code.</a:t>
            </a:r>
          </a:p>
          <a:p>
            <a:pPr algn="l">
              <a:lnSpc>
                <a:spcPct val="102000"/>
              </a:lnSpc>
              <a:spcBef>
                <a:spcPts val="0"/>
              </a:spcBef>
              <a:spcAft>
                <a:spcPts val="0"/>
              </a:spcAft>
            </a:pPr>
            <a:r>
              <a:rPr sz="2600" b="1" i="0">
                <a:solidFill>
                  <a:srgbClr val="0E0E0E"/>
                </a:solidFill>
                <a:latin typeface="Arial"/>
              </a:rPr>
              <a:t>Get a verified Salesforce project back</a:t>
            </a:r>
            <a:r>
              <a:rPr sz="2600" b="1" i="0">
                <a:solidFill>
                  <a:srgbClr val="86BC25"/>
                </a:solidFill>
                <a:latin typeface="Arial"/>
              </a:rPr>
              <a:t>.</a:t>
            </a:r>
          </a:p>
        </p:txBody>
      </p:sp>
      <p:sp>
        <p:nvSpPr>
          <p:cNvPr id="6" name="Rectangle 5"/>
          <p:cNvSpPr/>
          <p:nvPr/>
        </p:nvSpPr>
        <p:spPr>
          <a:xfrm>
            <a:off x="603504" y="1664208"/>
            <a:ext cx="9482328" cy="18288"/>
          </a:xfrm>
          <a:prstGeom prst="rect">
            <a:avLst/>
          </a:prstGeom>
          <a:solidFill>
            <a:srgbClr val="D2D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7296912"/>
            <a:ext cx="3657600" cy="228600"/>
          </a:xfrm>
          <a:prstGeom prst="rect">
            <a:avLst/>
          </a:prstGeom>
          <a:noFill/>
        </p:spPr>
        <p:txBody>
          <a:bodyPr wrap="square" anchor="t" lIns="0" rIns="0" tIns="0" bIns="0">
            <a:spAutoFit/>
          </a:bodyPr>
          <a:lstStyle/>
          <a:p>
            <a:pPr algn="l">
              <a:lnSpc>
                <a:spcPct val="108000"/>
              </a:lnSpc>
              <a:spcBef>
                <a:spcPts val="0"/>
              </a:spcBef>
              <a:spcAft>
                <a:spcPts val="300"/>
              </a:spcAft>
            </a:pPr>
            <a:r>
              <a:rPr sz="800" b="0" i="0" spc="120">
                <a:solidFill>
                  <a:srgbClr val="8F9296"/>
                </a:solidFill>
                <a:latin typeface="Courier New"/>
              </a:rPr>
              <a:t>PORTAGE · MIGRATION ACCELERATOR</a:t>
            </a:r>
          </a:p>
        </p:txBody>
      </p:sp>
      <p:sp>
        <p:nvSpPr>
          <p:cNvPr id="8" name="TextBox 7"/>
          <p:cNvSpPr txBox="1"/>
          <p:nvPr/>
        </p:nvSpPr>
        <p:spPr>
          <a:xfrm>
            <a:off x="8074151" y="7296912"/>
            <a:ext cx="1828800" cy="228600"/>
          </a:xfrm>
          <a:prstGeom prst="rect">
            <a:avLst/>
          </a:prstGeom>
          <a:noFill/>
        </p:spPr>
        <p:txBody>
          <a:bodyPr wrap="square" anchor="t" lIns="0" rIns="0" tIns="0" bIns="0">
            <a:spAutoFit/>
          </a:bodyPr>
          <a:lstStyle/>
          <a:p>
            <a:pPr algn="r">
              <a:lnSpc>
                <a:spcPct val="108000"/>
              </a:lnSpc>
              <a:spcBef>
                <a:spcPts val="0"/>
              </a:spcBef>
              <a:spcAft>
                <a:spcPts val="300"/>
              </a:spcAft>
            </a:pPr>
            <a:r>
              <a:rPr sz="800" b="0" i="0" spc="120">
                <a:solidFill>
                  <a:srgbClr val="8F9296"/>
                </a:solidFill>
                <a:latin typeface="Courier New"/>
              </a:rPr>
              <a:t>03 / 10</a:t>
            </a:r>
          </a:p>
        </p:txBody>
      </p:sp>
      <p:sp>
        <p:nvSpPr>
          <p:cNvPr id="9" name="Oval 8"/>
          <p:cNvSpPr/>
          <p:nvPr/>
        </p:nvSpPr>
        <p:spPr>
          <a:xfrm>
            <a:off x="9957815" y="7319772"/>
            <a:ext cx="82296" cy="82296"/>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 y="2221992"/>
            <a:ext cx="3977639" cy="31089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 y="2221992"/>
            <a:ext cx="3977639" cy="50292"/>
          </a:xfrm>
          <a:prstGeom prst="rect">
            <a:avLst/>
          </a:prstGeom>
          <a:solidFill>
            <a:srgbClr val="A9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2478024"/>
            <a:ext cx="3520439" cy="365760"/>
          </a:xfrm>
          <a:prstGeom prst="rect">
            <a:avLst/>
          </a:prstGeom>
          <a:noFill/>
        </p:spPr>
        <p:txBody>
          <a:bodyPr wrap="square" anchor="t" lIns="0" rIns="0" tIns="0" bIns="0">
            <a:spAutoFit/>
          </a:bodyPr>
          <a:lstStyle/>
          <a:p>
            <a:pPr algn="l">
              <a:lnSpc>
                <a:spcPct val="108000"/>
              </a:lnSpc>
              <a:spcBef>
                <a:spcPts val="0"/>
              </a:spcBef>
              <a:spcAft>
                <a:spcPts val="300"/>
              </a:spcAft>
            </a:pPr>
            <a:r>
              <a:rPr sz="1350" b="1" i="0">
                <a:solidFill>
                  <a:srgbClr val="0E0E0E"/>
                </a:solidFill>
                <a:latin typeface="Arial"/>
              </a:rPr>
              <a:t>IN — a Hybris codebase</a:t>
            </a:r>
          </a:p>
        </p:txBody>
      </p:sp>
      <p:sp>
        <p:nvSpPr>
          <p:cNvPr id="13" name="TextBox 12"/>
          <p:cNvSpPr txBox="1"/>
          <p:nvPr/>
        </p:nvSpPr>
        <p:spPr>
          <a:xfrm>
            <a:off x="859536" y="2953512"/>
            <a:ext cx="3520439" cy="2103120"/>
          </a:xfrm>
          <a:prstGeom prst="rect">
            <a:avLst/>
          </a:prstGeom>
          <a:noFill/>
        </p:spPr>
        <p:txBody>
          <a:bodyPr wrap="square" anchor="t" lIns="0" rIns="0" tIns="0" bIns="0">
            <a:spAutoFit/>
          </a:bodyPr>
          <a:lstStyle/>
          <a:p>
            <a:pPr algn="l">
              <a:lnSpc>
                <a:spcPct val="120000"/>
              </a:lnSpc>
              <a:spcBef>
                <a:spcPts val="0"/>
              </a:spcBef>
              <a:spcAft>
                <a:spcPts val="800"/>
              </a:spcAft>
            </a:pPr>
            <a:r>
              <a:rPr sz="1150" b="0" i="0">
                <a:solidFill>
                  <a:srgbClr val="A9622F"/>
                </a:solidFill>
                <a:latin typeface="Arial"/>
              </a:rPr>
              <a:t>—  </a:t>
            </a:r>
            <a:r>
              <a:rPr sz="1150" b="0" i="0">
                <a:solidFill>
                  <a:srgbClr val="53565A"/>
                </a:solidFill>
                <a:latin typeface="Arial"/>
              </a:rPr>
              <a:t>Java business logic (orders, customers, pricing…)</a:t>
            </a:r>
          </a:p>
          <a:p>
            <a:pPr algn="l">
              <a:lnSpc>
                <a:spcPct val="120000"/>
              </a:lnSpc>
              <a:spcBef>
                <a:spcPts val="0"/>
              </a:spcBef>
              <a:spcAft>
                <a:spcPts val="800"/>
              </a:spcAft>
            </a:pPr>
            <a:r>
              <a:rPr sz="1150" b="0" i="0">
                <a:solidFill>
                  <a:srgbClr val="A9622F"/>
                </a:solidFill>
                <a:latin typeface="Arial"/>
              </a:rPr>
              <a:t>—  </a:t>
            </a:r>
            <a:r>
              <a:rPr sz="1150" b="0" i="0">
                <a:solidFill>
                  <a:srgbClr val="53565A"/>
                </a:solidFill>
                <a:latin typeface="Arial"/>
              </a:rPr>
              <a:t>The data model (items.xml)</a:t>
            </a:r>
          </a:p>
          <a:p>
            <a:pPr algn="l">
              <a:lnSpc>
                <a:spcPct val="120000"/>
              </a:lnSpc>
              <a:spcBef>
                <a:spcPts val="0"/>
              </a:spcBef>
              <a:spcAft>
                <a:spcPts val="800"/>
              </a:spcAft>
            </a:pPr>
            <a:r>
              <a:rPr sz="1150" b="0" i="0">
                <a:solidFill>
                  <a:srgbClr val="A9622F"/>
                </a:solidFill>
                <a:latin typeface="Arial"/>
              </a:rPr>
              <a:t>—  </a:t>
            </a:r>
            <a:r>
              <a:rPr sz="1150" b="0" i="0">
                <a:solidFill>
                  <a:srgbClr val="53565A"/>
                </a:solidFill>
                <a:latin typeface="Arial"/>
              </a:rPr>
              <a:t>Actual data records (ImpEx files)</a:t>
            </a:r>
          </a:p>
          <a:p>
            <a:pPr algn="l">
              <a:lnSpc>
                <a:spcPct val="120000"/>
              </a:lnSpc>
              <a:spcBef>
                <a:spcPts val="0"/>
              </a:spcBef>
              <a:spcAft>
                <a:spcPts val="800"/>
              </a:spcAft>
            </a:pPr>
            <a:r>
              <a:rPr sz="1150" b="0" i="0">
                <a:solidFill>
                  <a:srgbClr val="A9622F"/>
                </a:solidFill>
                <a:latin typeface="Arial"/>
              </a:rPr>
              <a:t>—  </a:t>
            </a:r>
            <a:r>
              <a:rPr sz="1150" b="0" i="0">
                <a:solidFill>
                  <a:srgbClr val="53565A"/>
                </a:solidFill>
                <a:latin typeface="Arial"/>
              </a:rPr>
              <a:t>Scheduled jobs (cronjobs + triggers)</a:t>
            </a:r>
          </a:p>
        </p:txBody>
      </p:sp>
      <p:sp>
        <p:nvSpPr>
          <p:cNvPr id="14" name="Oval 13"/>
          <p:cNvSpPr/>
          <p:nvPr/>
        </p:nvSpPr>
        <p:spPr>
          <a:xfrm>
            <a:off x="4887468" y="3227832"/>
            <a:ext cx="914400" cy="914400"/>
          </a:xfrm>
          <a:prstGeom prst="ellipse">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87468" y="3227832"/>
            <a:ext cx="914400" cy="914400"/>
          </a:xfrm>
          <a:prstGeom prst="rect">
            <a:avLst/>
          </a:prstGeom>
          <a:noFill/>
        </p:spPr>
        <p:txBody>
          <a:bodyPr wrap="square" anchor="ctr" lIns="0" rIns="0" tIns="0" bIns="0">
            <a:spAutoFit/>
          </a:bodyPr>
          <a:lstStyle/>
          <a:p>
            <a:pPr algn="ctr">
              <a:lnSpc>
                <a:spcPct val="120000"/>
              </a:lnSpc>
              <a:spcBef>
                <a:spcPts val="0"/>
              </a:spcBef>
              <a:spcAft>
                <a:spcPts val="300"/>
              </a:spcAft>
            </a:pPr>
            <a:r>
              <a:rPr sz="800" b="1" i="0">
                <a:solidFill>
                  <a:srgbClr val="FFFFFF"/>
                </a:solidFill>
                <a:latin typeface="Courier New"/>
              </a:rPr>
              <a:t>AI AGENT
TEAM</a:t>
            </a:r>
          </a:p>
        </p:txBody>
      </p:sp>
      <p:sp>
        <p:nvSpPr>
          <p:cNvPr id="16" name="Oval 15"/>
          <p:cNvSpPr/>
          <p:nvPr/>
        </p:nvSpPr>
        <p:spPr>
          <a:xfrm>
            <a:off x="5637276" y="3886200"/>
            <a:ext cx="109728" cy="109728"/>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7428" y="4279392"/>
            <a:ext cx="1554480" cy="274320"/>
          </a:xfrm>
          <a:prstGeom prst="rect">
            <a:avLst/>
          </a:prstGeom>
          <a:noFill/>
        </p:spPr>
        <p:txBody>
          <a:bodyPr wrap="square" anchor="t" lIns="0" rIns="0" tIns="0" bIns="0">
            <a:spAutoFit/>
          </a:bodyPr>
          <a:lstStyle/>
          <a:p>
            <a:pPr algn="ctr">
              <a:lnSpc>
                <a:spcPct val="108000"/>
              </a:lnSpc>
              <a:spcBef>
                <a:spcPts val="0"/>
              </a:spcBef>
              <a:spcAft>
                <a:spcPts val="300"/>
              </a:spcAft>
            </a:pPr>
            <a:r>
              <a:rPr sz="850" b="0" i="0">
                <a:solidFill>
                  <a:srgbClr val="8F9296"/>
                </a:solidFill>
                <a:latin typeface="Courier New"/>
              </a:rPr>
              <a:t>MINUTES–HOURS</a:t>
            </a:r>
          </a:p>
        </p:txBody>
      </p:sp>
      <p:sp>
        <p:nvSpPr>
          <p:cNvPr id="18" name="Rectangle 17"/>
          <p:cNvSpPr/>
          <p:nvPr/>
        </p:nvSpPr>
        <p:spPr>
          <a:xfrm>
            <a:off x="6108192" y="2221992"/>
            <a:ext cx="3977639" cy="31089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08192" y="2221992"/>
            <a:ext cx="3977639" cy="50292"/>
          </a:xfrm>
          <a:prstGeom prst="rect">
            <a:avLst/>
          </a:prstGeom>
          <a:solidFill>
            <a:srgbClr val="007C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4224" y="2478024"/>
            <a:ext cx="3520439" cy="365760"/>
          </a:xfrm>
          <a:prstGeom prst="rect">
            <a:avLst/>
          </a:prstGeom>
          <a:noFill/>
        </p:spPr>
        <p:txBody>
          <a:bodyPr wrap="square" anchor="t" lIns="0" rIns="0" tIns="0" bIns="0">
            <a:spAutoFit/>
          </a:bodyPr>
          <a:lstStyle/>
          <a:p>
            <a:pPr algn="l">
              <a:lnSpc>
                <a:spcPct val="108000"/>
              </a:lnSpc>
              <a:spcBef>
                <a:spcPts val="0"/>
              </a:spcBef>
              <a:spcAft>
                <a:spcPts val="300"/>
              </a:spcAft>
            </a:pPr>
            <a:r>
              <a:rPr sz="1350" b="1" i="0">
                <a:solidFill>
                  <a:srgbClr val="0E0E0E"/>
                </a:solidFill>
                <a:latin typeface="Arial"/>
              </a:rPr>
              <a:t>OUT — deployable Salesforce</a:t>
            </a:r>
          </a:p>
        </p:txBody>
      </p:sp>
      <p:sp>
        <p:nvSpPr>
          <p:cNvPr id="21" name="TextBox 20"/>
          <p:cNvSpPr txBox="1"/>
          <p:nvPr/>
        </p:nvSpPr>
        <p:spPr>
          <a:xfrm>
            <a:off x="6364224" y="2953512"/>
            <a:ext cx="3520439" cy="2103120"/>
          </a:xfrm>
          <a:prstGeom prst="rect">
            <a:avLst/>
          </a:prstGeom>
          <a:noFill/>
        </p:spPr>
        <p:txBody>
          <a:bodyPr wrap="square" anchor="t" lIns="0" rIns="0" tIns="0" bIns="0">
            <a:spAutoFit/>
          </a:bodyPr>
          <a:lstStyle/>
          <a:p>
            <a:pPr algn="l">
              <a:lnSpc>
                <a:spcPct val="120000"/>
              </a:lnSpc>
              <a:spcBef>
                <a:spcPts val="0"/>
              </a:spcBef>
              <a:spcAft>
                <a:spcPts val="800"/>
              </a:spcAft>
            </a:pPr>
            <a:r>
              <a:rPr sz="1150" b="0" i="0">
                <a:solidFill>
                  <a:srgbClr val="007CB0"/>
                </a:solidFill>
                <a:latin typeface="Arial"/>
              </a:rPr>
              <a:t>—  </a:t>
            </a:r>
            <a:r>
              <a:rPr sz="1150" b="0" i="0">
                <a:solidFill>
                  <a:srgbClr val="53565A"/>
                </a:solidFill>
                <a:latin typeface="Arial"/>
              </a:rPr>
              <a:t>Apex code in Salesforce enterprise patterns</a:t>
            </a:r>
          </a:p>
          <a:p>
            <a:pPr algn="l">
              <a:lnSpc>
                <a:spcPct val="120000"/>
              </a:lnSpc>
              <a:spcBef>
                <a:spcPts val="0"/>
              </a:spcBef>
              <a:spcAft>
                <a:spcPts val="800"/>
              </a:spcAft>
            </a:pPr>
            <a:r>
              <a:rPr sz="1150" b="0" i="0">
                <a:solidFill>
                  <a:srgbClr val="007CB0"/>
                </a:solidFill>
                <a:latin typeface="Arial"/>
              </a:rPr>
              <a:t>—  </a:t>
            </a:r>
            <a:r>
              <a:rPr sz="1150" b="0" i="0">
                <a:solidFill>
                  <a:srgbClr val="53565A"/>
                </a:solidFill>
                <a:latin typeface="Arial"/>
              </a:rPr>
              <a:t>A test class for every class</a:t>
            </a:r>
          </a:p>
          <a:p>
            <a:pPr algn="l">
              <a:lnSpc>
                <a:spcPct val="120000"/>
              </a:lnSpc>
              <a:spcBef>
                <a:spcPts val="0"/>
              </a:spcBef>
              <a:spcAft>
                <a:spcPts val="800"/>
              </a:spcAft>
            </a:pPr>
            <a:r>
              <a:rPr sz="1150" b="0" i="0">
                <a:solidFill>
                  <a:srgbClr val="007CB0"/>
                </a:solidFill>
                <a:latin typeface="Arial"/>
              </a:rPr>
              <a:t>—  </a:t>
            </a:r>
            <a:r>
              <a:rPr sz="1150" b="0" i="0">
                <a:solidFill>
                  <a:srgbClr val="53565A"/>
                </a:solidFill>
                <a:latin typeface="Arial"/>
              </a:rPr>
              <a:t>Data model, data, schedules &amp; LWC — migrated</a:t>
            </a:r>
          </a:p>
          <a:p>
            <a:pPr algn="l">
              <a:lnSpc>
                <a:spcPct val="120000"/>
              </a:lnSpc>
              <a:spcBef>
                <a:spcPts val="0"/>
              </a:spcBef>
              <a:spcAft>
                <a:spcPts val="800"/>
              </a:spcAft>
            </a:pPr>
            <a:r>
              <a:rPr sz="1150" b="0" i="0">
                <a:solidFill>
                  <a:srgbClr val="007CB0"/>
                </a:solidFill>
                <a:latin typeface="Arial"/>
              </a:rPr>
              <a:t>—  </a:t>
            </a:r>
            <a:r>
              <a:rPr sz="1150" b="0" i="0">
                <a:solidFill>
                  <a:srgbClr val="53565A"/>
                </a:solidFill>
                <a:latin typeface="Arial"/>
              </a:rPr>
              <a:t>The evidence: every business rule tracked, your own tests replayed</a:t>
            </a:r>
          </a:p>
          <a:p>
            <a:pPr algn="l">
              <a:lnSpc>
                <a:spcPct val="120000"/>
              </a:lnSpc>
              <a:spcBef>
                <a:spcPts val="0"/>
              </a:spcBef>
              <a:spcAft>
                <a:spcPts val="800"/>
              </a:spcAft>
            </a:pPr>
            <a:r>
              <a:rPr sz="1150" b="0" i="0">
                <a:solidFill>
                  <a:srgbClr val="007CB0"/>
                </a:solidFill>
                <a:latin typeface="Arial"/>
              </a:rPr>
              <a:t>—  </a:t>
            </a:r>
            <a:r>
              <a:rPr sz="1150" b="0" i="0">
                <a:solidFill>
                  <a:srgbClr val="53565A"/>
                </a:solidFill>
                <a:latin typeface="Arial"/>
              </a:rPr>
              <a:t>Sign-off contract — and what it could NOT prove</a:t>
            </a:r>
          </a:p>
        </p:txBody>
      </p:sp>
      <p:sp>
        <p:nvSpPr>
          <p:cNvPr id="22" name="Rectangle 21"/>
          <p:cNvSpPr/>
          <p:nvPr/>
        </p:nvSpPr>
        <p:spPr>
          <a:xfrm>
            <a:off x="603504" y="6455664"/>
            <a:ext cx="9482328" cy="713232"/>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3504" y="6455664"/>
            <a:ext cx="64008" cy="71323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9536" y="6565392"/>
            <a:ext cx="8979407" cy="512064"/>
          </a:xfrm>
          <a:prstGeom prst="rect">
            <a:avLst/>
          </a:prstGeom>
          <a:noFill/>
        </p:spPr>
        <p:txBody>
          <a:bodyPr wrap="square" anchor="t" lIns="0" rIns="0" tIns="0" bIns="0">
            <a:spAutoFit/>
          </a:bodyPr>
          <a:lstStyle/>
          <a:p>
            <a:pPr algn="l">
              <a:lnSpc>
                <a:spcPct val="108000"/>
              </a:lnSpc>
              <a:spcBef>
                <a:spcPts val="0"/>
              </a:spcBef>
              <a:spcAft>
                <a:spcPts val="400"/>
              </a:spcAft>
            </a:pPr>
            <a:r>
              <a:rPr sz="850" b="1" i="0" spc="140">
                <a:solidFill>
                  <a:srgbClr val="046A38"/>
                </a:solidFill>
                <a:latin typeface="Courier New"/>
              </a:rPr>
              <a:t>WHY IT MATTERS</a:t>
            </a:r>
          </a:p>
          <a:p>
            <a:pPr algn="l">
              <a:lnSpc>
                <a:spcPct val="116000"/>
              </a:lnSpc>
              <a:spcBef>
                <a:spcPts val="0"/>
              </a:spcBef>
              <a:spcAft>
                <a:spcPts val="300"/>
              </a:spcAft>
            </a:pPr>
            <a:r>
              <a:rPr sz="1150" b="0" i="0">
                <a:solidFill>
                  <a:srgbClr val="222427"/>
                </a:solidFill>
                <a:latin typeface="Arial"/>
              </a:rPr>
              <a:t>The full migration is still a program — but the code-move stops being the bottleneck. The accelerator does the grind with AI intelligence; your experts review a scored draft instead of rewriting from scratch.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03504" y="493776"/>
            <a:ext cx="118872" cy="118872"/>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0392" y="438912"/>
            <a:ext cx="9208007" cy="292608"/>
          </a:xfrm>
          <a:prstGeom prst="rect">
            <a:avLst/>
          </a:prstGeom>
          <a:noFill/>
        </p:spPr>
        <p:txBody>
          <a:bodyPr wrap="square" anchor="t" lIns="0" rIns="0" tIns="0" bIns="0">
            <a:spAutoFit/>
          </a:bodyPr>
          <a:lstStyle/>
          <a:p>
            <a:pPr algn="l">
              <a:lnSpc>
                <a:spcPct val="108000"/>
              </a:lnSpc>
              <a:spcBef>
                <a:spcPts val="0"/>
              </a:spcBef>
              <a:spcAft>
                <a:spcPts val="300"/>
              </a:spcAft>
            </a:pPr>
            <a:r>
              <a:rPr sz="1050" b="1" i="0" spc="200">
                <a:solidFill>
                  <a:srgbClr val="53565A"/>
                </a:solidFill>
                <a:latin typeface="Courier New"/>
              </a:rPr>
              <a:t>03 · ARCHITECTURE</a:t>
            </a:r>
          </a:p>
        </p:txBody>
      </p:sp>
      <p:sp>
        <p:nvSpPr>
          <p:cNvPr id="5" name="TextBox 4"/>
          <p:cNvSpPr txBox="1"/>
          <p:nvPr/>
        </p:nvSpPr>
        <p:spPr>
          <a:xfrm>
            <a:off x="603504" y="822960"/>
            <a:ext cx="9482328" cy="960120"/>
          </a:xfrm>
          <a:prstGeom prst="rect">
            <a:avLst/>
          </a:prstGeom>
          <a:noFill/>
        </p:spPr>
        <p:txBody>
          <a:bodyPr wrap="square" anchor="t" lIns="0" rIns="0" tIns="0" bIns="0">
            <a:spAutoFit/>
          </a:bodyPr>
          <a:lstStyle/>
          <a:p>
            <a:pPr algn="l">
              <a:lnSpc>
                <a:spcPct val="102000"/>
              </a:lnSpc>
              <a:spcBef>
                <a:spcPts val="0"/>
              </a:spcBef>
              <a:spcAft>
                <a:spcPts val="0"/>
              </a:spcAft>
            </a:pPr>
            <a:r>
              <a:rPr sz="3000" b="1" i="0">
                <a:solidFill>
                  <a:srgbClr val="0E0E0E"/>
                </a:solidFill>
                <a:latin typeface="Arial"/>
              </a:rPr>
              <a:t>Three surfaces, one engine</a:t>
            </a:r>
            <a:r>
              <a:rPr sz="3000" b="1" i="0">
                <a:solidFill>
                  <a:srgbClr val="86BC25"/>
                </a:solidFill>
                <a:latin typeface="Arial"/>
              </a:rPr>
              <a:t>.</a:t>
            </a:r>
          </a:p>
        </p:txBody>
      </p:sp>
      <p:sp>
        <p:nvSpPr>
          <p:cNvPr id="6" name="Rectangle 5"/>
          <p:cNvSpPr/>
          <p:nvPr/>
        </p:nvSpPr>
        <p:spPr>
          <a:xfrm>
            <a:off x="603504" y="1664208"/>
            <a:ext cx="9482328" cy="18288"/>
          </a:xfrm>
          <a:prstGeom prst="rect">
            <a:avLst/>
          </a:prstGeom>
          <a:solidFill>
            <a:srgbClr val="D2D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7296912"/>
            <a:ext cx="3657600" cy="228600"/>
          </a:xfrm>
          <a:prstGeom prst="rect">
            <a:avLst/>
          </a:prstGeom>
          <a:noFill/>
        </p:spPr>
        <p:txBody>
          <a:bodyPr wrap="square" anchor="t" lIns="0" rIns="0" tIns="0" bIns="0">
            <a:spAutoFit/>
          </a:bodyPr>
          <a:lstStyle/>
          <a:p>
            <a:pPr algn="l">
              <a:lnSpc>
                <a:spcPct val="108000"/>
              </a:lnSpc>
              <a:spcBef>
                <a:spcPts val="0"/>
              </a:spcBef>
              <a:spcAft>
                <a:spcPts val="300"/>
              </a:spcAft>
            </a:pPr>
            <a:r>
              <a:rPr sz="800" b="0" i="0" spc="120">
                <a:solidFill>
                  <a:srgbClr val="8F9296"/>
                </a:solidFill>
                <a:latin typeface="Courier New"/>
              </a:rPr>
              <a:t>PORTAGE · MIGRATION ACCELERATOR</a:t>
            </a:r>
          </a:p>
        </p:txBody>
      </p:sp>
      <p:sp>
        <p:nvSpPr>
          <p:cNvPr id="8" name="TextBox 7"/>
          <p:cNvSpPr txBox="1"/>
          <p:nvPr/>
        </p:nvSpPr>
        <p:spPr>
          <a:xfrm>
            <a:off x="8074151" y="7296912"/>
            <a:ext cx="1828800" cy="228600"/>
          </a:xfrm>
          <a:prstGeom prst="rect">
            <a:avLst/>
          </a:prstGeom>
          <a:noFill/>
        </p:spPr>
        <p:txBody>
          <a:bodyPr wrap="square" anchor="t" lIns="0" rIns="0" tIns="0" bIns="0">
            <a:spAutoFit/>
          </a:bodyPr>
          <a:lstStyle/>
          <a:p>
            <a:pPr algn="r">
              <a:lnSpc>
                <a:spcPct val="108000"/>
              </a:lnSpc>
              <a:spcBef>
                <a:spcPts val="0"/>
              </a:spcBef>
              <a:spcAft>
                <a:spcPts val="300"/>
              </a:spcAft>
            </a:pPr>
            <a:r>
              <a:rPr sz="800" b="0" i="0" spc="120">
                <a:solidFill>
                  <a:srgbClr val="8F9296"/>
                </a:solidFill>
                <a:latin typeface="Courier New"/>
              </a:rPr>
              <a:t>04 / 10</a:t>
            </a:r>
          </a:p>
        </p:txBody>
      </p:sp>
      <p:sp>
        <p:nvSpPr>
          <p:cNvPr id="9" name="Oval 8"/>
          <p:cNvSpPr/>
          <p:nvPr/>
        </p:nvSpPr>
        <p:spPr>
          <a:xfrm>
            <a:off x="9957815" y="7319772"/>
            <a:ext cx="82296" cy="82296"/>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 y="1947672"/>
            <a:ext cx="9482328" cy="64008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 y="1947672"/>
            <a:ext cx="1783080" cy="640080"/>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947672"/>
            <a:ext cx="1554480" cy="640080"/>
          </a:xfrm>
          <a:prstGeom prst="rect">
            <a:avLst/>
          </a:prstGeom>
          <a:noFill/>
        </p:spPr>
        <p:txBody>
          <a:bodyPr wrap="square" anchor="ctr" lIns="0" rIns="0" tIns="0" bIns="0">
            <a:spAutoFit/>
          </a:bodyPr>
          <a:lstStyle/>
          <a:p>
            <a:pPr algn="l">
              <a:lnSpc>
                <a:spcPct val="110000"/>
              </a:lnSpc>
              <a:spcBef>
                <a:spcPts val="0"/>
              </a:spcBef>
              <a:spcAft>
                <a:spcPts val="300"/>
              </a:spcAft>
            </a:pPr>
            <a:r>
              <a:rPr sz="850" b="1" i="0" spc="80">
                <a:solidFill>
                  <a:srgbClr val="FFFFFF"/>
                </a:solidFill>
                <a:latin typeface="Courier New"/>
              </a:rPr>
              <a:t>SURFACES</a:t>
            </a:r>
          </a:p>
        </p:txBody>
      </p:sp>
      <p:sp>
        <p:nvSpPr>
          <p:cNvPr id="13" name="Rectangle 12"/>
          <p:cNvSpPr/>
          <p:nvPr/>
        </p:nvSpPr>
        <p:spPr>
          <a:xfrm>
            <a:off x="2569464" y="2093976"/>
            <a:ext cx="2126894"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60904" y="2093976"/>
            <a:ext cx="1944014"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Web cockpit — review as it runs</a:t>
            </a:r>
          </a:p>
        </p:txBody>
      </p:sp>
      <p:sp>
        <p:nvSpPr>
          <p:cNvPr id="15" name="Rectangle 14"/>
          <p:cNvSpPr/>
          <p:nvPr/>
        </p:nvSpPr>
        <p:spPr>
          <a:xfrm>
            <a:off x="4824374" y="2093976"/>
            <a:ext cx="1523390"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15814" y="2093976"/>
            <a:ext cx="1340510"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VS Code — right-click</a:t>
            </a:r>
          </a:p>
        </p:txBody>
      </p:sp>
      <p:sp>
        <p:nvSpPr>
          <p:cNvPr id="17" name="Rectangle 16"/>
          <p:cNvSpPr/>
          <p:nvPr/>
        </p:nvSpPr>
        <p:spPr>
          <a:xfrm>
            <a:off x="6475780" y="2093976"/>
            <a:ext cx="1161288"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67220" y="2093976"/>
            <a:ext cx="978408"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CLI — for CI/CD</a:t>
            </a:r>
          </a:p>
        </p:txBody>
      </p:sp>
      <p:sp>
        <p:nvSpPr>
          <p:cNvPr id="19" name="TextBox 18"/>
          <p:cNvSpPr txBox="1"/>
          <p:nvPr/>
        </p:nvSpPr>
        <p:spPr>
          <a:xfrm>
            <a:off x="603504" y="2551176"/>
            <a:ext cx="9482328" cy="182880"/>
          </a:xfrm>
          <a:prstGeom prst="rect">
            <a:avLst/>
          </a:prstGeom>
          <a:noFill/>
        </p:spPr>
        <p:txBody>
          <a:bodyPr wrap="square" anchor="t" lIns="0" rIns="0" tIns="0" bIns="0">
            <a:spAutoFit/>
          </a:bodyPr>
          <a:lstStyle/>
          <a:p>
            <a:pPr algn="ctr">
              <a:lnSpc>
                <a:spcPct val="108000"/>
              </a:lnSpc>
              <a:spcBef>
                <a:spcPts val="0"/>
              </a:spcBef>
              <a:spcAft>
                <a:spcPts val="300"/>
              </a:spcAft>
            </a:pPr>
            <a:r>
              <a:rPr sz="800" b="0" i="0">
                <a:solidFill>
                  <a:srgbClr val="8F9296"/>
                </a:solidFill>
                <a:latin typeface="Arial"/>
              </a:rPr>
              <a:t>▼</a:t>
            </a:r>
          </a:p>
        </p:txBody>
      </p:sp>
      <p:sp>
        <p:nvSpPr>
          <p:cNvPr id="20" name="Rectangle 19"/>
          <p:cNvSpPr/>
          <p:nvPr/>
        </p:nvSpPr>
        <p:spPr>
          <a:xfrm>
            <a:off x="603504" y="2734056"/>
            <a:ext cx="9482328" cy="64008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3504" y="2734056"/>
            <a:ext cx="1783080" cy="64008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2734056"/>
            <a:ext cx="1554480" cy="640080"/>
          </a:xfrm>
          <a:prstGeom prst="rect">
            <a:avLst/>
          </a:prstGeom>
          <a:noFill/>
        </p:spPr>
        <p:txBody>
          <a:bodyPr wrap="square" anchor="ctr" lIns="0" rIns="0" tIns="0" bIns="0">
            <a:spAutoFit/>
          </a:bodyPr>
          <a:lstStyle/>
          <a:p>
            <a:pPr algn="l">
              <a:lnSpc>
                <a:spcPct val="110000"/>
              </a:lnSpc>
              <a:spcBef>
                <a:spcPts val="0"/>
              </a:spcBef>
              <a:spcAft>
                <a:spcPts val="300"/>
              </a:spcAft>
            </a:pPr>
            <a:r>
              <a:rPr sz="850" b="1" i="0" spc="80">
                <a:solidFill>
                  <a:srgbClr val="FFFFFF"/>
                </a:solidFill>
                <a:latin typeface="Courier New"/>
              </a:rPr>
              <a:t>ORCHESTRATION</a:t>
            </a:r>
          </a:p>
        </p:txBody>
      </p:sp>
      <p:sp>
        <p:nvSpPr>
          <p:cNvPr id="23" name="Rectangle 22"/>
          <p:cNvSpPr/>
          <p:nvPr/>
        </p:nvSpPr>
        <p:spPr>
          <a:xfrm>
            <a:off x="2569464" y="2880360"/>
            <a:ext cx="3092500"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60904" y="2880360"/>
            <a:ext cx="2909620"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Agentic — Planner · Builder · Critic · Verifier</a:t>
            </a:r>
          </a:p>
        </p:txBody>
      </p:sp>
      <p:sp>
        <p:nvSpPr>
          <p:cNvPr id="25" name="Rectangle 24"/>
          <p:cNvSpPr/>
          <p:nvPr/>
        </p:nvSpPr>
        <p:spPr>
          <a:xfrm>
            <a:off x="5789980" y="2880360"/>
            <a:ext cx="1704441"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81420" y="2880360"/>
            <a:ext cx="1521561"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Three human review gates</a:t>
            </a:r>
          </a:p>
        </p:txBody>
      </p:sp>
      <p:sp>
        <p:nvSpPr>
          <p:cNvPr id="27" name="Rectangle 26"/>
          <p:cNvSpPr/>
          <p:nvPr/>
        </p:nvSpPr>
        <p:spPr>
          <a:xfrm>
            <a:off x="7622438" y="2880360"/>
            <a:ext cx="2488996"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13878" y="2880360"/>
            <a:ext cx="2306116"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Linear mode — fixed 10-stage pipeline</a:t>
            </a:r>
          </a:p>
        </p:txBody>
      </p:sp>
      <p:sp>
        <p:nvSpPr>
          <p:cNvPr id="29" name="TextBox 28"/>
          <p:cNvSpPr txBox="1"/>
          <p:nvPr/>
        </p:nvSpPr>
        <p:spPr>
          <a:xfrm>
            <a:off x="603504" y="3337559"/>
            <a:ext cx="9482328" cy="182880"/>
          </a:xfrm>
          <a:prstGeom prst="rect">
            <a:avLst/>
          </a:prstGeom>
          <a:noFill/>
        </p:spPr>
        <p:txBody>
          <a:bodyPr wrap="square" anchor="t" lIns="0" rIns="0" tIns="0" bIns="0">
            <a:spAutoFit/>
          </a:bodyPr>
          <a:lstStyle/>
          <a:p>
            <a:pPr algn="ctr">
              <a:lnSpc>
                <a:spcPct val="108000"/>
              </a:lnSpc>
              <a:spcBef>
                <a:spcPts val="0"/>
              </a:spcBef>
              <a:spcAft>
                <a:spcPts val="300"/>
              </a:spcAft>
            </a:pPr>
            <a:r>
              <a:rPr sz="800" b="0" i="0">
                <a:solidFill>
                  <a:srgbClr val="8F9296"/>
                </a:solidFill>
                <a:latin typeface="Arial"/>
              </a:rPr>
              <a:t>▼</a:t>
            </a:r>
          </a:p>
        </p:txBody>
      </p:sp>
      <p:sp>
        <p:nvSpPr>
          <p:cNvPr id="30" name="Rectangle 29"/>
          <p:cNvSpPr/>
          <p:nvPr/>
        </p:nvSpPr>
        <p:spPr>
          <a:xfrm>
            <a:off x="603504" y="3520439"/>
            <a:ext cx="9482328" cy="64008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 y="3520439"/>
            <a:ext cx="1783080" cy="640080"/>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3520439"/>
            <a:ext cx="1554480" cy="640080"/>
          </a:xfrm>
          <a:prstGeom prst="rect">
            <a:avLst/>
          </a:prstGeom>
          <a:noFill/>
        </p:spPr>
        <p:txBody>
          <a:bodyPr wrap="square" anchor="ctr" lIns="0" rIns="0" tIns="0" bIns="0">
            <a:spAutoFit/>
          </a:bodyPr>
          <a:lstStyle/>
          <a:p>
            <a:pPr algn="l">
              <a:lnSpc>
                <a:spcPct val="110000"/>
              </a:lnSpc>
              <a:spcBef>
                <a:spcPts val="0"/>
              </a:spcBef>
              <a:spcAft>
                <a:spcPts val="300"/>
              </a:spcAft>
            </a:pPr>
            <a:r>
              <a:rPr sz="850" b="1" i="0" spc="80">
                <a:solidFill>
                  <a:srgbClr val="FFFFFF"/>
                </a:solidFill>
                <a:latin typeface="Courier New"/>
              </a:rPr>
              <a:t>SHARED STAGE FUNCTIONS</a:t>
            </a:r>
          </a:p>
        </p:txBody>
      </p:sp>
      <p:sp>
        <p:nvSpPr>
          <p:cNvPr id="33" name="Rectangle 32"/>
          <p:cNvSpPr/>
          <p:nvPr/>
        </p:nvSpPr>
        <p:spPr>
          <a:xfrm>
            <a:off x="2569464" y="3666743"/>
            <a:ext cx="859536"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60904" y="3666743"/>
            <a:ext cx="676656"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parse Java</a:t>
            </a:r>
          </a:p>
        </p:txBody>
      </p:sp>
      <p:sp>
        <p:nvSpPr>
          <p:cNvPr id="35" name="Rectangle 34"/>
          <p:cNvSpPr/>
          <p:nvPr/>
        </p:nvSpPr>
        <p:spPr>
          <a:xfrm>
            <a:off x="3557016" y="3666743"/>
            <a:ext cx="1040587"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48456" y="3666743"/>
            <a:ext cx="857707"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derive schema</a:t>
            </a:r>
          </a:p>
        </p:txBody>
      </p:sp>
      <p:sp>
        <p:nvSpPr>
          <p:cNvPr id="37" name="Rectangle 36"/>
          <p:cNvSpPr/>
          <p:nvPr/>
        </p:nvSpPr>
        <p:spPr>
          <a:xfrm>
            <a:off x="4725619" y="3666743"/>
            <a:ext cx="1402689"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17059" y="3666743"/>
            <a:ext cx="1219809"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generate Apex · LWC</a:t>
            </a:r>
          </a:p>
        </p:txBody>
      </p:sp>
      <p:sp>
        <p:nvSpPr>
          <p:cNvPr id="39" name="Rectangle 38"/>
          <p:cNvSpPr/>
          <p:nvPr/>
        </p:nvSpPr>
        <p:spPr>
          <a:xfrm>
            <a:off x="6256324" y="3666743"/>
            <a:ext cx="1281988"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47764" y="3666743"/>
            <a:ext cx="1099108"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validate &amp; repair</a:t>
            </a:r>
          </a:p>
        </p:txBody>
      </p:sp>
      <p:sp>
        <p:nvSpPr>
          <p:cNvPr id="41" name="Rectangle 40"/>
          <p:cNvSpPr/>
          <p:nvPr/>
        </p:nvSpPr>
        <p:spPr>
          <a:xfrm>
            <a:off x="7666329" y="3666743"/>
            <a:ext cx="919886"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57769" y="3666743"/>
            <a:ext cx="737006"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data · jobs</a:t>
            </a:r>
          </a:p>
        </p:txBody>
      </p:sp>
      <p:sp>
        <p:nvSpPr>
          <p:cNvPr id="43" name="Rectangle 42"/>
          <p:cNvSpPr/>
          <p:nvPr/>
        </p:nvSpPr>
        <p:spPr>
          <a:xfrm>
            <a:off x="8714232" y="3666743"/>
            <a:ext cx="1161288"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05672" y="3666743"/>
            <a:ext cx="978408"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verify · report</a:t>
            </a:r>
          </a:p>
        </p:txBody>
      </p:sp>
      <p:sp>
        <p:nvSpPr>
          <p:cNvPr id="45" name="TextBox 44"/>
          <p:cNvSpPr txBox="1"/>
          <p:nvPr/>
        </p:nvSpPr>
        <p:spPr>
          <a:xfrm>
            <a:off x="603504" y="4123944"/>
            <a:ext cx="9482328" cy="182880"/>
          </a:xfrm>
          <a:prstGeom prst="rect">
            <a:avLst/>
          </a:prstGeom>
          <a:noFill/>
        </p:spPr>
        <p:txBody>
          <a:bodyPr wrap="square" anchor="t" lIns="0" rIns="0" tIns="0" bIns="0">
            <a:spAutoFit/>
          </a:bodyPr>
          <a:lstStyle/>
          <a:p>
            <a:pPr algn="ctr">
              <a:lnSpc>
                <a:spcPct val="108000"/>
              </a:lnSpc>
              <a:spcBef>
                <a:spcPts val="0"/>
              </a:spcBef>
              <a:spcAft>
                <a:spcPts val="300"/>
              </a:spcAft>
            </a:pPr>
            <a:r>
              <a:rPr sz="800" b="0" i="0">
                <a:solidFill>
                  <a:srgbClr val="8F9296"/>
                </a:solidFill>
                <a:latin typeface="Arial"/>
              </a:rPr>
              <a:t>▼</a:t>
            </a:r>
          </a:p>
        </p:txBody>
      </p:sp>
      <p:sp>
        <p:nvSpPr>
          <p:cNvPr id="46" name="Rectangle 45"/>
          <p:cNvSpPr/>
          <p:nvPr/>
        </p:nvSpPr>
        <p:spPr>
          <a:xfrm>
            <a:off x="603504" y="4306824"/>
            <a:ext cx="9482328" cy="64008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03504" y="4306824"/>
            <a:ext cx="1783080" cy="640080"/>
          </a:xfrm>
          <a:prstGeom prst="rect">
            <a:avLst/>
          </a:prstGeom>
          <a:solidFill>
            <a:srgbClr val="046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9808" y="4306824"/>
            <a:ext cx="1554480" cy="640080"/>
          </a:xfrm>
          <a:prstGeom prst="rect">
            <a:avLst/>
          </a:prstGeom>
          <a:noFill/>
        </p:spPr>
        <p:txBody>
          <a:bodyPr wrap="square" anchor="ctr" lIns="0" rIns="0" tIns="0" bIns="0">
            <a:spAutoFit/>
          </a:bodyPr>
          <a:lstStyle/>
          <a:p>
            <a:pPr algn="l">
              <a:lnSpc>
                <a:spcPct val="110000"/>
              </a:lnSpc>
              <a:spcBef>
                <a:spcPts val="0"/>
              </a:spcBef>
              <a:spcAft>
                <a:spcPts val="300"/>
              </a:spcAft>
            </a:pPr>
            <a:r>
              <a:rPr sz="850" b="1" i="0" spc="80">
                <a:solidFill>
                  <a:srgbClr val="FFFFFF"/>
                </a:solidFill>
                <a:latin typeface="Courier New"/>
              </a:rPr>
              <a:t>ASSURANCE</a:t>
            </a:r>
          </a:p>
        </p:txBody>
      </p:sp>
      <p:sp>
        <p:nvSpPr>
          <p:cNvPr id="49" name="Rectangle 48"/>
          <p:cNvSpPr/>
          <p:nvPr/>
        </p:nvSpPr>
        <p:spPr>
          <a:xfrm>
            <a:off x="2569464" y="4453127"/>
            <a:ext cx="919886"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60904" y="4453127"/>
            <a:ext cx="737006"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rule ledger</a:t>
            </a:r>
          </a:p>
        </p:txBody>
      </p:sp>
      <p:sp>
        <p:nvSpPr>
          <p:cNvPr id="51" name="Rectangle 50"/>
          <p:cNvSpPr/>
          <p:nvPr/>
        </p:nvSpPr>
        <p:spPr>
          <a:xfrm>
            <a:off x="3617366" y="4453127"/>
            <a:ext cx="1281988"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708806" y="4453127"/>
            <a:ext cx="1099108"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replay your JUnit</a:t>
            </a:r>
          </a:p>
        </p:txBody>
      </p:sp>
      <p:sp>
        <p:nvSpPr>
          <p:cNvPr id="53" name="Rectangle 52"/>
          <p:cNvSpPr/>
          <p:nvPr/>
        </p:nvSpPr>
        <p:spPr>
          <a:xfrm>
            <a:off x="5027371" y="4453127"/>
            <a:ext cx="859536"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18811" y="4453127"/>
            <a:ext cx="676656"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provenance</a:t>
            </a:r>
          </a:p>
        </p:txBody>
      </p:sp>
      <p:sp>
        <p:nvSpPr>
          <p:cNvPr id="55" name="Rectangle 54"/>
          <p:cNvSpPr/>
          <p:nvPr/>
        </p:nvSpPr>
        <p:spPr>
          <a:xfrm>
            <a:off x="6014923" y="4453127"/>
            <a:ext cx="618134"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06363" y="4453127"/>
            <a:ext cx="435254"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triage</a:t>
            </a:r>
          </a:p>
        </p:txBody>
      </p:sp>
      <p:sp>
        <p:nvSpPr>
          <p:cNvPr id="57" name="Rectangle 56"/>
          <p:cNvSpPr/>
          <p:nvPr/>
        </p:nvSpPr>
        <p:spPr>
          <a:xfrm>
            <a:off x="6761073" y="4453127"/>
            <a:ext cx="738835"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852513" y="4453127"/>
            <a:ext cx="555955"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sign-off</a:t>
            </a:r>
          </a:p>
        </p:txBody>
      </p:sp>
      <p:sp>
        <p:nvSpPr>
          <p:cNvPr id="59" name="TextBox 58"/>
          <p:cNvSpPr txBox="1"/>
          <p:nvPr/>
        </p:nvSpPr>
        <p:spPr>
          <a:xfrm>
            <a:off x="603504" y="4910328"/>
            <a:ext cx="9482328" cy="182880"/>
          </a:xfrm>
          <a:prstGeom prst="rect">
            <a:avLst/>
          </a:prstGeom>
          <a:noFill/>
        </p:spPr>
        <p:txBody>
          <a:bodyPr wrap="square" anchor="t" lIns="0" rIns="0" tIns="0" bIns="0">
            <a:spAutoFit/>
          </a:bodyPr>
          <a:lstStyle/>
          <a:p>
            <a:pPr algn="ctr">
              <a:lnSpc>
                <a:spcPct val="108000"/>
              </a:lnSpc>
              <a:spcBef>
                <a:spcPts val="0"/>
              </a:spcBef>
              <a:spcAft>
                <a:spcPts val="300"/>
              </a:spcAft>
            </a:pPr>
            <a:r>
              <a:rPr sz="800" b="0" i="0">
                <a:solidFill>
                  <a:srgbClr val="8F9296"/>
                </a:solidFill>
                <a:latin typeface="Arial"/>
              </a:rPr>
              <a:t>▼</a:t>
            </a:r>
          </a:p>
        </p:txBody>
      </p:sp>
      <p:sp>
        <p:nvSpPr>
          <p:cNvPr id="60" name="Rectangle 59"/>
          <p:cNvSpPr/>
          <p:nvPr/>
        </p:nvSpPr>
        <p:spPr>
          <a:xfrm>
            <a:off x="603504" y="5093208"/>
            <a:ext cx="9482328" cy="64008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03504" y="5093208"/>
            <a:ext cx="1783080" cy="640080"/>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9808" y="5093208"/>
            <a:ext cx="1554480" cy="640080"/>
          </a:xfrm>
          <a:prstGeom prst="rect">
            <a:avLst/>
          </a:prstGeom>
          <a:noFill/>
        </p:spPr>
        <p:txBody>
          <a:bodyPr wrap="square" anchor="ctr" lIns="0" rIns="0" tIns="0" bIns="0">
            <a:spAutoFit/>
          </a:bodyPr>
          <a:lstStyle/>
          <a:p>
            <a:pPr algn="l">
              <a:lnSpc>
                <a:spcPct val="110000"/>
              </a:lnSpc>
              <a:spcBef>
                <a:spcPts val="0"/>
              </a:spcBef>
              <a:spcAft>
                <a:spcPts val="300"/>
              </a:spcAft>
            </a:pPr>
            <a:r>
              <a:rPr sz="850" b="1" i="0" spc="80">
                <a:solidFill>
                  <a:srgbClr val="FFFFFF"/>
                </a:solidFill>
                <a:latin typeface="Courier New"/>
              </a:rPr>
              <a:t>AI PROVIDERS</a:t>
            </a:r>
          </a:p>
        </p:txBody>
      </p:sp>
      <p:sp>
        <p:nvSpPr>
          <p:cNvPr id="63" name="Rectangle 62"/>
          <p:cNvSpPr/>
          <p:nvPr/>
        </p:nvSpPr>
        <p:spPr>
          <a:xfrm>
            <a:off x="2569464" y="5239512"/>
            <a:ext cx="2126894"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60904" y="5239512"/>
            <a:ext cx="1944014"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Anthropic Claude — best quality</a:t>
            </a:r>
          </a:p>
        </p:txBody>
      </p:sp>
      <p:sp>
        <p:nvSpPr>
          <p:cNvPr id="65" name="Rectangle 64"/>
          <p:cNvSpPr/>
          <p:nvPr/>
        </p:nvSpPr>
        <p:spPr>
          <a:xfrm>
            <a:off x="4824374" y="5239512"/>
            <a:ext cx="1945843"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915814" y="5239512"/>
            <a:ext cx="1762963"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OpenRouter — cheap iteration</a:t>
            </a:r>
          </a:p>
        </p:txBody>
      </p:sp>
      <p:sp>
        <p:nvSpPr>
          <p:cNvPr id="67" name="Rectangle 66"/>
          <p:cNvSpPr/>
          <p:nvPr/>
        </p:nvSpPr>
        <p:spPr>
          <a:xfrm>
            <a:off x="6898233" y="5239512"/>
            <a:ext cx="2368296" cy="347472"/>
          </a:xfrm>
          <a:prstGeom prst="rect">
            <a:avLst/>
          </a:prstGeom>
          <a:solidFill>
            <a:srgbClr val="F3F3F1"/>
          </a:solidFill>
          <a:ln w="6350">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989673" y="5239512"/>
            <a:ext cx="2185415" cy="347472"/>
          </a:xfrm>
          <a:prstGeom prst="rect">
            <a:avLst/>
          </a:prstGeom>
          <a:noFill/>
        </p:spPr>
        <p:txBody>
          <a:bodyPr wrap="square" anchor="ctr" lIns="0" rIns="0" tIns="0" bIns="0">
            <a:spAutoFit/>
          </a:bodyPr>
          <a:lstStyle/>
          <a:p>
            <a:pPr algn="l">
              <a:lnSpc>
                <a:spcPct val="108000"/>
              </a:lnSpc>
              <a:spcBef>
                <a:spcPts val="0"/>
              </a:spcBef>
              <a:spcAft>
                <a:spcPts val="300"/>
              </a:spcAft>
            </a:pPr>
            <a:r>
              <a:rPr sz="950" b="1" i="0">
                <a:solidFill>
                  <a:srgbClr val="0E0E0E"/>
                </a:solidFill>
                <a:latin typeface="Arial"/>
              </a:rPr>
              <a:t>Mock — free, offline, zero exposure</a:t>
            </a:r>
          </a:p>
        </p:txBody>
      </p:sp>
      <p:sp>
        <p:nvSpPr>
          <p:cNvPr id="69" name="Rectangle 68"/>
          <p:cNvSpPr/>
          <p:nvPr/>
        </p:nvSpPr>
        <p:spPr>
          <a:xfrm>
            <a:off x="603504" y="6455664"/>
            <a:ext cx="9482328" cy="713232"/>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3504" y="6455664"/>
            <a:ext cx="64008" cy="71323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59536" y="6565392"/>
            <a:ext cx="8979407" cy="512064"/>
          </a:xfrm>
          <a:prstGeom prst="rect">
            <a:avLst/>
          </a:prstGeom>
          <a:noFill/>
        </p:spPr>
        <p:txBody>
          <a:bodyPr wrap="square" anchor="t" lIns="0" rIns="0" tIns="0" bIns="0">
            <a:spAutoFit/>
          </a:bodyPr>
          <a:lstStyle/>
          <a:p>
            <a:pPr algn="l">
              <a:lnSpc>
                <a:spcPct val="108000"/>
              </a:lnSpc>
              <a:spcBef>
                <a:spcPts val="0"/>
              </a:spcBef>
              <a:spcAft>
                <a:spcPts val="400"/>
              </a:spcAft>
            </a:pPr>
            <a:r>
              <a:rPr sz="850" b="1" i="0" spc="140">
                <a:solidFill>
                  <a:srgbClr val="046A38"/>
                </a:solidFill>
                <a:latin typeface="Courier New"/>
              </a:rPr>
              <a:t>IN PLAIN WORDS</a:t>
            </a:r>
          </a:p>
          <a:p>
            <a:pPr algn="l">
              <a:lnSpc>
                <a:spcPct val="116000"/>
              </a:lnSpc>
              <a:spcBef>
                <a:spcPts val="0"/>
              </a:spcBef>
              <a:spcAft>
                <a:spcPts val="300"/>
              </a:spcAft>
            </a:pPr>
            <a:r>
              <a:rPr sz="1150" b="0" i="0">
                <a:solidFill>
                  <a:srgbClr val="222427"/>
                </a:solidFill>
                <a:latin typeface="Arial"/>
              </a:rPr>
              <a:t>Three front doors, one engine. The agent team does the judgement work; the </a:t>
            </a:r>
            <a:r>
              <a:rPr sz="1150" b="1" i="0">
                <a:solidFill>
                  <a:srgbClr val="0E0E0E"/>
                </a:solidFill>
                <a:latin typeface="Arial"/>
              </a:rPr>
              <a:t>assurance layer</a:t>
            </a:r>
            <a:r>
              <a:rPr sz="1150" b="0" i="0">
                <a:solidFill>
                  <a:srgbClr val="222427"/>
                </a:solidFill>
                <a:latin typeface="Arial"/>
              </a:rPr>
              <a:t> checks it afterwards using no AI at all. And the AI brain is swappable, including a free offline one for zero-exposure evaluation.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03504" y="493776"/>
            <a:ext cx="118872" cy="118872"/>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0392" y="438912"/>
            <a:ext cx="9208007" cy="292608"/>
          </a:xfrm>
          <a:prstGeom prst="rect">
            <a:avLst/>
          </a:prstGeom>
          <a:noFill/>
        </p:spPr>
        <p:txBody>
          <a:bodyPr wrap="square" anchor="t" lIns="0" rIns="0" tIns="0" bIns="0">
            <a:spAutoFit/>
          </a:bodyPr>
          <a:lstStyle/>
          <a:p>
            <a:pPr algn="l">
              <a:lnSpc>
                <a:spcPct val="108000"/>
              </a:lnSpc>
              <a:spcBef>
                <a:spcPts val="0"/>
              </a:spcBef>
              <a:spcAft>
                <a:spcPts val="300"/>
              </a:spcAft>
            </a:pPr>
            <a:r>
              <a:rPr sz="1050" b="1" i="0" spc="200">
                <a:solidFill>
                  <a:srgbClr val="53565A"/>
                </a:solidFill>
                <a:latin typeface="Courier New"/>
              </a:rPr>
              <a:t>04 · THE AI AGENT TEAM</a:t>
            </a:r>
          </a:p>
        </p:txBody>
      </p:sp>
      <p:sp>
        <p:nvSpPr>
          <p:cNvPr id="5" name="TextBox 4"/>
          <p:cNvSpPr txBox="1"/>
          <p:nvPr/>
        </p:nvSpPr>
        <p:spPr>
          <a:xfrm>
            <a:off x="603504" y="822960"/>
            <a:ext cx="9482328" cy="960120"/>
          </a:xfrm>
          <a:prstGeom prst="rect">
            <a:avLst/>
          </a:prstGeom>
          <a:noFill/>
        </p:spPr>
        <p:txBody>
          <a:bodyPr wrap="square" anchor="t" lIns="0" rIns="0" tIns="0" bIns="0">
            <a:spAutoFit/>
          </a:bodyPr>
          <a:lstStyle/>
          <a:p>
            <a:pPr algn="l">
              <a:lnSpc>
                <a:spcPct val="102000"/>
              </a:lnSpc>
              <a:spcBef>
                <a:spcPts val="0"/>
              </a:spcBef>
              <a:spcAft>
                <a:spcPts val="0"/>
              </a:spcAft>
            </a:pPr>
            <a:r>
              <a:rPr sz="2600" b="1" i="0">
                <a:solidFill>
                  <a:srgbClr val="0E0E0E"/>
                </a:solidFill>
                <a:latin typeface="Arial"/>
              </a:rPr>
              <a:t>A manager, a shared whiteboard, and four specialists</a:t>
            </a:r>
            <a:r>
              <a:rPr sz="2600" b="1" i="0">
                <a:solidFill>
                  <a:srgbClr val="86BC25"/>
                </a:solidFill>
                <a:latin typeface="Arial"/>
              </a:rPr>
              <a:t>.</a:t>
            </a:r>
          </a:p>
        </p:txBody>
      </p:sp>
      <p:sp>
        <p:nvSpPr>
          <p:cNvPr id="6" name="Rectangle 5"/>
          <p:cNvSpPr/>
          <p:nvPr/>
        </p:nvSpPr>
        <p:spPr>
          <a:xfrm>
            <a:off x="603504" y="1664208"/>
            <a:ext cx="9482328" cy="18288"/>
          </a:xfrm>
          <a:prstGeom prst="rect">
            <a:avLst/>
          </a:prstGeom>
          <a:solidFill>
            <a:srgbClr val="D2D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7296912"/>
            <a:ext cx="3657600" cy="228600"/>
          </a:xfrm>
          <a:prstGeom prst="rect">
            <a:avLst/>
          </a:prstGeom>
          <a:noFill/>
        </p:spPr>
        <p:txBody>
          <a:bodyPr wrap="square" anchor="t" lIns="0" rIns="0" tIns="0" bIns="0">
            <a:spAutoFit/>
          </a:bodyPr>
          <a:lstStyle/>
          <a:p>
            <a:pPr algn="l">
              <a:lnSpc>
                <a:spcPct val="108000"/>
              </a:lnSpc>
              <a:spcBef>
                <a:spcPts val="0"/>
              </a:spcBef>
              <a:spcAft>
                <a:spcPts val="300"/>
              </a:spcAft>
            </a:pPr>
            <a:r>
              <a:rPr sz="800" b="0" i="0" spc="120">
                <a:solidFill>
                  <a:srgbClr val="8F9296"/>
                </a:solidFill>
                <a:latin typeface="Courier New"/>
              </a:rPr>
              <a:t>PORTAGE · MIGRATION ACCELERATOR</a:t>
            </a:r>
          </a:p>
        </p:txBody>
      </p:sp>
      <p:sp>
        <p:nvSpPr>
          <p:cNvPr id="8" name="TextBox 7"/>
          <p:cNvSpPr txBox="1"/>
          <p:nvPr/>
        </p:nvSpPr>
        <p:spPr>
          <a:xfrm>
            <a:off x="8074151" y="7296912"/>
            <a:ext cx="1828800" cy="228600"/>
          </a:xfrm>
          <a:prstGeom prst="rect">
            <a:avLst/>
          </a:prstGeom>
          <a:noFill/>
        </p:spPr>
        <p:txBody>
          <a:bodyPr wrap="square" anchor="t" lIns="0" rIns="0" tIns="0" bIns="0">
            <a:spAutoFit/>
          </a:bodyPr>
          <a:lstStyle/>
          <a:p>
            <a:pPr algn="r">
              <a:lnSpc>
                <a:spcPct val="108000"/>
              </a:lnSpc>
              <a:spcBef>
                <a:spcPts val="0"/>
              </a:spcBef>
              <a:spcAft>
                <a:spcPts val="300"/>
              </a:spcAft>
            </a:pPr>
            <a:r>
              <a:rPr sz="800" b="0" i="0" spc="120">
                <a:solidFill>
                  <a:srgbClr val="8F9296"/>
                </a:solidFill>
                <a:latin typeface="Courier New"/>
              </a:rPr>
              <a:t>05 / 10</a:t>
            </a:r>
          </a:p>
        </p:txBody>
      </p:sp>
      <p:sp>
        <p:nvSpPr>
          <p:cNvPr id="9" name="Oval 8"/>
          <p:cNvSpPr/>
          <p:nvPr/>
        </p:nvSpPr>
        <p:spPr>
          <a:xfrm>
            <a:off x="9957815" y="7319772"/>
            <a:ext cx="82296" cy="82296"/>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 y="1993392"/>
            <a:ext cx="9482328" cy="475488"/>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1993392"/>
            <a:ext cx="9482328" cy="475488"/>
          </a:xfrm>
          <a:prstGeom prst="rect">
            <a:avLst/>
          </a:prstGeom>
          <a:noFill/>
        </p:spPr>
        <p:txBody>
          <a:bodyPr wrap="square" anchor="ctr" lIns="0" rIns="0" tIns="0" bIns="0">
            <a:spAutoFit/>
          </a:bodyPr>
          <a:lstStyle/>
          <a:p>
            <a:pPr algn="ctr">
              <a:lnSpc>
                <a:spcPct val="108000"/>
              </a:lnSpc>
              <a:spcBef>
                <a:spcPts val="0"/>
              </a:spcBef>
              <a:spcAft>
                <a:spcPts val="300"/>
              </a:spcAft>
            </a:pPr>
            <a:r>
              <a:rPr sz="1250" b="1" i="0">
                <a:solidFill>
                  <a:srgbClr val="FFFFFF"/>
                </a:solidFill>
                <a:latin typeface="Arial"/>
              </a:rPr>
              <a:t>Orchestrator   </a:t>
            </a:r>
            <a:r>
              <a:rPr sz="850" b="0" i="0" spc="100">
                <a:solidFill>
                  <a:srgbClr val="86BC25"/>
                </a:solidFill>
                <a:latin typeface="Courier New"/>
              </a:rPr>
              <a:t>ROUTES WORK · LOOPS UNTIL EVERYTHING IS VERIFIED</a:t>
            </a:r>
          </a:p>
        </p:txBody>
      </p:sp>
      <p:sp>
        <p:nvSpPr>
          <p:cNvPr id="12" name="TextBox 11"/>
          <p:cNvSpPr txBox="1"/>
          <p:nvPr/>
        </p:nvSpPr>
        <p:spPr>
          <a:xfrm>
            <a:off x="603504" y="2478024"/>
            <a:ext cx="9482328" cy="182880"/>
          </a:xfrm>
          <a:prstGeom prst="rect">
            <a:avLst/>
          </a:prstGeom>
          <a:noFill/>
        </p:spPr>
        <p:txBody>
          <a:bodyPr wrap="square" anchor="t" lIns="0" rIns="0" tIns="0" bIns="0">
            <a:spAutoFit/>
          </a:bodyPr>
          <a:lstStyle/>
          <a:p>
            <a:pPr algn="ctr">
              <a:lnSpc>
                <a:spcPct val="108000"/>
              </a:lnSpc>
              <a:spcBef>
                <a:spcPts val="0"/>
              </a:spcBef>
              <a:spcAft>
                <a:spcPts val="300"/>
              </a:spcAft>
            </a:pPr>
            <a:r>
              <a:rPr sz="850" b="0" i="0">
                <a:solidFill>
                  <a:srgbClr val="8F9296"/>
                </a:solidFill>
                <a:latin typeface="Arial"/>
              </a:rPr>
              <a:t>▲   ▼</a:t>
            </a:r>
          </a:p>
        </p:txBody>
      </p:sp>
      <p:sp>
        <p:nvSpPr>
          <p:cNvPr id="13" name="Rectangle 12"/>
          <p:cNvSpPr/>
          <p:nvPr/>
        </p:nvSpPr>
        <p:spPr>
          <a:xfrm>
            <a:off x="603504" y="2670048"/>
            <a:ext cx="9482328" cy="457200"/>
          </a:xfrm>
          <a:prstGeom prst="rect">
            <a:avLst/>
          </a:prstGeom>
          <a:solidFill>
            <a:srgbClr val="FFFFFF"/>
          </a:solidFill>
          <a:ln w="19050">
            <a:solidFill>
              <a:srgbClr val="86BC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3504" y="2670048"/>
            <a:ext cx="9482328" cy="457200"/>
          </a:xfrm>
          <a:prstGeom prst="rect">
            <a:avLst/>
          </a:prstGeom>
          <a:noFill/>
        </p:spPr>
        <p:txBody>
          <a:bodyPr wrap="square" anchor="ctr" lIns="0" rIns="0" tIns="0" bIns="0">
            <a:spAutoFit/>
          </a:bodyPr>
          <a:lstStyle/>
          <a:p>
            <a:pPr algn="ctr">
              <a:lnSpc>
                <a:spcPct val="108000"/>
              </a:lnSpc>
              <a:spcBef>
                <a:spcPts val="0"/>
              </a:spcBef>
              <a:spcAft>
                <a:spcPts val="300"/>
              </a:spcAft>
            </a:pPr>
            <a:r>
              <a:rPr sz="1150" b="1" i="0">
                <a:solidFill>
                  <a:srgbClr val="046A38"/>
                </a:solidFill>
                <a:latin typeface="Arial"/>
              </a:rPr>
              <a:t>The Blackboard</a:t>
            </a:r>
            <a:r>
              <a:rPr sz="1050" b="0" i="0">
                <a:solidFill>
                  <a:srgbClr val="222427"/>
                </a:solidFill>
                <a:latin typeface="Arial"/>
              </a:rPr>
              <a:t> — shared state: schema · migration plan · artifacts · </a:t>
            </a:r>
            <a:r>
              <a:rPr sz="1050" b="1" i="0">
                <a:solidFill>
                  <a:srgbClr val="046A38"/>
                </a:solidFill>
                <a:latin typeface="Arial"/>
              </a:rPr>
              <a:t>decision log</a:t>
            </a:r>
            <a:r>
              <a:rPr sz="1050" b="0" i="0">
                <a:solidFill>
                  <a:srgbClr val="222427"/>
                </a:solidFill>
                <a:latin typeface="Arial"/>
              </a:rPr>
              <a:t> · open questions</a:t>
            </a:r>
          </a:p>
        </p:txBody>
      </p:sp>
      <p:sp>
        <p:nvSpPr>
          <p:cNvPr id="15" name="TextBox 14"/>
          <p:cNvSpPr txBox="1"/>
          <p:nvPr/>
        </p:nvSpPr>
        <p:spPr>
          <a:xfrm>
            <a:off x="603504" y="3154680"/>
            <a:ext cx="9482328" cy="182880"/>
          </a:xfrm>
          <a:prstGeom prst="rect">
            <a:avLst/>
          </a:prstGeom>
          <a:noFill/>
        </p:spPr>
        <p:txBody>
          <a:bodyPr wrap="square" anchor="t" lIns="0" rIns="0" tIns="0" bIns="0">
            <a:spAutoFit/>
          </a:bodyPr>
          <a:lstStyle/>
          <a:p>
            <a:pPr algn="ctr">
              <a:lnSpc>
                <a:spcPct val="108000"/>
              </a:lnSpc>
              <a:spcBef>
                <a:spcPts val="0"/>
              </a:spcBef>
              <a:spcAft>
                <a:spcPts val="300"/>
              </a:spcAft>
            </a:pPr>
            <a:r>
              <a:rPr sz="850" b="0" i="0">
                <a:solidFill>
                  <a:srgbClr val="8F9296"/>
                </a:solidFill>
                <a:latin typeface="Arial"/>
              </a:rPr>
              <a:t>▲   ▼</a:t>
            </a:r>
          </a:p>
        </p:txBody>
      </p:sp>
      <p:sp>
        <p:nvSpPr>
          <p:cNvPr id="16" name="Rectangle 15"/>
          <p:cNvSpPr/>
          <p:nvPr/>
        </p:nvSpPr>
        <p:spPr>
          <a:xfrm>
            <a:off x="603504" y="3383280"/>
            <a:ext cx="2205989" cy="274320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3504" y="3383280"/>
            <a:ext cx="2205989" cy="5029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3593592"/>
            <a:ext cx="1876805" cy="201168"/>
          </a:xfrm>
          <a:prstGeom prst="rect">
            <a:avLst/>
          </a:prstGeom>
          <a:noFill/>
        </p:spPr>
        <p:txBody>
          <a:bodyPr wrap="square" anchor="t" lIns="0" rIns="0" tIns="0" bIns="0">
            <a:spAutoFit/>
          </a:bodyPr>
          <a:lstStyle/>
          <a:p>
            <a:pPr algn="l">
              <a:lnSpc>
                <a:spcPct val="108000"/>
              </a:lnSpc>
              <a:spcBef>
                <a:spcPts val="0"/>
              </a:spcBef>
              <a:spcAft>
                <a:spcPts val="300"/>
              </a:spcAft>
            </a:pPr>
            <a:r>
              <a:rPr sz="750" b="1" i="0" spc="80">
                <a:solidFill>
                  <a:srgbClr val="046A38"/>
                </a:solidFill>
                <a:latin typeface="Courier New"/>
              </a:rPr>
              <a:t>STRATEGY</a:t>
            </a:r>
          </a:p>
        </p:txBody>
      </p:sp>
      <p:sp>
        <p:nvSpPr>
          <p:cNvPr id="19" name="TextBox 18"/>
          <p:cNvSpPr txBox="1"/>
          <p:nvPr/>
        </p:nvSpPr>
        <p:spPr>
          <a:xfrm>
            <a:off x="768096" y="3822191"/>
            <a:ext cx="1876805" cy="292608"/>
          </a:xfrm>
          <a:prstGeom prst="rect">
            <a:avLst/>
          </a:prstGeom>
          <a:noFill/>
        </p:spPr>
        <p:txBody>
          <a:bodyPr wrap="square" anchor="t" lIns="0" rIns="0" tIns="0" bIns="0">
            <a:spAutoFit/>
          </a:bodyPr>
          <a:lstStyle/>
          <a:p>
            <a:pPr algn="l">
              <a:lnSpc>
                <a:spcPct val="108000"/>
              </a:lnSpc>
              <a:spcBef>
                <a:spcPts val="0"/>
              </a:spcBef>
              <a:spcAft>
                <a:spcPts val="300"/>
              </a:spcAft>
            </a:pPr>
            <a:r>
              <a:rPr sz="1350" b="1" i="0">
                <a:solidFill>
                  <a:srgbClr val="0E0E0E"/>
                </a:solidFill>
                <a:latin typeface="Arial"/>
              </a:rPr>
              <a:t>The Planner</a:t>
            </a:r>
          </a:p>
        </p:txBody>
      </p:sp>
      <p:sp>
        <p:nvSpPr>
          <p:cNvPr id="20" name="TextBox 19"/>
          <p:cNvSpPr txBox="1"/>
          <p:nvPr/>
        </p:nvSpPr>
        <p:spPr>
          <a:xfrm>
            <a:off x="768096" y="4187952"/>
            <a:ext cx="1876805" cy="1234440"/>
          </a:xfrm>
          <a:prstGeom prst="rect">
            <a:avLst/>
          </a:prstGeom>
          <a:noFill/>
        </p:spPr>
        <p:txBody>
          <a:bodyPr wrap="square" anchor="t" lIns="0" rIns="0" tIns="0" bIns="0">
            <a:spAutoFit/>
          </a:bodyPr>
          <a:lstStyle/>
          <a:p>
            <a:pPr algn="l">
              <a:lnSpc>
                <a:spcPct val="124000"/>
              </a:lnSpc>
              <a:spcBef>
                <a:spcPts val="0"/>
              </a:spcBef>
              <a:spcAft>
                <a:spcPts val="300"/>
              </a:spcAft>
            </a:pPr>
            <a:r>
              <a:rPr sz="980" b="0" i="0">
                <a:solidFill>
                  <a:srgbClr val="53565A"/>
                </a:solidFill>
                <a:latin typeface="Arial"/>
              </a:rPr>
              <a:t>Converts everything, with a written rationale. Where a native Salesforce product fits better, it flags it for review — it never drops the logic.</a:t>
            </a:r>
          </a:p>
        </p:txBody>
      </p:sp>
      <p:sp>
        <p:nvSpPr>
          <p:cNvPr id="21" name="Rectangle 20"/>
          <p:cNvSpPr/>
          <p:nvPr/>
        </p:nvSpPr>
        <p:spPr>
          <a:xfrm>
            <a:off x="768096" y="5422392"/>
            <a:ext cx="36576" cy="54864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422392"/>
            <a:ext cx="1748789" cy="640080"/>
          </a:xfrm>
          <a:prstGeom prst="rect">
            <a:avLst/>
          </a:prstGeom>
          <a:noFill/>
        </p:spPr>
        <p:txBody>
          <a:bodyPr wrap="square" anchor="t" lIns="0" rIns="0" tIns="0" bIns="0">
            <a:spAutoFit/>
          </a:bodyPr>
          <a:lstStyle/>
          <a:p>
            <a:pPr algn="l">
              <a:lnSpc>
                <a:spcPct val="120000"/>
              </a:lnSpc>
              <a:spcBef>
                <a:spcPts val="0"/>
              </a:spcBef>
              <a:spcAft>
                <a:spcPts val="300"/>
              </a:spcAft>
            </a:pPr>
            <a:r>
              <a:rPr sz="919" b="0" i="1">
                <a:solidFill>
                  <a:srgbClr val="222427"/>
                </a:solidFill>
                <a:latin typeface="Arial"/>
              </a:rPr>
              <a:t>“CPQ suits this pricing — but here's the code anyway.”</a:t>
            </a:r>
          </a:p>
        </p:txBody>
      </p:sp>
      <p:sp>
        <p:nvSpPr>
          <p:cNvPr id="23" name="Rectangle 22"/>
          <p:cNvSpPr/>
          <p:nvPr/>
        </p:nvSpPr>
        <p:spPr>
          <a:xfrm>
            <a:off x="3028950" y="3383280"/>
            <a:ext cx="2205989" cy="274320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028950" y="3383280"/>
            <a:ext cx="2205989" cy="5029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93542" y="3593592"/>
            <a:ext cx="1876805" cy="201168"/>
          </a:xfrm>
          <a:prstGeom prst="rect">
            <a:avLst/>
          </a:prstGeom>
          <a:noFill/>
        </p:spPr>
        <p:txBody>
          <a:bodyPr wrap="square" anchor="t" lIns="0" rIns="0" tIns="0" bIns="0">
            <a:spAutoFit/>
          </a:bodyPr>
          <a:lstStyle/>
          <a:p>
            <a:pPr algn="l">
              <a:lnSpc>
                <a:spcPct val="108000"/>
              </a:lnSpc>
              <a:spcBef>
                <a:spcPts val="0"/>
              </a:spcBef>
              <a:spcAft>
                <a:spcPts val="300"/>
              </a:spcAft>
            </a:pPr>
            <a:r>
              <a:rPr sz="750" b="1" i="0" spc="80">
                <a:solidFill>
                  <a:srgbClr val="046A38"/>
                </a:solidFill>
                <a:latin typeface="Courier New"/>
              </a:rPr>
              <a:t>EXECUTION</a:t>
            </a:r>
          </a:p>
        </p:txBody>
      </p:sp>
      <p:sp>
        <p:nvSpPr>
          <p:cNvPr id="26" name="TextBox 25"/>
          <p:cNvSpPr txBox="1"/>
          <p:nvPr/>
        </p:nvSpPr>
        <p:spPr>
          <a:xfrm>
            <a:off x="3193542" y="3822191"/>
            <a:ext cx="1876805" cy="292608"/>
          </a:xfrm>
          <a:prstGeom prst="rect">
            <a:avLst/>
          </a:prstGeom>
          <a:noFill/>
        </p:spPr>
        <p:txBody>
          <a:bodyPr wrap="square" anchor="t" lIns="0" rIns="0" tIns="0" bIns="0">
            <a:spAutoFit/>
          </a:bodyPr>
          <a:lstStyle/>
          <a:p>
            <a:pPr algn="l">
              <a:lnSpc>
                <a:spcPct val="108000"/>
              </a:lnSpc>
              <a:spcBef>
                <a:spcPts val="0"/>
              </a:spcBef>
              <a:spcAft>
                <a:spcPts val="300"/>
              </a:spcAft>
            </a:pPr>
            <a:r>
              <a:rPr sz="1350" b="1" i="0">
                <a:solidFill>
                  <a:srgbClr val="0E0E0E"/>
                </a:solidFill>
                <a:latin typeface="Arial"/>
              </a:rPr>
              <a:t>The Builder</a:t>
            </a:r>
          </a:p>
        </p:txBody>
      </p:sp>
      <p:sp>
        <p:nvSpPr>
          <p:cNvPr id="27" name="TextBox 26"/>
          <p:cNvSpPr txBox="1"/>
          <p:nvPr/>
        </p:nvSpPr>
        <p:spPr>
          <a:xfrm>
            <a:off x="3193542" y="4187952"/>
            <a:ext cx="1876805" cy="1234440"/>
          </a:xfrm>
          <a:prstGeom prst="rect">
            <a:avLst/>
          </a:prstGeom>
          <a:noFill/>
        </p:spPr>
        <p:txBody>
          <a:bodyPr wrap="square" anchor="t" lIns="0" rIns="0" tIns="0" bIns="0">
            <a:spAutoFit/>
          </a:bodyPr>
          <a:lstStyle/>
          <a:p>
            <a:pPr algn="l">
              <a:lnSpc>
                <a:spcPct val="124000"/>
              </a:lnSpc>
              <a:spcBef>
                <a:spcPts val="0"/>
              </a:spcBef>
              <a:spcAft>
                <a:spcPts val="300"/>
              </a:spcAft>
            </a:pPr>
            <a:r>
              <a:rPr sz="980" b="0" i="0">
                <a:solidFill>
                  <a:srgbClr val="53565A"/>
                </a:solidFill>
                <a:latin typeface="Arial"/>
              </a:rPr>
              <a:t>Writes the Apex + a test class per class, grounded in your real data model and best practices.</a:t>
            </a:r>
          </a:p>
        </p:txBody>
      </p:sp>
      <p:sp>
        <p:nvSpPr>
          <p:cNvPr id="28" name="Rectangle 27"/>
          <p:cNvSpPr/>
          <p:nvPr/>
        </p:nvSpPr>
        <p:spPr>
          <a:xfrm>
            <a:off x="3193542" y="5422392"/>
            <a:ext cx="36576" cy="54864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03270" y="5422392"/>
            <a:ext cx="1748789" cy="640080"/>
          </a:xfrm>
          <a:prstGeom prst="rect">
            <a:avLst/>
          </a:prstGeom>
          <a:noFill/>
        </p:spPr>
        <p:txBody>
          <a:bodyPr wrap="square" anchor="t" lIns="0" rIns="0" tIns="0" bIns="0">
            <a:spAutoFit/>
          </a:bodyPr>
          <a:lstStyle/>
          <a:p>
            <a:pPr algn="l">
              <a:lnSpc>
                <a:spcPct val="120000"/>
              </a:lnSpc>
              <a:spcBef>
                <a:spcPts val="0"/>
              </a:spcBef>
              <a:spcAft>
                <a:spcPts val="300"/>
              </a:spcAft>
            </a:pPr>
            <a:r>
              <a:rPr sz="919" b="0" i="1">
                <a:solidFill>
                  <a:srgbClr val="222427"/>
                </a:solidFill>
                <a:latin typeface="Arial"/>
              </a:rPr>
              <a:t>“Bulk-safe, secure, on pattern — like a senior dev.”</a:t>
            </a:r>
          </a:p>
        </p:txBody>
      </p:sp>
      <p:sp>
        <p:nvSpPr>
          <p:cNvPr id="30" name="Rectangle 29"/>
          <p:cNvSpPr/>
          <p:nvPr/>
        </p:nvSpPr>
        <p:spPr>
          <a:xfrm>
            <a:off x="5454396" y="3383280"/>
            <a:ext cx="2205989" cy="274320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54396" y="3383280"/>
            <a:ext cx="2205989" cy="5029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18988" y="3593592"/>
            <a:ext cx="1876805" cy="201168"/>
          </a:xfrm>
          <a:prstGeom prst="rect">
            <a:avLst/>
          </a:prstGeom>
          <a:noFill/>
        </p:spPr>
        <p:txBody>
          <a:bodyPr wrap="square" anchor="t" lIns="0" rIns="0" tIns="0" bIns="0">
            <a:spAutoFit/>
          </a:bodyPr>
          <a:lstStyle/>
          <a:p>
            <a:pPr algn="l">
              <a:lnSpc>
                <a:spcPct val="108000"/>
              </a:lnSpc>
              <a:spcBef>
                <a:spcPts val="0"/>
              </a:spcBef>
              <a:spcAft>
                <a:spcPts val="300"/>
              </a:spcAft>
            </a:pPr>
            <a:r>
              <a:rPr sz="750" b="1" i="0" spc="80">
                <a:solidFill>
                  <a:srgbClr val="046A38"/>
                </a:solidFill>
                <a:latin typeface="Courier New"/>
              </a:rPr>
              <a:t>QUALITY GATE</a:t>
            </a:r>
          </a:p>
        </p:txBody>
      </p:sp>
      <p:sp>
        <p:nvSpPr>
          <p:cNvPr id="33" name="TextBox 32"/>
          <p:cNvSpPr txBox="1"/>
          <p:nvPr/>
        </p:nvSpPr>
        <p:spPr>
          <a:xfrm>
            <a:off x="5618988" y="3822191"/>
            <a:ext cx="1876805" cy="292608"/>
          </a:xfrm>
          <a:prstGeom prst="rect">
            <a:avLst/>
          </a:prstGeom>
          <a:noFill/>
        </p:spPr>
        <p:txBody>
          <a:bodyPr wrap="square" anchor="t" lIns="0" rIns="0" tIns="0" bIns="0">
            <a:spAutoFit/>
          </a:bodyPr>
          <a:lstStyle/>
          <a:p>
            <a:pPr algn="l">
              <a:lnSpc>
                <a:spcPct val="108000"/>
              </a:lnSpc>
              <a:spcBef>
                <a:spcPts val="0"/>
              </a:spcBef>
              <a:spcAft>
                <a:spcPts val="300"/>
              </a:spcAft>
            </a:pPr>
            <a:r>
              <a:rPr sz="1350" b="1" i="0">
                <a:solidFill>
                  <a:srgbClr val="0E0E0E"/>
                </a:solidFill>
                <a:latin typeface="Arial"/>
              </a:rPr>
              <a:t>The Critic</a:t>
            </a:r>
          </a:p>
        </p:txBody>
      </p:sp>
      <p:sp>
        <p:nvSpPr>
          <p:cNvPr id="34" name="TextBox 33"/>
          <p:cNvSpPr txBox="1"/>
          <p:nvPr/>
        </p:nvSpPr>
        <p:spPr>
          <a:xfrm>
            <a:off x="5618988" y="4187952"/>
            <a:ext cx="1876805" cy="1234440"/>
          </a:xfrm>
          <a:prstGeom prst="rect">
            <a:avLst/>
          </a:prstGeom>
          <a:noFill/>
        </p:spPr>
        <p:txBody>
          <a:bodyPr wrap="square" anchor="t" lIns="0" rIns="0" tIns="0" bIns="0">
            <a:spAutoFit/>
          </a:bodyPr>
          <a:lstStyle/>
          <a:p>
            <a:pPr algn="l">
              <a:lnSpc>
                <a:spcPct val="124000"/>
              </a:lnSpc>
              <a:spcBef>
                <a:spcPts val="0"/>
              </a:spcBef>
              <a:spcAft>
                <a:spcPts val="300"/>
              </a:spcAft>
            </a:pPr>
            <a:r>
              <a:rPr sz="980" b="0" i="0">
                <a:solidFill>
                  <a:srgbClr val="53565A"/>
                </a:solidFill>
                <a:latin typeface="Arial"/>
              </a:rPr>
              <a:t>Adversarially reviews every piece: is the original behavior preserved? Is it secure?</a:t>
            </a:r>
          </a:p>
        </p:txBody>
      </p:sp>
      <p:sp>
        <p:nvSpPr>
          <p:cNvPr id="35" name="Rectangle 34"/>
          <p:cNvSpPr/>
          <p:nvPr/>
        </p:nvSpPr>
        <p:spPr>
          <a:xfrm>
            <a:off x="5618988" y="5422392"/>
            <a:ext cx="36576" cy="54864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28716" y="5422392"/>
            <a:ext cx="1748789" cy="640080"/>
          </a:xfrm>
          <a:prstGeom prst="rect">
            <a:avLst/>
          </a:prstGeom>
          <a:noFill/>
        </p:spPr>
        <p:txBody>
          <a:bodyPr wrap="square" anchor="t" lIns="0" rIns="0" tIns="0" bIns="0">
            <a:spAutoFit/>
          </a:bodyPr>
          <a:lstStyle/>
          <a:p>
            <a:pPr algn="l">
              <a:lnSpc>
                <a:spcPct val="120000"/>
              </a:lnSpc>
              <a:spcBef>
                <a:spcPts val="0"/>
              </a:spcBef>
              <a:spcAft>
                <a:spcPts val="300"/>
              </a:spcAft>
            </a:pPr>
            <a:r>
              <a:rPr sz="919" b="0" i="1">
                <a:solidFill>
                  <a:srgbClr val="222427"/>
                </a:solidFill>
                <a:latin typeface="Arial"/>
              </a:rPr>
              <a:t>“The zero-total rule got dropped — blocked.”</a:t>
            </a:r>
          </a:p>
        </p:txBody>
      </p:sp>
      <p:sp>
        <p:nvSpPr>
          <p:cNvPr id="37" name="Rectangle 36"/>
          <p:cNvSpPr/>
          <p:nvPr/>
        </p:nvSpPr>
        <p:spPr>
          <a:xfrm>
            <a:off x="7879842" y="3383280"/>
            <a:ext cx="2205989" cy="274320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879842" y="3383280"/>
            <a:ext cx="2205989" cy="5029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4433" y="3593592"/>
            <a:ext cx="1876805" cy="201168"/>
          </a:xfrm>
          <a:prstGeom prst="rect">
            <a:avLst/>
          </a:prstGeom>
          <a:noFill/>
        </p:spPr>
        <p:txBody>
          <a:bodyPr wrap="square" anchor="t" lIns="0" rIns="0" tIns="0" bIns="0">
            <a:spAutoFit/>
          </a:bodyPr>
          <a:lstStyle/>
          <a:p>
            <a:pPr algn="l">
              <a:lnSpc>
                <a:spcPct val="108000"/>
              </a:lnSpc>
              <a:spcBef>
                <a:spcPts val="0"/>
              </a:spcBef>
              <a:spcAft>
                <a:spcPts val="300"/>
              </a:spcAft>
            </a:pPr>
            <a:r>
              <a:rPr sz="750" b="1" i="0" spc="80">
                <a:solidFill>
                  <a:srgbClr val="046A38"/>
                </a:solidFill>
                <a:latin typeface="Courier New"/>
              </a:rPr>
              <a:t>PROOF</a:t>
            </a:r>
          </a:p>
        </p:txBody>
      </p:sp>
      <p:sp>
        <p:nvSpPr>
          <p:cNvPr id="40" name="TextBox 39"/>
          <p:cNvSpPr txBox="1"/>
          <p:nvPr/>
        </p:nvSpPr>
        <p:spPr>
          <a:xfrm>
            <a:off x="8044433" y="3822191"/>
            <a:ext cx="1876805" cy="292608"/>
          </a:xfrm>
          <a:prstGeom prst="rect">
            <a:avLst/>
          </a:prstGeom>
          <a:noFill/>
        </p:spPr>
        <p:txBody>
          <a:bodyPr wrap="square" anchor="t" lIns="0" rIns="0" tIns="0" bIns="0">
            <a:spAutoFit/>
          </a:bodyPr>
          <a:lstStyle/>
          <a:p>
            <a:pPr algn="l">
              <a:lnSpc>
                <a:spcPct val="108000"/>
              </a:lnSpc>
              <a:spcBef>
                <a:spcPts val="0"/>
              </a:spcBef>
              <a:spcAft>
                <a:spcPts val="300"/>
              </a:spcAft>
            </a:pPr>
            <a:r>
              <a:rPr sz="1350" b="1" i="0">
                <a:solidFill>
                  <a:srgbClr val="0E0E0E"/>
                </a:solidFill>
                <a:latin typeface="Arial"/>
              </a:rPr>
              <a:t>The Verifier</a:t>
            </a:r>
          </a:p>
        </p:txBody>
      </p:sp>
      <p:sp>
        <p:nvSpPr>
          <p:cNvPr id="41" name="TextBox 40"/>
          <p:cNvSpPr txBox="1"/>
          <p:nvPr/>
        </p:nvSpPr>
        <p:spPr>
          <a:xfrm>
            <a:off x="8044433" y="4187952"/>
            <a:ext cx="1876805" cy="1234440"/>
          </a:xfrm>
          <a:prstGeom prst="rect">
            <a:avLst/>
          </a:prstGeom>
          <a:noFill/>
        </p:spPr>
        <p:txBody>
          <a:bodyPr wrap="square" anchor="t" lIns="0" rIns="0" tIns="0" bIns="0">
            <a:spAutoFit/>
          </a:bodyPr>
          <a:lstStyle/>
          <a:p>
            <a:pPr algn="l">
              <a:lnSpc>
                <a:spcPct val="124000"/>
              </a:lnSpc>
              <a:spcBef>
                <a:spcPts val="0"/>
              </a:spcBef>
              <a:spcAft>
                <a:spcPts val="300"/>
              </a:spcAft>
            </a:pPr>
            <a:r>
              <a:rPr sz="980" b="0" i="0">
                <a:solidFill>
                  <a:srgbClr val="53565A"/>
                </a:solidFill>
                <a:latin typeface="Arial"/>
              </a:rPr>
              <a:t>Deploys to a real org, reads real compiler errors, and heals them until green.</a:t>
            </a:r>
          </a:p>
        </p:txBody>
      </p:sp>
      <p:sp>
        <p:nvSpPr>
          <p:cNvPr id="42" name="Rectangle 41"/>
          <p:cNvSpPr/>
          <p:nvPr/>
        </p:nvSpPr>
        <p:spPr>
          <a:xfrm>
            <a:off x="8044433" y="5422392"/>
            <a:ext cx="36576" cy="548640"/>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54162" y="5422392"/>
            <a:ext cx="1748789" cy="640080"/>
          </a:xfrm>
          <a:prstGeom prst="rect">
            <a:avLst/>
          </a:prstGeom>
          <a:noFill/>
        </p:spPr>
        <p:txBody>
          <a:bodyPr wrap="square" anchor="t" lIns="0" rIns="0" tIns="0" bIns="0">
            <a:spAutoFit/>
          </a:bodyPr>
          <a:lstStyle/>
          <a:p>
            <a:pPr algn="l">
              <a:lnSpc>
                <a:spcPct val="120000"/>
              </a:lnSpc>
              <a:spcBef>
                <a:spcPts val="0"/>
              </a:spcBef>
              <a:spcAft>
                <a:spcPts val="300"/>
              </a:spcAft>
            </a:pPr>
            <a:r>
              <a:rPr sz="919" b="0" i="1">
                <a:solidFill>
                  <a:srgbClr val="222427"/>
                </a:solidFill>
                <a:latin typeface="Arial"/>
              </a:rPr>
              <a:t>“Not ‘looks right’ — it actually ran.”</a:t>
            </a:r>
          </a:p>
        </p:txBody>
      </p:sp>
      <p:sp>
        <p:nvSpPr>
          <p:cNvPr id="44" name="TextBox 43"/>
          <p:cNvSpPr txBox="1"/>
          <p:nvPr/>
        </p:nvSpPr>
        <p:spPr>
          <a:xfrm>
            <a:off x="603504" y="7296912"/>
            <a:ext cx="3657600" cy="228600"/>
          </a:xfrm>
          <a:prstGeom prst="rect">
            <a:avLst/>
          </a:prstGeom>
          <a:noFill/>
        </p:spPr>
        <p:txBody>
          <a:bodyPr wrap="square" anchor="t" lIns="0" rIns="0" tIns="0" bIns="0">
            <a:spAutoFit/>
          </a:bodyPr>
          <a:lstStyle/>
          <a:p>
            <a:pPr algn="l">
              <a:lnSpc>
                <a:spcPct val="108000"/>
              </a:lnSpc>
              <a:spcBef>
                <a:spcPts val="0"/>
              </a:spcBef>
              <a:spcAft>
                <a:spcPts val="300"/>
              </a:spcAft>
            </a:pPr>
            <a:r>
              <a:rPr sz="800" b="0" i="0" spc="120">
                <a:solidFill>
                  <a:srgbClr val="8F9296"/>
                </a:solidFill>
                <a:latin typeface="Courier New"/>
              </a:rPr>
              <a:t>PORTAGE · MIGRATION ACCELERATOR</a:t>
            </a:r>
          </a:p>
        </p:txBody>
      </p:sp>
      <p:sp>
        <p:nvSpPr>
          <p:cNvPr id="45" name="TextBox 44"/>
          <p:cNvSpPr txBox="1"/>
          <p:nvPr/>
        </p:nvSpPr>
        <p:spPr>
          <a:xfrm>
            <a:off x="8074151" y="7296912"/>
            <a:ext cx="1828800" cy="228600"/>
          </a:xfrm>
          <a:prstGeom prst="rect">
            <a:avLst/>
          </a:prstGeom>
          <a:noFill/>
        </p:spPr>
        <p:txBody>
          <a:bodyPr wrap="square" anchor="t" lIns="0" rIns="0" tIns="0" bIns="0">
            <a:spAutoFit/>
          </a:bodyPr>
          <a:lstStyle/>
          <a:p>
            <a:pPr algn="r">
              <a:lnSpc>
                <a:spcPct val="108000"/>
              </a:lnSpc>
              <a:spcBef>
                <a:spcPts val="0"/>
              </a:spcBef>
              <a:spcAft>
                <a:spcPts val="300"/>
              </a:spcAft>
            </a:pPr>
            <a:r>
              <a:rPr sz="800" b="0" i="0" spc="120">
                <a:solidFill>
                  <a:srgbClr val="8F9296"/>
                </a:solidFill>
                <a:latin typeface="Courier New"/>
              </a:rPr>
              <a:t>05 / 10</a:t>
            </a:r>
          </a:p>
        </p:txBody>
      </p:sp>
      <p:sp>
        <p:nvSpPr>
          <p:cNvPr id="46" name="Oval 45"/>
          <p:cNvSpPr/>
          <p:nvPr/>
        </p:nvSpPr>
        <p:spPr>
          <a:xfrm>
            <a:off x="9957815" y="7319772"/>
            <a:ext cx="82296" cy="82296"/>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03504" y="493776"/>
            <a:ext cx="118872" cy="118872"/>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0392" y="438912"/>
            <a:ext cx="9208007" cy="292608"/>
          </a:xfrm>
          <a:prstGeom prst="rect">
            <a:avLst/>
          </a:prstGeom>
          <a:noFill/>
        </p:spPr>
        <p:txBody>
          <a:bodyPr wrap="square" anchor="t" lIns="0" rIns="0" tIns="0" bIns="0">
            <a:spAutoFit/>
          </a:bodyPr>
          <a:lstStyle/>
          <a:p>
            <a:pPr algn="l">
              <a:lnSpc>
                <a:spcPct val="108000"/>
              </a:lnSpc>
              <a:spcBef>
                <a:spcPts val="0"/>
              </a:spcBef>
              <a:spcAft>
                <a:spcPts val="300"/>
              </a:spcAft>
            </a:pPr>
            <a:r>
              <a:rPr sz="1050" b="1" i="0" spc="200">
                <a:solidFill>
                  <a:srgbClr val="53565A"/>
                </a:solidFill>
                <a:latin typeface="Courier New"/>
              </a:rPr>
              <a:t>05 · THE PIPELINE</a:t>
            </a:r>
          </a:p>
        </p:txBody>
      </p:sp>
      <p:sp>
        <p:nvSpPr>
          <p:cNvPr id="5" name="TextBox 4"/>
          <p:cNvSpPr txBox="1"/>
          <p:nvPr/>
        </p:nvSpPr>
        <p:spPr>
          <a:xfrm>
            <a:off x="603504" y="822960"/>
            <a:ext cx="9482328" cy="960120"/>
          </a:xfrm>
          <a:prstGeom prst="rect">
            <a:avLst/>
          </a:prstGeom>
          <a:noFill/>
        </p:spPr>
        <p:txBody>
          <a:bodyPr wrap="square" anchor="t" lIns="0" rIns="0" tIns="0" bIns="0">
            <a:spAutoFit/>
          </a:bodyPr>
          <a:lstStyle/>
          <a:p>
            <a:pPr algn="l">
              <a:lnSpc>
                <a:spcPct val="102000"/>
              </a:lnSpc>
              <a:spcBef>
                <a:spcPts val="0"/>
              </a:spcBef>
              <a:spcAft>
                <a:spcPts val="0"/>
              </a:spcAft>
            </a:pPr>
            <a:r>
              <a:rPr sz="3000" b="1" i="0">
                <a:solidFill>
                  <a:srgbClr val="0E0E0E"/>
                </a:solidFill>
                <a:latin typeface="Arial"/>
              </a:rPr>
              <a:t>Ten stages, and three places you decide</a:t>
            </a:r>
            <a:r>
              <a:rPr sz="3000" b="1" i="0">
                <a:solidFill>
                  <a:srgbClr val="86BC25"/>
                </a:solidFill>
                <a:latin typeface="Arial"/>
              </a:rPr>
              <a:t>.</a:t>
            </a:r>
          </a:p>
        </p:txBody>
      </p:sp>
      <p:sp>
        <p:nvSpPr>
          <p:cNvPr id="6" name="Rectangle 5"/>
          <p:cNvSpPr/>
          <p:nvPr/>
        </p:nvSpPr>
        <p:spPr>
          <a:xfrm>
            <a:off x="603504" y="1664208"/>
            <a:ext cx="9482328" cy="18288"/>
          </a:xfrm>
          <a:prstGeom prst="rect">
            <a:avLst/>
          </a:prstGeom>
          <a:solidFill>
            <a:srgbClr val="D2D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7296912"/>
            <a:ext cx="3657600" cy="228600"/>
          </a:xfrm>
          <a:prstGeom prst="rect">
            <a:avLst/>
          </a:prstGeom>
          <a:noFill/>
        </p:spPr>
        <p:txBody>
          <a:bodyPr wrap="square" anchor="t" lIns="0" rIns="0" tIns="0" bIns="0">
            <a:spAutoFit/>
          </a:bodyPr>
          <a:lstStyle/>
          <a:p>
            <a:pPr algn="l">
              <a:lnSpc>
                <a:spcPct val="108000"/>
              </a:lnSpc>
              <a:spcBef>
                <a:spcPts val="0"/>
              </a:spcBef>
              <a:spcAft>
                <a:spcPts val="300"/>
              </a:spcAft>
            </a:pPr>
            <a:r>
              <a:rPr sz="800" b="0" i="0" spc="120">
                <a:solidFill>
                  <a:srgbClr val="8F9296"/>
                </a:solidFill>
                <a:latin typeface="Courier New"/>
              </a:rPr>
              <a:t>PORTAGE · MIGRATION ACCELERATOR</a:t>
            </a:r>
          </a:p>
        </p:txBody>
      </p:sp>
      <p:sp>
        <p:nvSpPr>
          <p:cNvPr id="8" name="TextBox 7"/>
          <p:cNvSpPr txBox="1"/>
          <p:nvPr/>
        </p:nvSpPr>
        <p:spPr>
          <a:xfrm>
            <a:off x="8074151" y="7296912"/>
            <a:ext cx="1828800" cy="228600"/>
          </a:xfrm>
          <a:prstGeom prst="rect">
            <a:avLst/>
          </a:prstGeom>
          <a:noFill/>
        </p:spPr>
        <p:txBody>
          <a:bodyPr wrap="square" anchor="t" lIns="0" rIns="0" tIns="0" bIns="0">
            <a:spAutoFit/>
          </a:bodyPr>
          <a:lstStyle/>
          <a:p>
            <a:pPr algn="r">
              <a:lnSpc>
                <a:spcPct val="108000"/>
              </a:lnSpc>
              <a:spcBef>
                <a:spcPts val="0"/>
              </a:spcBef>
              <a:spcAft>
                <a:spcPts val="300"/>
              </a:spcAft>
            </a:pPr>
            <a:r>
              <a:rPr sz="800" b="0" i="0" spc="120">
                <a:solidFill>
                  <a:srgbClr val="8F9296"/>
                </a:solidFill>
                <a:latin typeface="Courier New"/>
              </a:rPr>
              <a:t>06 / 10</a:t>
            </a:r>
          </a:p>
        </p:txBody>
      </p:sp>
      <p:sp>
        <p:nvSpPr>
          <p:cNvPr id="9" name="Oval 8"/>
          <p:cNvSpPr/>
          <p:nvPr/>
        </p:nvSpPr>
        <p:spPr>
          <a:xfrm>
            <a:off x="9957815" y="7319772"/>
            <a:ext cx="82296" cy="82296"/>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 y="1947672"/>
            <a:ext cx="1735531" cy="141732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075688"/>
            <a:ext cx="1461211" cy="219456"/>
          </a:xfrm>
          <a:prstGeom prst="rect">
            <a:avLst/>
          </a:prstGeom>
          <a:noFill/>
        </p:spPr>
        <p:txBody>
          <a:bodyPr wrap="square" anchor="t" lIns="0" rIns="0" tIns="0" bIns="0">
            <a:spAutoFit/>
          </a:bodyPr>
          <a:lstStyle/>
          <a:p>
            <a:pPr algn="l">
              <a:lnSpc>
                <a:spcPct val="108000"/>
              </a:lnSpc>
              <a:spcBef>
                <a:spcPts val="0"/>
              </a:spcBef>
              <a:spcAft>
                <a:spcPts val="300"/>
              </a:spcAft>
            </a:pPr>
            <a:r>
              <a:rPr sz="900" b="1" i="0">
                <a:solidFill>
                  <a:srgbClr val="046A38"/>
                </a:solidFill>
                <a:latin typeface="Courier New"/>
              </a:rPr>
              <a:t>01</a:t>
            </a:r>
          </a:p>
        </p:txBody>
      </p:sp>
      <p:sp>
        <p:nvSpPr>
          <p:cNvPr id="12" name="TextBox 11"/>
          <p:cNvSpPr txBox="1"/>
          <p:nvPr/>
        </p:nvSpPr>
        <p:spPr>
          <a:xfrm>
            <a:off x="749808" y="2313432"/>
            <a:ext cx="1461211" cy="320040"/>
          </a:xfrm>
          <a:prstGeom prst="rect">
            <a:avLst/>
          </a:prstGeom>
          <a:noFill/>
        </p:spPr>
        <p:txBody>
          <a:bodyPr wrap="square" anchor="t" lIns="0" rIns="0" tIns="0" bIns="0">
            <a:spAutoFit/>
          </a:bodyPr>
          <a:lstStyle/>
          <a:p>
            <a:pPr algn="l">
              <a:lnSpc>
                <a:spcPct val="105000"/>
              </a:lnSpc>
              <a:spcBef>
                <a:spcPts val="0"/>
              </a:spcBef>
              <a:spcAft>
                <a:spcPts val="300"/>
              </a:spcAft>
            </a:pPr>
            <a:r>
              <a:rPr sz="1100" b="1" i="0">
                <a:solidFill>
                  <a:srgbClr val="0E0E0E"/>
                </a:solidFill>
                <a:latin typeface="Arial"/>
              </a:rPr>
              <a:t>Preflight</a:t>
            </a:r>
          </a:p>
        </p:txBody>
      </p:sp>
      <p:sp>
        <p:nvSpPr>
          <p:cNvPr id="13" name="TextBox 12"/>
          <p:cNvSpPr txBox="1"/>
          <p:nvPr/>
        </p:nvSpPr>
        <p:spPr>
          <a:xfrm>
            <a:off x="749808" y="2660904"/>
            <a:ext cx="1461211" cy="640080"/>
          </a:xfrm>
          <a:prstGeom prst="rect">
            <a:avLst/>
          </a:prstGeom>
          <a:noFill/>
        </p:spPr>
        <p:txBody>
          <a:bodyPr wrap="square" anchor="t" lIns="0" rIns="0" tIns="0" bIns="0">
            <a:spAutoFit/>
          </a:bodyPr>
          <a:lstStyle/>
          <a:p>
            <a:pPr algn="l">
              <a:lnSpc>
                <a:spcPct val="120000"/>
              </a:lnSpc>
              <a:spcBef>
                <a:spcPts val="0"/>
              </a:spcBef>
              <a:spcAft>
                <a:spcPts val="300"/>
              </a:spcAft>
            </a:pPr>
            <a:r>
              <a:rPr sz="860" b="0" i="0">
                <a:solidFill>
                  <a:srgbClr val="53565A"/>
                </a:solidFill>
                <a:latin typeface="Arial"/>
              </a:rPr>
              <a:t>Is this really Hybris? Any credentials in the upload? No AI, no cost.</a:t>
            </a:r>
          </a:p>
        </p:txBody>
      </p:sp>
      <p:sp>
        <p:nvSpPr>
          <p:cNvPr id="14" name="Rectangle 13"/>
          <p:cNvSpPr/>
          <p:nvPr/>
        </p:nvSpPr>
        <p:spPr>
          <a:xfrm>
            <a:off x="2540203" y="1947672"/>
            <a:ext cx="1735531" cy="141732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86507" y="2075688"/>
            <a:ext cx="1461211" cy="219456"/>
          </a:xfrm>
          <a:prstGeom prst="rect">
            <a:avLst/>
          </a:prstGeom>
          <a:noFill/>
        </p:spPr>
        <p:txBody>
          <a:bodyPr wrap="square" anchor="t" lIns="0" rIns="0" tIns="0" bIns="0">
            <a:spAutoFit/>
          </a:bodyPr>
          <a:lstStyle/>
          <a:p>
            <a:pPr algn="l">
              <a:lnSpc>
                <a:spcPct val="108000"/>
              </a:lnSpc>
              <a:spcBef>
                <a:spcPts val="0"/>
              </a:spcBef>
              <a:spcAft>
                <a:spcPts val="300"/>
              </a:spcAft>
            </a:pPr>
            <a:r>
              <a:rPr sz="900" b="1" i="0">
                <a:solidFill>
                  <a:srgbClr val="046A38"/>
                </a:solidFill>
                <a:latin typeface="Courier New"/>
              </a:rPr>
              <a:t>02</a:t>
            </a:r>
          </a:p>
        </p:txBody>
      </p:sp>
      <p:sp>
        <p:nvSpPr>
          <p:cNvPr id="16" name="TextBox 15"/>
          <p:cNvSpPr txBox="1"/>
          <p:nvPr/>
        </p:nvSpPr>
        <p:spPr>
          <a:xfrm>
            <a:off x="2686507" y="2313432"/>
            <a:ext cx="1461211" cy="320040"/>
          </a:xfrm>
          <a:prstGeom prst="rect">
            <a:avLst/>
          </a:prstGeom>
          <a:noFill/>
        </p:spPr>
        <p:txBody>
          <a:bodyPr wrap="square" anchor="t" lIns="0" rIns="0" tIns="0" bIns="0">
            <a:spAutoFit/>
          </a:bodyPr>
          <a:lstStyle/>
          <a:p>
            <a:pPr algn="l">
              <a:lnSpc>
                <a:spcPct val="105000"/>
              </a:lnSpc>
              <a:spcBef>
                <a:spcPts val="0"/>
              </a:spcBef>
              <a:spcAft>
                <a:spcPts val="300"/>
              </a:spcAft>
            </a:pPr>
            <a:r>
              <a:rPr sz="1100" b="1" i="0">
                <a:solidFill>
                  <a:srgbClr val="0E0E0E"/>
                </a:solidFill>
                <a:latin typeface="Arial"/>
              </a:rPr>
              <a:t>Scan &amp; schedule</a:t>
            </a:r>
          </a:p>
        </p:txBody>
      </p:sp>
      <p:sp>
        <p:nvSpPr>
          <p:cNvPr id="17" name="TextBox 16"/>
          <p:cNvSpPr txBox="1"/>
          <p:nvPr/>
        </p:nvSpPr>
        <p:spPr>
          <a:xfrm>
            <a:off x="2686507" y="2660904"/>
            <a:ext cx="1461211" cy="640080"/>
          </a:xfrm>
          <a:prstGeom prst="rect">
            <a:avLst/>
          </a:prstGeom>
          <a:noFill/>
        </p:spPr>
        <p:txBody>
          <a:bodyPr wrap="square" anchor="t" lIns="0" rIns="0" tIns="0" bIns="0">
            <a:spAutoFit/>
          </a:bodyPr>
          <a:lstStyle/>
          <a:p>
            <a:pPr algn="l">
              <a:lnSpc>
                <a:spcPct val="120000"/>
              </a:lnSpc>
              <a:spcBef>
                <a:spcPts val="0"/>
              </a:spcBef>
              <a:spcAft>
                <a:spcPts val="300"/>
              </a:spcAft>
            </a:pPr>
            <a:r>
              <a:rPr sz="860" b="0" i="0">
                <a:solidFill>
                  <a:srgbClr val="53565A"/>
                </a:solidFill>
                <a:latin typeface="Arial"/>
              </a:rPr>
              <a:t>Group by domain; sort so dependencies convert first.</a:t>
            </a:r>
          </a:p>
        </p:txBody>
      </p:sp>
      <p:sp>
        <p:nvSpPr>
          <p:cNvPr id="18" name="Rectangle 17"/>
          <p:cNvSpPr/>
          <p:nvPr/>
        </p:nvSpPr>
        <p:spPr>
          <a:xfrm>
            <a:off x="4476902" y="1947672"/>
            <a:ext cx="1735531" cy="141732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23206" y="2075688"/>
            <a:ext cx="1461211" cy="219456"/>
          </a:xfrm>
          <a:prstGeom prst="rect">
            <a:avLst/>
          </a:prstGeom>
          <a:noFill/>
        </p:spPr>
        <p:txBody>
          <a:bodyPr wrap="square" anchor="t" lIns="0" rIns="0" tIns="0" bIns="0">
            <a:spAutoFit/>
          </a:bodyPr>
          <a:lstStyle/>
          <a:p>
            <a:pPr algn="l">
              <a:lnSpc>
                <a:spcPct val="108000"/>
              </a:lnSpc>
              <a:spcBef>
                <a:spcPts val="0"/>
              </a:spcBef>
              <a:spcAft>
                <a:spcPts val="300"/>
              </a:spcAft>
            </a:pPr>
            <a:r>
              <a:rPr sz="900" b="1" i="0">
                <a:solidFill>
                  <a:srgbClr val="046A38"/>
                </a:solidFill>
                <a:latin typeface="Courier New"/>
              </a:rPr>
              <a:t>03</a:t>
            </a:r>
          </a:p>
        </p:txBody>
      </p:sp>
      <p:sp>
        <p:nvSpPr>
          <p:cNvPr id="20" name="TextBox 19"/>
          <p:cNvSpPr txBox="1"/>
          <p:nvPr/>
        </p:nvSpPr>
        <p:spPr>
          <a:xfrm>
            <a:off x="4623206" y="2313432"/>
            <a:ext cx="1461211" cy="320040"/>
          </a:xfrm>
          <a:prstGeom prst="rect">
            <a:avLst/>
          </a:prstGeom>
          <a:noFill/>
        </p:spPr>
        <p:txBody>
          <a:bodyPr wrap="square" anchor="t" lIns="0" rIns="0" tIns="0" bIns="0">
            <a:spAutoFit/>
          </a:bodyPr>
          <a:lstStyle/>
          <a:p>
            <a:pPr algn="l">
              <a:lnSpc>
                <a:spcPct val="105000"/>
              </a:lnSpc>
              <a:spcBef>
                <a:spcPts val="0"/>
              </a:spcBef>
              <a:spcAft>
                <a:spcPts val="300"/>
              </a:spcAft>
            </a:pPr>
            <a:r>
              <a:rPr sz="1100" b="1" i="0">
                <a:solidFill>
                  <a:srgbClr val="0E0E0E"/>
                </a:solidFill>
                <a:latin typeface="Arial"/>
              </a:rPr>
              <a:t>Cost &amp; org fit</a:t>
            </a:r>
          </a:p>
        </p:txBody>
      </p:sp>
      <p:sp>
        <p:nvSpPr>
          <p:cNvPr id="21" name="TextBox 20"/>
          <p:cNvSpPr txBox="1"/>
          <p:nvPr/>
        </p:nvSpPr>
        <p:spPr>
          <a:xfrm>
            <a:off x="4623206" y="2660904"/>
            <a:ext cx="1461211" cy="640080"/>
          </a:xfrm>
          <a:prstGeom prst="rect">
            <a:avLst/>
          </a:prstGeom>
          <a:noFill/>
        </p:spPr>
        <p:txBody>
          <a:bodyPr wrap="square" anchor="t" lIns="0" rIns="0" tIns="0" bIns="0">
            <a:spAutoFit/>
          </a:bodyPr>
          <a:lstStyle/>
          <a:p>
            <a:pPr algn="l">
              <a:lnSpc>
                <a:spcPct val="120000"/>
              </a:lnSpc>
              <a:spcBef>
                <a:spcPts val="0"/>
              </a:spcBef>
              <a:spcAft>
                <a:spcPts val="300"/>
              </a:spcAft>
            </a:pPr>
            <a:r>
              <a:rPr sz="860" b="0" i="0">
                <a:solidFill>
                  <a:srgbClr val="53565A"/>
                </a:solidFill>
                <a:latin typeface="Arial"/>
              </a:rPr>
              <a:t>A price range, and what collides in YOUR org — before a penny.</a:t>
            </a:r>
          </a:p>
        </p:txBody>
      </p:sp>
      <p:sp>
        <p:nvSpPr>
          <p:cNvPr id="22" name="Rectangle 21"/>
          <p:cNvSpPr/>
          <p:nvPr/>
        </p:nvSpPr>
        <p:spPr>
          <a:xfrm>
            <a:off x="6413601" y="1947672"/>
            <a:ext cx="1735531" cy="141732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59905" y="2075688"/>
            <a:ext cx="1461211" cy="219456"/>
          </a:xfrm>
          <a:prstGeom prst="rect">
            <a:avLst/>
          </a:prstGeom>
          <a:noFill/>
        </p:spPr>
        <p:txBody>
          <a:bodyPr wrap="square" anchor="t" lIns="0" rIns="0" tIns="0" bIns="0">
            <a:spAutoFit/>
          </a:bodyPr>
          <a:lstStyle/>
          <a:p>
            <a:pPr algn="l">
              <a:lnSpc>
                <a:spcPct val="108000"/>
              </a:lnSpc>
              <a:spcBef>
                <a:spcPts val="0"/>
              </a:spcBef>
              <a:spcAft>
                <a:spcPts val="300"/>
              </a:spcAft>
            </a:pPr>
            <a:r>
              <a:rPr sz="900" b="1" i="0">
                <a:solidFill>
                  <a:srgbClr val="046A38"/>
                </a:solidFill>
                <a:latin typeface="Courier New"/>
              </a:rPr>
              <a:t>04</a:t>
            </a:r>
          </a:p>
        </p:txBody>
      </p:sp>
      <p:sp>
        <p:nvSpPr>
          <p:cNvPr id="24" name="Rectangle 23"/>
          <p:cNvSpPr/>
          <p:nvPr/>
        </p:nvSpPr>
        <p:spPr>
          <a:xfrm>
            <a:off x="7637068" y="2066543"/>
            <a:ext cx="384048" cy="219456"/>
          </a:xfrm>
          <a:prstGeom prst="rect">
            <a:avLst/>
          </a:prstGeom>
          <a:solidFill>
            <a:srgbClr val="A9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37068" y="2057400"/>
            <a:ext cx="384048" cy="219456"/>
          </a:xfrm>
          <a:prstGeom prst="rect">
            <a:avLst/>
          </a:prstGeom>
          <a:noFill/>
        </p:spPr>
        <p:txBody>
          <a:bodyPr wrap="square" anchor="ctr" lIns="0" rIns="0" tIns="0" bIns="0">
            <a:spAutoFit/>
          </a:bodyPr>
          <a:lstStyle/>
          <a:p>
            <a:pPr algn="ctr">
              <a:lnSpc>
                <a:spcPct val="108000"/>
              </a:lnSpc>
              <a:spcBef>
                <a:spcPts val="0"/>
              </a:spcBef>
              <a:spcAft>
                <a:spcPts val="300"/>
              </a:spcAft>
            </a:pPr>
            <a:r>
              <a:rPr sz="800" b="1" i="0">
                <a:solidFill>
                  <a:srgbClr val="FFFFFF"/>
                </a:solidFill>
                <a:latin typeface="Courier New"/>
              </a:rPr>
              <a:t>YOU</a:t>
            </a:r>
          </a:p>
        </p:txBody>
      </p:sp>
      <p:sp>
        <p:nvSpPr>
          <p:cNvPr id="26" name="TextBox 25"/>
          <p:cNvSpPr txBox="1"/>
          <p:nvPr/>
        </p:nvSpPr>
        <p:spPr>
          <a:xfrm>
            <a:off x="6559905" y="2313432"/>
            <a:ext cx="1461211" cy="320040"/>
          </a:xfrm>
          <a:prstGeom prst="rect">
            <a:avLst/>
          </a:prstGeom>
          <a:noFill/>
        </p:spPr>
        <p:txBody>
          <a:bodyPr wrap="square" anchor="t" lIns="0" rIns="0" tIns="0" bIns="0">
            <a:spAutoFit/>
          </a:bodyPr>
          <a:lstStyle/>
          <a:p>
            <a:pPr algn="l">
              <a:lnSpc>
                <a:spcPct val="105000"/>
              </a:lnSpc>
              <a:spcBef>
                <a:spcPts val="0"/>
              </a:spcBef>
              <a:spcAft>
                <a:spcPts val="300"/>
              </a:spcAft>
            </a:pPr>
            <a:r>
              <a:rPr sz="1100" b="1" i="0">
                <a:solidFill>
                  <a:srgbClr val="0E0E0E"/>
                </a:solidFill>
                <a:latin typeface="Arial"/>
              </a:rPr>
              <a:t>▸ REVIEW GATE 1</a:t>
            </a:r>
          </a:p>
        </p:txBody>
      </p:sp>
      <p:sp>
        <p:nvSpPr>
          <p:cNvPr id="27" name="TextBox 26"/>
          <p:cNvSpPr txBox="1"/>
          <p:nvPr/>
        </p:nvSpPr>
        <p:spPr>
          <a:xfrm>
            <a:off x="6559905" y="2660904"/>
            <a:ext cx="1461211" cy="640080"/>
          </a:xfrm>
          <a:prstGeom prst="rect">
            <a:avLst/>
          </a:prstGeom>
          <a:noFill/>
        </p:spPr>
        <p:txBody>
          <a:bodyPr wrap="square" anchor="t" lIns="0" rIns="0" tIns="0" bIns="0">
            <a:spAutoFit/>
          </a:bodyPr>
          <a:lstStyle/>
          <a:p>
            <a:pPr algn="l">
              <a:lnSpc>
                <a:spcPct val="120000"/>
              </a:lnSpc>
              <a:spcBef>
                <a:spcPts val="0"/>
              </a:spcBef>
              <a:spcAft>
                <a:spcPts val="300"/>
              </a:spcAft>
            </a:pPr>
            <a:r>
              <a:rPr sz="860" b="0" i="0">
                <a:solidFill>
                  <a:srgbClr val="53565A"/>
                </a:solidFill>
                <a:latin typeface="Arial"/>
              </a:rPr>
              <a:t>You approve what was found, before any AI is used.</a:t>
            </a:r>
          </a:p>
        </p:txBody>
      </p:sp>
      <p:sp>
        <p:nvSpPr>
          <p:cNvPr id="28" name="Rectangle 27"/>
          <p:cNvSpPr/>
          <p:nvPr/>
        </p:nvSpPr>
        <p:spPr>
          <a:xfrm>
            <a:off x="8350300" y="1947672"/>
            <a:ext cx="1735531" cy="141732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96604" y="2075688"/>
            <a:ext cx="1461211" cy="219456"/>
          </a:xfrm>
          <a:prstGeom prst="rect">
            <a:avLst/>
          </a:prstGeom>
          <a:noFill/>
        </p:spPr>
        <p:txBody>
          <a:bodyPr wrap="square" anchor="t" lIns="0" rIns="0" tIns="0" bIns="0">
            <a:spAutoFit/>
          </a:bodyPr>
          <a:lstStyle/>
          <a:p>
            <a:pPr algn="l">
              <a:lnSpc>
                <a:spcPct val="108000"/>
              </a:lnSpc>
              <a:spcBef>
                <a:spcPts val="0"/>
              </a:spcBef>
              <a:spcAft>
                <a:spcPts val="300"/>
              </a:spcAft>
            </a:pPr>
            <a:r>
              <a:rPr sz="900" b="1" i="0">
                <a:solidFill>
                  <a:srgbClr val="046A38"/>
                </a:solidFill>
                <a:latin typeface="Courier New"/>
              </a:rPr>
              <a:t>05</a:t>
            </a:r>
          </a:p>
        </p:txBody>
      </p:sp>
      <p:sp>
        <p:nvSpPr>
          <p:cNvPr id="30" name="Rectangle 29"/>
          <p:cNvSpPr/>
          <p:nvPr/>
        </p:nvSpPr>
        <p:spPr>
          <a:xfrm>
            <a:off x="9573767" y="2066543"/>
            <a:ext cx="384048" cy="219456"/>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73767" y="2057400"/>
            <a:ext cx="384048" cy="219456"/>
          </a:xfrm>
          <a:prstGeom prst="rect">
            <a:avLst/>
          </a:prstGeom>
          <a:noFill/>
        </p:spPr>
        <p:txBody>
          <a:bodyPr wrap="square" anchor="ctr" lIns="0" rIns="0" tIns="0" bIns="0">
            <a:spAutoFit/>
          </a:bodyPr>
          <a:lstStyle/>
          <a:p>
            <a:pPr algn="ctr">
              <a:lnSpc>
                <a:spcPct val="108000"/>
              </a:lnSpc>
              <a:spcBef>
                <a:spcPts val="0"/>
              </a:spcBef>
              <a:spcAft>
                <a:spcPts val="300"/>
              </a:spcAft>
            </a:pPr>
            <a:r>
              <a:rPr sz="800" b="1" i="0">
                <a:solidFill>
                  <a:srgbClr val="FFFFFF"/>
                </a:solidFill>
                <a:latin typeface="Courier New"/>
              </a:rPr>
              <a:t>AI</a:t>
            </a:r>
          </a:p>
        </p:txBody>
      </p:sp>
      <p:sp>
        <p:nvSpPr>
          <p:cNvPr id="32" name="TextBox 31"/>
          <p:cNvSpPr txBox="1"/>
          <p:nvPr/>
        </p:nvSpPr>
        <p:spPr>
          <a:xfrm>
            <a:off x="8496604" y="2313432"/>
            <a:ext cx="1461211" cy="320040"/>
          </a:xfrm>
          <a:prstGeom prst="rect">
            <a:avLst/>
          </a:prstGeom>
          <a:noFill/>
        </p:spPr>
        <p:txBody>
          <a:bodyPr wrap="square" anchor="t" lIns="0" rIns="0" tIns="0" bIns="0">
            <a:spAutoFit/>
          </a:bodyPr>
          <a:lstStyle/>
          <a:p>
            <a:pPr algn="l">
              <a:lnSpc>
                <a:spcPct val="105000"/>
              </a:lnSpc>
              <a:spcBef>
                <a:spcPts val="0"/>
              </a:spcBef>
              <a:spcAft>
                <a:spcPts val="300"/>
              </a:spcAft>
            </a:pPr>
            <a:r>
              <a:rPr sz="1100" b="1" i="0">
                <a:solidFill>
                  <a:srgbClr val="0E0E0E"/>
                </a:solidFill>
                <a:latin typeface="Arial"/>
              </a:rPr>
              <a:t>Comprehend</a:t>
            </a:r>
          </a:p>
        </p:txBody>
      </p:sp>
      <p:sp>
        <p:nvSpPr>
          <p:cNvPr id="33" name="TextBox 32"/>
          <p:cNvSpPr txBox="1"/>
          <p:nvPr/>
        </p:nvSpPr>
        <p:spPr>
          <a:xfrm>
            <a:off x="8496604" y="2660904"/>
            <a:ext cx="1461211" cy="640080"/>
          </a:xfrm>
          <a:prstGeom prst="rect">
            <a:avLst/>
          </a:prstGeom>
          <a:noFill/>
        </p:spPr>
        <p:txBody>
          <a:bodyPr wrap="square" anchor="t" lIns="0" rIns="0" tIns="0" bIns="0">
            <a:spAutoFit/>
          </a:bodyPr>
          <a:lstStyle/>
          <a:p>
            <a:pPr algn="l">
              <a:lnSpc>
                <a:spcPct val="120000"/>
              </a:lnSpc>
              <a:spcBef>
                <a:spcPts val="0"/>
              </a:spcBef>
              <a:spcAft>
                <a:spcPts val="300"/>
              </a:spcAft>
            </a:pPr>
            <a:r>
              <a:rPr sz="860" b="0" i="0">
                <a:solidFill>
                  <a:srgbClr val="53565A"/>
                </a:solidFill>
                <a:latin typeface="Arial"/>
              </a:rPr>
              <a:t>AI reads each class: purpose, business rules, risks.</a:t>
            </a:r>
          </a:p>
        </p:txBody>
      </p:sp>
      <p:sp>
        <p:nvSpPr>
          <p:cNvPr id="34" name="Rectangle 33"/>
          <p:cNvSpPr/>
          <p:nvPr/>
        </p:nvSpPr>
        <p:spPr>
          <a:xfrm>
            <a:off x="603504" y="3584448"/>
            <a:ext cx="1735531" cy="141732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3712463"/>
            <a:ext cx="1461211" cy="219456"/>
          </a:xfrm>
          <a:prstGeom prst="rect">
            <a:avLst/>
          </a:prstGeom>
          <a:noFill/>
        </p:spPr>
        <p:txBody>
          <a:bodyPr wrap="square" anchor="t" lIns="0" rIns="0" tIns="0" bIns="0">
            <a:spAutoFit/>
          </a:bodyPr>
          <a:lstStyle/>
          <a:p>
            <a:pPr algn="l">
              <a:lnSpc>
                <a:spcPct val="108000"/>
              </a:lnSpc>
              <a:spcBef>
                <a:spcPts val="0"/>
              </a:spcBef>
              <a:spcAft>
                <a:spcPts val="300"/>
              </a:spcAft>
            </a:pPr>
            <a:r>
              <a:rPr sz="900" b="1" i="0">
                <a:solidFill>
                  <a:srgbClr val="046A38"/>
                </a:solidFill>
                <a:latin typeface="Courier New"/>
              </a:rPr>
              <a:t>06</a:t>
            </a:r>
          </a:p>
        </p:txBody>
      </p:sp>
      <p:sp>
        <p:nvSpPr>
          <p:cNvPr id="36" name="Rectangle 35"/>
          <p:cNvSpPr/>
          <p:nvPr/>
        </p:nvSpPr>
        <p:spPr>
          <a:xfrm>
            <a:off x="1826971" y="3703320"/>
            <a:ext cx="384048" cy="219456"/>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826971" y="3694176"/>
            <a:ext cx="384048" cy="219456"/>
          </a:xfrm>
          <a:prstGeom prst="rect">
            <a:avLst/>
          </a:prstGeom>
          <a:noFill/>
        </p:spPr>
        <p:txBody>
          <a:bodyPr wrap="square" anchor="ctr" lIns="0" rIns="0" tIns="0" bIns="0">
            <a:spAutoFit/>
          </a:bodyPr>
          <a:lstStyle/>
          <a:p>
            <a:pPr algn="ctr">
              <a:lnSpc>
                <a:spcPct val="108000"/>
              </a:lnSpc>
              <a:spcBef>
                <a:spcPts val="0"/>
              </a:spcBef>
              <a:spcAft>
                <a:spcPts val="300"/>
              </a:spcAft>
            </a:pPr>
            <a:r>
              <a:rPr sz="800" b="1" i="0">
                <a:solidFill>
                  <a:srgbClr val="FFFFFF"/>
                </a:solidFill>
                <a:latin typeface="Courier New"/>
              </a:rPr>
              <a:t>AI</a:t>
            </a:r>
          </a:p>
        </p:txBody>
      </p:sp>
      <p:sp>
        <p:nvSpPr>
          <p:cNvPr id="38" name="TextBox 37"/>
          <p:cNvSpPr txBox="1"/>
          <p:nvPr/>
        </p:nvSpPr>
        <p:spPr>
          <a:xfrm>
            <a:off x="749808" y="3950208"/>
            <a:ext cx="1461211" cy="320040"/>
          </a:xfrm>
          <a:prstGeom prst="rect">
            <a:avLst/>
          </a:prstGeom>
          <a:noFill/>
        </p:spPr>
        <p:txBody>
          <a:bodyPr wrap="square" anchor="t" lIns="0" rIns="0" tIns="0" bIns="0">
            <a:spAutoFit/>
          </a:bodyPr>
          <a:lstStyle/>
          <a:p>
            <a:pPr algn="l">
              <a:lnSpc>
                <a:spcPct val="105000"/>
              </a:lnSpc>
              <a:spcBef>
                <a:spcPts val="0"/>
              </a:spcBef>
              <a:spcAft>
                <a:spcPts val="300"/>
              </a:spcAft>
            </a:pPr>
            <a:r>
              <a:rPr sz="1100" b="1" i="0">
                <a:solidFill>
                  <a:srgbClr val="0E0E0E"/>
                </a:solidFill>
                <a:latin typeface="Arial"/>
              </a:rPr>
              <a:t>Plan  ▸ GATE 2</a:t>
            </a:r>
          </a:p>
        </p:txBody>
      </p:sp>
      <p:sp>
        <p:nvSpPr>
          <p:cNvPr id="39" name="TextBox 38"/>
          <p:cNvSpPr txBox="1"/>
          <p:nvPr/>
        </p:nvSpPr>
        <p:spPr>
          <a:xfrm>
            <a:off x="749808" y="4297680"/>
            <a:ext cx="1461211" cy="640080"/>
          </a:xfrm>
          <a:prstGeom prst="rect">
            <a:avLst/>
          </a:prstGeom>
          <a:noFill/>
        </p:spPr>
        <p:txBody>
          <a:bodyPr wrap="square" anchor="t" lIns="0" rIns="0" tIns="0" bIns="0">
            <a:spAutoFit/>
          </a:bodyPr>
          <a:lstStyle/>
          <a:p>
            <a:pPr algn="l">
              <a:lnSpc>
                <a:spcPct val="120000"/>
              </a:lnSpc>
              <a:spcBef>
                <a:spcPts val="0"/>
              </a:spcBef>
              <a:spcAft>
                <a:spcPts val="300"/>
              </a:spcAft>
            </a:pPr>
            <a:r>
              <a:rPr sz="860" b="0" i="0">
                <a:solidFill>
                  <a:srgbClr val="53565A"/>
                </a:solidFill>
                <a:latin typeface="Arial"/>
              </a:rPr>
              <a:t>AI plans every target; you approve or flip any of them.</a:t>
            </a:r>
          </a:p>
        </p:txBody>
      </p:sp>
      <p:sp>
        <p:nvSpPr>
          <p:cNvPr id="40" name="Rectangle 39"/>
          <p:cNvSpPr/>
          <p:nvPr/>
        </p:nvSpPr>
        <p:spPr>
          <a:xfrm>
            <a:off x="2540203" y="3584448"/>
            <a:ext cx="1735531" cy="141732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686507" y="3712463"/>
            <a:ext cx="1461211" cy="219456"/>
          </a:xfrm>
          <a:prstGeom prst="rect">
            <a:avLst/>
          </a:prstGeom>
          <a:noFill/>
        </p:spPr>
        <p:txBody>
          <a:bodyPr wrap="square" anchor="t" lIns="0" rIns="0" tIns="0" bIns="0">
            <a:spAutoFit/>
          </a:bodyPr>
          <a:lstStyle/>
          <a:p>
            <a:pPr algn="l">
              <a:lnSpc>
                <a:spcPct val="108000"/>
              </a:lnSpc>
              <a:spcBef>
                <a:spcPts val="0"/>
              </a:spcBef>
              <a:spcAft>
                <a:spcPts val="300"/>
              </a:spcAft>
            </a:pPr>
            <a:r>
              <a:rPr sz="900" b="1" i="0">
                <a:solidFill>
                  <a:srgbClr val="046A38"/>
                </a:solidFill>
                <a:latin typeface="Courier New"/>
              </a:rPr>
              <a:t>07</a:t>
            </a:r>
          </a:p>
        </p:txBody>
      </p:sp>
      <p:sp>
        <p:nvSpPr>
          <p:cNvPr id="42" name="Rectangle 41"/>
          <p:cNvSpPr/>
          <p:nvPr/>
        </p:nvSpPr>
        <p:spPr>
          <a:xfrm>
            <a:off x="3763670" y="3703320"/>
            <a:ext cx="384048" cy="219456"/>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763670" y="3694176"/>
            <a:ext cx="384048" cy="219456"/>
          </a:xfrm>
          <a:prstGeom prst="rect">
            <a:avLst/>
          </a:prstGeom>
          <a:noFill/>
        </p:spPr>
        <p:txBody>
          <a:bodyPr wrap="square" anchor="ctr" lIns="0" rIns="0" tIns="0" bIns="0">
            <a:spAutoFit/>
          </a:bodyPr>
          <a:lstStyle/>
          <a:p>
            <a:pPr algn="ctr">
              <a:lnSpc>
                <a:spcPct val="108000"/>
              </a:lnSpc>
              <a:spcBef>
                <a:spcPts val="0"/>
              </a:spcBef>
              <a:spcAft>
                <a:spcPts val="300"/>
              </a:spcAft>
            </a:pPr>
            <a:r>
              <a:rPr sz="800" b="1" i="0">
                <a:solidFill>
                  <a:srgbClr val="FFFFFF"/>
                </a:solidFill>
                <a:latin typeface="Courier New"/>
              </a:rPr>
              <a:t>AI</a:t>
            </a:r>
          </a:p>
        </p:txBody>
      </p:sp>
      <p:sp>
        <p:nvSpPr>
          <p:cNvPr id="44" name="TextBox 43"/>
          <p:cNvSpPr txBox="1"/>
          <p:nvPr/>
        </p:nvSpPr>
        <p:spPr>
          <a:xfrm>
            <a:off x="2686507" y="3950208"/>
            <a:ext cx="1461211" cy="320040"/>
          </a:xfrm>
          <a:prstGeom prst="rect">
            <a:avLst/>
          </a:prstGeom>
          <a:noFill/>
        </p:spPr>
        <p:txBody>
          <a:bodyPr wrap="square" anchor="t" lIns="0" rIns="0" tIns="0" bIns="0">
            <a:spAutoFit/>
          </a:bodyPr>
          <a:lstStyle/>
          <a:p>
            <a:pPr algn="l">
              <a:lnSpc>
                <a:spcPct val="105000"/>
              </a:lnSpc>
              <a:spcBef>
                <a:spcPts val="0"/>
              </a:spcBef>
              <a:spcAft>
                <a:spcPts val="300"/>
              </a:spcAft>
            </a:pPr>
            <a:r>
              <a:rPr sz="1100" b="1" i="0">
                <a:solidFill>
                  <a:srgbClr val="0E0E0E"/>
                </a:solidFill>
                <a:latin typeface="Arial"/>
              </a:rPr>
              <a:t>Build &amp; review</a:t>
            </a:r>
          </a:p>
        </p:txBody>
      </p:sp>
      <p:sp>
        <p:nvSpPr>
          <p:cNvPr id="45" name="TextBox 44"/>
          <p:cNvSpPr txBox="1"/>
          <p:nvPr/>
        </p:nvSpPr>
        <p:spPr>
          <a:xfrm>
            <a:off x="2686507" y="4297680"/>
            <a:ext cx="1461211" cy="640080"/>
          </a:xfrm>
          <a:prstGeom prst="rect">
            <a:avLst/>
          </a:prstGeom>
          <a:noFill/>
        </p:spPr>
        <p:txBody>
          <a:bodyPr wrap="square" anchor="t" lIns="0" rIns="0" tIns="0" bIns="0">
            <a:spAutoFit/>
          </a:bodyPr>
          <a:lstStyle/>
          <a:p>
            <a:pPr algn="l">
              <a:lnSpc>
                <a:spcPct val="120000"/>
              </a:lnSpc>
              <a:spcBef>
                <a:spcPts val="0"/>
              </a:spcBef>
              <a:spcAft>
                <a:spcPts val="300"/>
              </a:spcAft>
            </a:pPr>
            <a:r>
              <a:rPr sz="860" b="0" i="0">
                <a:solidFill>
                  <a:srgbClr val="53565A"/>
                </a:solidFill>
                <a:latin typeface="Arial"/>
              </a:rPr>
              <a:t>AI writes Apex/LWC + tests; a second AI challenges it.</a:t>
            </a:r>
          </a:p>
        </p:txBody>
      </p:sp>
      <p:sp>
        <p:nvSpPr>
          <p:cNvPr id="46" name="Rectangle 45"/>
          <p:cNvSpPr/>
          <p:nvPr/>
        </p:nvSpPr>
        <p:spPr>
          <a:xfrm>
            <a:off x="4476902" y="3584448"/>
            <a:ext cx="1735531" cy="141732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23206" y="3712463"/>
            <a:ext cx="1461211" cy="219456"/>
          </a:xfrm>
          <a:prstGeom prst="rect">
            <a:avLst/>
          </a:prstGeom>
          <a:noFill/>
        </p:spPr>
        <p:txBody>
          <a:bodyPr wrap="square" anchor="t" lIns="0" rIns="0" tIns="0" bIns="0">
            <a:spAutoFit/>
          </a:bodyPr>
          <a:lstStyle/>
          <a:p>
            <a:pPr algn="l">
              <a:lnSpc>
                <a:spcPct val="108000"/>
              </a:lnSpc>
              <a:spcBef>
                <a:spcPts val="0"/>
              </a:spcBef>
              <a:spcAft>
                <a:spcPts val="300"/>
              </a:spcAft>
            </a:pPr>
            <a:r>
              <a:rPr sz="900" b="1" i="0">
                <a:solidFill>
                  <a:srgbClr val="046A38"/>
                </a:solidFill>
                <a:latin typeface="Courier New"/>
              </a:rPr>
              <a:t>08</a:t>
            </a:r>
          </a:p>
        </p:txBody>
      </p:sp>
      <p:sp>
        <p:nvSpPr>
          <p:cNvPr id="48" name="Rectangle 47"/>
          <p:cNvSpPr/>
          <p:nvPr/>
        </p:nvSpPr>
        <p:spPr>
          <a:xfrm>
            <a:off x="5700369" y="3703320"/>
            <a:ext cx="384048" cy="219456"/>
          </a:xfrm>
          <a:prstGeom prst="rect">
            <a:avLst/>
          </a:prstGeom>
          <a:solidFill>
            <a:srgbClr val="A96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700369" y="3694176"/>
            <a:ext cx="384048" cy="219456"/>
          </a:xfrm>
          <a:prstGeom prst="rect">
            <a:avLst/>
          </a:prstGeom>
          <a:noFill/>
        </p:spPr>
        <p:txBody>
          <a:bodyPr wrap="square" anchor="ctr" lIns="0" rIns="0" tIns="0" bIns="0">
            <a:spAutoFit/>
          </a:bodyPr>
          <a:lstStyle/>
          <a:p>
            <a:pPr algn="ctr">
              <a:lnSpc>
                <a:spcPct val="108000"/>
              </a:lnSpc>
              <a:spcBef>
                <a:spcPts val="0"/>
              </a:spcBef>
              <a:spcAft>
                <a:spcPts val="300"/>
              </a:spcAft>
            </a:pPr>
            <a:r>
              <a:rPr sz="800" b="1" i="0">
                <a:solidFill>
                  <a:srgbClr val="FFFFFF"/>
                </a:solidFill>
                <a:latin typeface="Courier New"/>
              </a:rPr>
              <a:t>YOU</a:t>
            </a:r>
          </a:p>
        </p:txBody>
      </p:sp>
      <p:sp>
        <p:nvSpPr>
          <p:cNvPr id="50" name="TextBox 49"/>
          <p:cNvSpPr txBox="1"/>
          <p:nvPr/>
        </p:nvSpPr>
        <p:spPr>
          <a:xfrm>
            <a:off x="4623206" y="3950208"/>
            <a:ext cx="1461211" cy="320040"/>
          </a:xfrm>
          <a:prstGeom prst="rect">
            <a:avLst/>
          </a:prstGeom>
          <a:noFill/>
        </p:spPr>
        <p:txBody>
          <a:bodyPr wrap="square" anchor="t" lIns="0" rIns="0" tIns="0" bIns="0">
            <a:spAutoFit/>
          </a:bodyPr>
          <a:lstStyle/>
          <a:p>
            <a:pPr algn="l">
              <a:lnSpc>
                <a:spcPct val="105000"/>
              </a:lnSpc>
              <a:spcBef>
                <a:spcPts val="0"/>
              </a:spcBef>
              <a:spcAft>
                <a:spcPts val="300"/>
              </a:spcAft>
            </a:pPr>
            <a:r>
              <a:rPr sz="1100" b="1" i="0">
                <a:solidFill>
                  <a:srgbClr val="0E0E0E"/>
                </a:solidFill>
                <a:latin typeface="Arial"/>
              </a:rPr>
              <a:t>▸ REVIEW GATE 3</a:t>
            </a:r>
          </a:p>
        </p:txBody>
      </p:sp>
      <p:sp>
        <p:nvSpPr>
          <p:cNvPr id="51" name="TextBox 50"/>
          <p:cNvSpPr txBox="1"/>
          <p:nvPr/>
        </p:nvSpPr>
        <p:spPr>
          <a:xfrm>
            <a:off x="4623206" y="4297680"/>
            <a:ext cx="1461211" cy="640080"/>
          </a:xfrm>
          <a:prstGeom prst="rect">
            <a:avLst/>
          </a:prstGeom>
          <a:noFill/>
        </p:spPr>
        <p:txBody>
          <a:bodyPr wrap="square" anchor="t" lIns="0" rIns="0" tIns="0" bIns="0">
            <a:spAutoFit/>
          </a:bodyPr>
          <a:lstStyle/>
          <a:p>
            <a:pPr algn="l">
              <a:lnSpc>
                <a:spcPct val="120000"/>
              </a:lnSpc>
              <a:spcBef>
                <a:spcPts val="0"/>
              </a:spcBef>
              <a:spcAft>
                <a:spcPts val="300"/>
              </a:spcAft>
            </a:pPr>
            <a:r>
              <a:rPr sz="860" b="0" i="0">
                <a:solidFill>
                  <a:srgbClr val="53565A"/>
                </a:solidFill>
                <a:latin typeface="Arial"/>
              </a:rPr>
              <a:t>You approve the code, or send it back with feedback.</a:t>
            </a:r>
          </a:p>
        </p:txBody>
      </p:sp>
      <p:sp>
        <p:nvSpPr>
          <p:cNvPr id="52" name="Rectangle 51"/>
          <p:cNvSpPr/>
          <p:nvPr/>
        </p:nvSpPr>
        <p:spPr>
          <a:xfrm>
            <a:off x="6413601" y="3584448"/>
            <a:ext cx="1735531" cy="141732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59905" y="3712463"/>
            <a:ext cx="1461211" cy="219456"/>
          </a:xfrm>
          <a:prstGeom prst="rect">
            <a:avLst/>
          </a:prstGeom>
          <a:noFill/>
        </p:spPr>
        <p:txBody>
          <a:bodyPr wrap="square" anchor="t" lIns="0" rIns="0" tIns="0" bIns="0">
            <a:spAutoFit/>
          </a:bodyPr>
          <a:lstStyle/>
          <a:p>
            <a:pPr algn="l">
              <a:lnSpc>
                <a:spcPct val="108000"/>
              </a:lnSpc>
              <a:spcBef>
                <a:spcPts val="0"/>
              </a:spcBef>
              <a:spcAft>
                <a:spcPts val="300"/>
              </a:spcAft>
            </a:pPr>
            <a:r>
              <a:rPr sz="900" b="1" i="0">
                <a:solidFill>
                  <a:srgbClr val="046A38"/>
                </a:solidFill>
                <a:latin typeface="Courier New"/>
              </a:rPr>
              <a:t>09</a:t>
            </a:r>
          </a:p>
        </p:txBody>
      </p:sp>
      <p:sp>
        <p:nvSpPr>
          <p:cNvPr id="54" name="Rectangle 53"/>
          <p:cNvSpPr/>
          <p:nvPr/>
        </p:nvSpPr>
        <p:spPr>
          <a:xfrm>
            <a:off x="7637068" y="3703320"/>
            <a:ext cx="384048" cy="219456"/>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637068" y="3694176"/>
            <a:ext cx="384048" cy="219456"/>
          </a:xfrm>
          <a:prstGeom prst="rect">
            <a:avLst/>
          </a:prstGeom>
          <a:noFill/>
        </p:spPr>
        <p:txBody>
          <a:bodyPr wrap="square" anchor="ctr" lIns="0" rIns="0" tIns="0" bIns="0">
            <a:spAutoFit/>
          </a:bodyPr>
          <a:lstStyle/>
          <a:p>
            <a:pPr algn="ctr">
              <a:lnSpc>
                <a:spcPct val="108000"/>
              </a:lnSpc>
              <a:spcBef>
                <a:spcPts val="0"/>
              </a:spcBef>
              <a:spcAft>
                <a:spcPts val="300"/>
              </a:spcAft>
            </a:pPr>
            <a:r>
              <a:rPr sz="800" b="1" i="0">
                <a:solidFill>
                  <a:srgbClr val="FFFFFF"/>
                </a:solidFill>
                <a:latin typeface="Courier New"/>
              </a:rPr>
              <a:t>AI</a:t>
            </a:r>
          </a:p>
        </p:txBody>
      </p:sp>
      <p:sp>
        <p:nvSpPr>
          <p:cNvPr id="56" name="TextBox 55"/>
          <p:cNvSpPr txBox="1"/>
          <p:nvPr/>
        </p:nvSpPr>
        <p:spPr>
          <a:xfrm>
            <a:off x="6559905" y="3950208"/>
            <a:ext cx="1461211" cy="320040"/>
          </a:xfrm>
          <a:prstGeom prst="rect">
            <a:avLst/>
          </a:prstGeom>
          <a:noFill/>
        </p:spPr>
        <p:txBody>
          <a:bodyPr wrap="square" anchor="t" lIns="0" rIns="0" tIns="0" bIns="0">
            <a:spAutoFit/>
          </a:bodyPr>
          <a:lstStyle/>
          <a:p>
            <a:pPr algn="l">
              <a:lnSpc>
                <a:spcPct val="105000"/>
              </a:lnSpc>
              <a:spcBef>
                <a:spcPts val="0"/>
              </a:spcBef>
              <a:spcAft>
                <a:spcPts val="300"/>
              </a:spcAft>
            </a:pPr>
            <a:r>
              <a:rPr sz="1100" b="1" i="0">
                <a:solidFill>
                  <a:srgbClr val="0E0E0E"/>
                </a:solidFill>
                <a:latin typeface="Arial"/>
              </a:rPr>
              <a:t>Verify</a:t>
            </a:r>
          </a:p>
        </p:txBody>
      </p:sp>
      <p:sp>
        <p:nvSpPr>
          <p:cNvPr id="57" name="TextBox 56"/>
          <p:cNvSpPr txBox="1"/>
          <p:nvPr/>
        </p:nvSpPr>
        <p:spPr>
          <a:xfrm>
            <a:off x="6559905" y="4297680"/>
            <a:ext cx="1461211" cy="640080"/>
          </a:xfrm>
          <a:prstGeom prst="rect">
            <a:avLst/>
          </a:prstGeom>
          <a:noFill/>
        </p:spPr>
        <p:txBody>
          <a:bodyPr wrap="square" anchor="t" lIns="0" rIns="0" tIns="0" bIns="0">
            <a:spAutoFit/>
          </a:bodyPr>
          <a:lstStyle/>
          <a:p>
            <a:pPr algn="l">
              <a:lnSpc>
                <a:spcPct val="120000"/>
              </a:lnSpc>
              <a:spcBef>
                <a:spcPts val="0"/>
              </a:spcBef>
              <a:spcAft>
                <a:spcPts val="300"/>
              </a:spcAft>
            </a:pPr>
            <a:r>
              <a:rPr sz="860" b="0" i="0">
                <a:solidFill>
                  <a:srgbClr val="53565A"/>
                </a:solidFill>
                <a:latin typeface="Arial"/>
              </a:rPr>
              <a:t>Real-org deploy + self-heal; data and schedules emitted.</a:t>
            </a:r>
          </a:p>
        </p:txBody>
      </p:sp>
      <p:sp>
        <p:nvSpPr>
          <p:cNvPr id="58" name="Rectangle 57"/>
          <p:cNvSpPr/>
          <p:nvPr/>
        </p:nvSpPr>
        <p:spPr>
          <a:xfrm>
            <a:off x="8350300" y="3584448"/>
            <a:ext cx="1735531" cy="141732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96604" y="3712463"/>
            <a:ext cx="1461211" cy="219456"/>
          </a:xfrm>
          <a:prstGeom prst="rect">
            <a:avLst/>
          </a:prstGeom>
          <a:noFill/>
        </p:spPr>
        <p:txBody>
          <a:bodyPr wrap="square" anchor="t" lIns="0" rIns="0" tIns="0" bIns="0">
            <a:spAutoFit/>
          </a:bodyPr>
          <a:lstStyle/>
          <a:p>
            <a:pPr algn="l">
              <a:lnSpc>
                <a:spcPct val="108000"/>
              </a:lnSpc>
              <a:spcBef>
                <a:spcPts val="0"/>
              </a:spcBef>
              <a:spcAft>
                <a:spcPts val="300"/>
              </a:spcAft>
            </a:pPr>
            <a:r>
              <a:rPr sz="900" b="1" i="0">
                <a:solidFill>
                  <a:srgbClr val="046A38"/>
                </a:solidFill>
                <a:latin typeface="Courier New"/>
              </a:rPr>
              <a:t>10</a:t>
            </a:r>
          </a:p>
        </p:txBody>
      </p:sp>
      <p:sp>
        <p:nvSpPr>
          <p:cNvPr id="60" name="TextBox 59"/>
          <p:cNvSpPr txBox="1"/>
          <p:nvPr/>
        </p:nvSpPr>
        <p:spPr>
          <a:xfrm>
            <a:off x="8496604" y="3950208"/>
            <a:ext cx="1461211" cy="320040"/>
          </a:xfrm>
          <a:prstGeom prst="rect">
            <a:avLst/>
          </a:prstGeom>
          <a:noFill/>
        </p:spPr>
        <p:txBody>
          <a:bodyPr wrap="square" anchor="t" lIns="0" rIns="0" tIns="0" bIns="0">
            <a:spAutoFit/>
          </a:bodyPr>
          <a:lstStyle/>
          <a:p>
            <a:pPr algn="l">
              <a:lnSpc>
                <a:spcPct val="105000"/>
              </a:lnSpc>
              <a:spcBef>
                <a:spcPts val="0"/>
              </a:spcBef>
              <a:spcAft>
                <a:spcPts val="300"/>
              </a:spcAft>
            </a:pPr>
            <a:r>
              <a:rPr sz="1100" b="1" i="0">
                <a:solidFill>
                  <a:srgbClr val="0E0E0E"/>
                </a:solidFill>
                <a:latin typeface="Arial"/>
              </a:rPr>
              <a:t>Prove it</a:t>
            </a:r>
          </a:p>
        </p:txBody>
      </p:sp>
      <p:sp>
        <p:nvSpPr>
          <p:cNvPr id="61" name="TextBox 60"/>
          <p:cNvSpPr txBox="1"/>
          <p:nvPr/>
        </p:nvSpPr>
        <p:spPr>
          <a:xfrm>
            <a:off x="8496604" y="4297680"/>
            <a:ext cx="1461211" cy="640080"/>
          </a:xfrm>
          <a:prstGeom prst="rect">
            <a:avLst/>
          </a:prstGeom>
          <a:noFill/>
        </p:spPr>
        <p:txBody>
          <a:bodyPr wrap="square" anchor="t" lIns="0" rIns="0" tIns="0" bIns="0">
            <a:spAutoFit/>
          </a:bodyPr>
          <a:lstStyle/>
          <a:p>
            <a:pPr algn="l">
              <a:lnSpc>
                <a:spcPct val="120000"/>
              </a:lnSpc>
              <a:spcBef>
                <a:spcPts val="0"/>
              </a:spcBef>
              <a:spcAft>
                <a:spcPts val="300"/>
              </a:spcAft>
            </a:pPr>
            <a:r>
              <a:rPr sz="860" b="0" i="0">
                <a:solidFill>
                  <a:srgbClr val="53565A"/>
                </a:solidFill>
                <a:latin typeface="Arial"/>
              </a:rPr>
              <a:t>Rule ledger, your tests replayed, provenance, sign-off.</a:t>
            </a:r>
          </a:p>
        </p:txBody>
      </p:sp>
      <p:sp>
        <p:nvSpPr>
          <p:cNvPr id="62" name="Rectangle 61"/>
          <p:cNvSpPr/>
          <p:nvPr/>
        </p:nvSpPr>
        <p:spPr>
          <a:xfrm>
            <a:off x="603504" y="6455664"/>
            <a:ext cx="9482328" cy="713232"/>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03504" y="6455664"/>
            <a:ext cx="64008" cy="71323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59536" y="6565392"/>
            <a:ext cx="8979407" cy="512064"/>
          </a:xfrm>
          <a:prstGeom prst="rect">
            <a:avLst/>
          </a:prstGeom>
          <a:noFill/>
        </p:spPr>
        <p:txBody>
          <a:bodyPr wrap="square" anchor="t" lIns="0" rIns="0" tIns="0" bIns="0">
            <a:spAutoFit/>
          </a:bodyPr>
          <a:lstStyle/>
          <a:p>
            <a:pPr algn="l">
              <a:lnSpc>
                <a:spcPct val="108000"/>
              </a:lnSpc>
              <a:spcBef>
                <a:spcPts val="0"/>
              </a:spcBef>
              <a:spcAft>
                <a:spcPts val="400"/>
              </a:spcAft>
            </a:pPr>
            <a:r>
              <a:rPr sz="850" b="1" i="0" spc="140">
                <a:solidFill>
                  <a:srgbClr val="046A38"/>
                </a:solidFill>
                <a:latin typeface="Courier New"/>
              </a:rPr>
              <a:t>IN PLAIN WORDS</a:t>
            </a:r>
          </a:p>
          <a:p>
            <a:pPr algn="l">
              <a:lnSpc>
                <a:spcPct val="116000"/>
              </a:lnSpc>
              <a:spcBef>
                <a:spcPts val="0"/>
              </a:spcBef>
              <a:spcAft>
                <a:spcPts val="300"/>
              </a:spcAft>
            </a:pPr>
            <a:r>
              <a:rPr sz="1150" b="0" i="0">
                <a:solidFill>
                  <a:srgbClr val="222427"/>
                </a:solidFill>
                <a:latin typeface="Arial"/>
              </a:rPr>
              <a:t>The </a:t>
            </a:r>
            <a:r>
              <a:rPr sz="1150" b="1" i="0">
                <a:solidFill>
                  <a:srgbClr val="0E0E0E"/>
                </a:solidFill>
                <a:latin typeface="Arial"/>
              </a:rPr>
              <a:t>AI</a:t>
            </a:r>
            <a:r>
              <a:rPr sz="1150" b="0" i="0">
                <a:solidFill>
                  <a:srgbClr val="222427"/>
                </a:solidFill>
                <a:latin typeface="Arial"/>
              </a:rPr>
              <a:t> is used only where judgement is needed — understanding and writing code. Everything mechanical, including all four checks before the first gate, is ordinary tested software: fast, free, repeatable.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03504" y="493776"/>
            <a:ext cx="118872" cy="118872"/>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0392" y="438912"/>
            <a:ext cx="9208007" cy="292608"/>
          </a:xfrm>
          <a:prstGeom prst="rect">
            <a:avLst/>
          </a:prstGeom>
          <a:noFill/>
        </p:spPr>
        <p:txBody>
          <a:bodyPr wrap="square" anchor="t" lIns="0" rIns="0" tIns="0" bIns="0">
            <a:spAutoFit/>
          </a:bodyPr>
          <a:lstStyle/>
          <a:p>
            <a:pPr algn="l">
              <a:lnSpc>
                <a:spcPct val="108000"/>
              </a:lnSpc>
              <a:spcBef>
                <a:spcPts val="0"/>
              </a:spcBef>
              <a:spcAft>
                <a:spcPts val="300"/>
              </a:spcAft>
            </a:pPr>
            <a:r>
              <a:rPr sz="1050" b="1" i="0" spc="200">
                <a:solidFill>
                  <a:srgbClr val="53565A"/>
                </a:solidFill>
                <a:latin typeface="Courier New"/>
              </a:rPr>
              <a:t>06 · WHY YOU CAN TRUST IT</a:t>
            </a:r>
          </a:p>
        </p:txBody>
      </p:sp>
      <p:sp>
        <p:nvSpPr>
          <p:cNvPr id="5" name="TextBox 4"/>
          <p:cNvSpPr txBox="1"/>
          <p:nvPr/>
        </p:nvSpPr>
        <p:spPr>
          <a:xfrm>
            <a:off x="603504" y="822960"/>
            <a:ext cx="9482328" cy="960120"/>
          </a:xfrm>
          <a:prstGeom prst="rect">
            <a:avLst/>
          </a:prstGeom>
          <a:noFill/>
        </p:spPr>
        <p:txBody>
          <a:bodyPr wrap="square" anchor="t" lIns="0" rIns="0" tIns="0" bIns="0">
            <a:spAutoFit/>
          </a:bodyPr>
          <a:lstStyle/>
          <a:p>
            <a:pPr algn="l">
              <a:lnSpc>
                <a:spcPct val="102000"/>
              </a:lnSpc>
              <a:spcBef>
                <a:spcPts val="0"/>
              </a:spcBef>
              <a:spcAft>
                <a:spcPts val="0"/>
              </a:spcAft>
            </a:pPr>
            <a:r>
              <a:rPr sz="2300" b="1" i="0">
                <a:solidFill>
                  <a:srgbClr val="0E0E0E"/>
                </a:solidFill>
                <a:latin typeface="Arial"/>
              </a:rPr>
              <a:t>It doesn't stop at “the AI wrote code.” It proves the behaviour survived</a:t>
            </a:r>
            <a:r>
              <a:rPr sz="2300" b="1" i="0">
                <a:solidFill>
                  <a:srgbClr val="86BC25"/>
                </a:solidFill>
                <a:latin typeface="Arial"/>
              </a:rPr>
              <a:t>.</a:t>
            </a:r>
          </a:p>
        </p:txBody>
      </p:sp>
      <p:sp>
        <p:nvSpPr>
          <p:cNvPr id="6" name="Rectangle 5"/>
          <p:cNvSpPr/>
          <p:nvPr/>
        </p:nvSpPr>
        <p:spPr>
          <a:xfrm>
            <a:off x="603504" y="1664208"/>
            <a:ext cx="9482328" cy="18288"/>
          </a:xfrm>
          <a:prstGeom prst="rect">
            <a:avLst/>
          </a:prstGeom>
          <a:solidFill>
            <a:srgbClr val="D2D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7296912"/>
            <a:ext cx="3657600" cy="228600"/>
          </a:xfrm>
          <a:prstGeom prst="rect">
            <a:avLst/>
          </a:prstGeom>
          <a:noFill/>
        </p:spPr>
        <p:txBody>
          <a:bodyPr wrap="square" anchor="t" lIns="0" rIns="0" tIns="0" bIns="0">
            <a:spAutoFit/>
          </a:bodyPr>
          <a:lstStyle/>
          <a:p>
            <a:pPr algn="l">
              <a:lnSpc>
                <a:spcPct val="108000"/>
              </a:lnSpc>
              <a:spcBef>
                <a:spcPts val="0"/>
              </a:spcBef>
              <a:spcAft>
                <a:spcPts val="300"/>
              </a:spcAft>
            </a:pPr>
            <a:r>
              <a:rPr sz="800" b="0" i="0" spc="120">
                <a:solidFill>
                  <a:srgbClr val="8F9296"/>
                </a:solidFill>
                <a:latin typeface="Courier New"/>
              </a:rPr>
              <a:t>PORTAGE · MIGRATION ACCELERATOR</a:t>
            </a:r>
          </a:p>
        </p:txBody>
      </p:sp>
      <p:sp>
        <p:nvSpPr>
          <p:cNvPr id="8" name="TextBox 7"/>
          <p:cNvSpPr txBox="1"/>
          <p:nvPr/>
        </p:nvSpPr>
        <p:spPr>
          <a:xfrm>
            <a:off x="8074151" y="7296912"/>
            <a:ext cx="1828800" cy="228600"/>
          </a:xfrm>
          <a:prstGeom prst="rect">
            <a:avLst/>
          </a:prstGeom>
          <a:noFill/>
        </p:spPr>
        <p:txBody>
          <a:bodyPr wrap="square" anchor="t" lIns="0" rIns="0" tIns="0" bIns="0">
            <a:spAutoFit/>
          </a:bodyPr>
          <a:lstStyle/>
          <a:p>
            <a:pPr algn="r">
              <a:lnSpc>
                <a:spcPct val="108000"/>
              </a:lnSpc>
              <a:spcBef>
                <a:spcPts val="0"/>
              </a:spcBef>
              <a:spcAft>
                <a:spcPts val="300"/>
              </a:spcAft>
            </a:pPr>
            <a:r>
              <a:rPr sz="800" b="0" i="0" spc="120">
                <a:solidFill>
                  <a:srgbClr val="8F9296"/>
                </a:solidFill>
                <a:latin typeface="Courier New"/>
              </a:rPr>
              <a:t>07 / 10</a:t>
            </a:r>
          </a:p>
        </p:txBody>
      </p:sp>
      <p:sp>
        <p:nvSpPr>
          <p:cNvPr id="9" name="Oval 8"/>
          <p:cNvSpPr/>
          <p:nvPr/>
        </p:nvSpPr>
        <p:spPr>
          <a:xfrm>
            <a:off x="9957815" y="7319772"/>
            <a:ext cx="82296" cy="82296"/>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 y="1993392"/>
            <a:ext cx="2219706" cy="10515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157984"/>
            <a:ext cx="1945386" cy="274320"/>
          </a:xfrm>
          <a:prstGeom prst="rect">
            <a:avLst/>
          </a:prstGeom>
          <a:noFill/>
        </p:spPr>
        <p:txBody>
          <a:bodyPr wrap="square" anchor="t" lIns="0" rIns="0" tIns="0" bIns="0">
            <a:spAutoFit/>
          </a:bodyPr>
          <a:lstStyle/>
          <a:p>
            <a:pPr algn="ctr">
              <a:lnSpc>
                <a:spcPct val="108000"/>
              </a:lnSpc>
              <a:spcBef>
                <a:spcPts val="0"/>
              </a:spcBef>
              <a:spcAft>
                <a:spcPts val="300"/>
              </a:spcAft>
            </a:pPr>
            <a:r>
              <a:rPr sz="1150" b="1" i="0">
                <a:solidFill>
                  <a:srgbClr val="0E0E0E"/>
                </a:solidFill>
                <a:latin typeface="Arial"/>
              </a:rPr>
              <a:t>Deploy for real</a:t>
            </a:r>
          </a:p>
        </p:txBody>
      </p:sp>
      <p:sp>
        <p:nvSpPr>
          <p:cNvPr id="12" name="TextBox 11"/>
          <p:cNvSpPr txBox="1"/>
          <p:nvPr/>
        </p:nvSpPr>
        <p:spPr>
          <a:xfrm>
            <a:off x="749808" y="2468880"/>
            <a:ext cx="1945386" cy="457200"/>
          </a:xfrm>
          <a:prstGeom prst="rect">
            <a:avLst/>
          </a:prstGeom>
          <a:noFill/>
        </p:spPr>
        <p:txBody>
          <a:bodyPr wrap="square" anchor="t" lIns="0" rIns="0" tIns="0" bIns="0">
            <a:spAutoFit/>
          </a:bodyPr>
          <a:lstStyle/>
          <a:p>
            <a:pPr algn="ctr">
              <a:lnSpc>
                <a:spcPct val="120000"/>
              </a:lnSpc>
              <a:spcBef>
                <a:spcPts val="0"/>
              </a:spcBef>
              <a:spcAft>
                <a:spcPts val="300"/>
              </a:spcAft>
            </a:pPr>
            <a:r>
              <a:rPr sz="900" b="0" i="0">
                <a:solidFill>
                  <a:srgbClr val="53565A"/>
                </a:solidFill>
                <a:latin typeface="Arial"/>
              </a:rPr>
              <a:t>Validation-only deploy to an actual Salesforce org</a:t>
            </a:r>
          </a:p>
        </p:txBody>
      </p:sp>
      <p:sp>
        <p:nvSpPr>
          <p:cNvPr id="13" name="TextBox 12"/>
          <p:cNvSpPr txBox="1"/>
          <p:nvPr/>
        </p:nvSpPr>
        <p:spPr>
          <a:xfrm>
            <a:off x="2823210" y="2313432"/>
            <a:ext cx="201168" cy="365760"/>
          </a:xfrm>
          <a:prstGeom prst="rect">
            <a:avLst/>
          </a:prstGeom>
          <a:noFill/>
        </p:spPr>
        <p:txBody>
          <a:bodyPr wrap="square" anchor="ctr" lIns="0" rIns="0" tIns="0" bIns="0">
            <a:spAutoFit/>
          </a:bodyPr>
          <a:lstStyle/>
          <a:p>
            <a:pPr algn="ctr">
              <a:lnSpc>
                <a:spcPct val="108000"/>
              </a:lnSpc>
              <a:spcBef>
                <a:spcPts val="0"/>
              </a:spcBef>
              <a:spcAft>
                <a:spcPts val="300"/>
              </a:spcAft>
            </a:pPr>
            <a:r>
              <a:rPr sz="1300" b="0" i="0">
                <a:solidFill>
                  <a:srgbClr val="8F9296"/>
                </a:solidFill>
                <a:latin typeface="Arial"/>
              </a:rPr>
              <a:t>→</a:t>
            </a:r>
          </a:p>
        </p:txBody>
      </p:sp>
      <p:sp>
        <p:nvSpPr>
          <p:cNvPr id="14" name="Rectangle 13"/>
          <p:cNvSpPr/>
          <p:nvPr/>
        </p:nvSpPr>
        <p:spPr>
          <a:xfrm>
            <a:off x="3024378" y="1993392"/>
            <a:ext cx="2219706" cy="10515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70682" y="2157984"/>
            <a:ext cx="1945386" cy="274320"/>
          </a:xfrm>
          <a:prstGeom prst="rect">
            <a:avLst/>
          </a:prstGeom>
          <a:noFill/>
        </p:spPr>
        <p:txBody>
          <a:bodyPr wrap="square" anchor="t" lIns="0" rIns="0" tIns="0" bIns="0">
            <a:spAutoFit/>
          </a:bodyPr>
          <a:lstStyle/>
          <a:p>
            <a:pPr algn="ctr">
              <a:lnSpc>
                <a:spcPct val="108000"/>
              </a:lnSpc>
              <a:spcBef>
                <a:spcPts val="0"/>
              </a:spcBef>
              <a:spcAft>
                <a:spcPts val="300"/>
              </a:spcAft>
            </a:pPr>
            <a:r>
              <a:rPr sz="1150" b="1" i="0">
                <a:solidFill>
                  <a:srgbClr val="0E0E0E"/>
                </a:solidFill>
                <a:latin typeface="Arial"/>
              </a:rPr>
              <a:t>Read real errors</a:t>
            </a:r>
          </a:p>
        </p:txBody>
      </p:sp>
      <p:sp>
        <p:nvSpPr>
          <p:cNvPr id="16" name="TextBox 15"/>
          <p:cNvSpPr txBox="1"/>
          <p:nvPr/>
        </p:nvSpPr>
        <p:spPr>
          <a:xfrm>
            <a:off x="3170682" y="2468880"/>
            <a:ext cx="1945386" cy="457200"/>
          </a:xfrm>
          <a:prstGeom prst="rect">
            <a:avLst/>
          </a:prstGeom>
          <a:noFill/>
        </p:spPr>
        <p:txBody>
          <a:bodyPr wrap="square" anchor="t" lIns="0" rIns="0" tIns="0" bIns="0">
            <a:spAutoFit/>
          </a:bodyPr>
          <a:lstStyle/>
          <a:p>
            <a:pPr algn="ctr">
              <a:lnSpc>
                <a:spcPct val="120000"/>
              </a:lnSpc>
              <a:spcBef>
                <a:spcPts val="0"/>
              </a:spcBef>
              <a:spcAft>
                <a:spcPts val="300"/>
              </a:spcAft>
            </a:pPr>
            <a:r>
              <a:rPr sz="900" b="0" i="0">
                <a:solidFill>
                  <a:srgbClr val="53565A"/>
                </a:solidFill>
                <a:latin typeface="Arial"/>
              </a:rPr>
              <a:t>The actual compiler output — not a guess</a:t>
            </a:r>
          </a:p>
        </p:txBody>
      </p:sp>
      <p:sp>
        <p:nvSpPr>
          <p:cNvPr id="17" name="TextBox 16"/>
          <p:cNvSpPr txBox="1"/>
          <p:nvPr/>
        </p:nvSpPr>
        <p:spPr>
          <a:xfrm>
            <a:off x="5244083" y="2313432"/>
            <a:ext cx="201168" cy="365760"/>
          </a:xfrm>
          <a:prstGeom prst="rect">
            <a:avLst/>
          </a:prstGeom>
          <a:noFill/>
        </p:spPr>
        <p:txBody>
          <a:bodyPr wrap="square" anchor="ctr" lIns="0" rIns="0" tIns="0" bIns="0">
            <a:spAutoFit/>
          </a:bodyPr>
          <a:lstStyle/>
          <a:p>
            <a:pPr algn="ctr">
              <a:lnSpc>
                <a:spcPct val="108000"/>
              </a:lnSpc>
              <a:spcBef>
                <a:spcPts val="0"/>
              </a:spcBef>
              <a:spcAft>
                <a:spcPts val="300"/>
              </a:spcAft>
            </a:pPr>
            <a:r>
              <a:rPr sz="1300" b="0" i="0">
                <a:solidFill>
                  <a:srgbClr val="8F9296"/>
                </a:solidFill>
                <a:latin typeface="Arial"/>
              </a:rPr>
              <a:t>→</a:t>
            </a:r>
          </a:p>
        </p:txBody>
      </p:sp>
      <p:sp>
        <p:nvSpPr>
          <p:cNvPr id="18" name="Rectangle 17"/>
          <p:cNvSpPr/>
          <p:nvPr/>
        </p:nvSpPr>
        <p:spPr>
          <a:xfrm>
            <a:off x="5445252" y="1993392"/>
            <a:ext cx="2219706" cy="10515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91556" y="2157984"/>
            <a:ext cx="1945386" cy="274320"/>
          </a:xfrm>
          <a:prstGeom prst="rect">
            <a:avLst/>
          </a:prstGeom>
          <a:noFill/>
        </p:spPr>
        <p:txBody>
          <a:bodyPr wrap="square" anchor="t" lIns="0" rIns="0" tIns="0" bIns="0">
            <a:spAutoFit/>
          </a:bodyPr>
          <a:lstStyle/>
          <a:p>
            <a:pPr algn="ctr">
              <a:lnSpc>
                <a:spcPct val="108000"/>
              </a:lnSpc>
              <a:spcBef>
                <a:spcPts val="0"/>
              </a:spcBef>
              <a:spcAft>
                <a:spcPts val="300"/>
              </a:spcAft>
            </a:pPr>
            <a:r>
              <a:rPr sz="1150" b="1" i="0">
                <a:solidFill>
                  <a:srgbClr val="0E0E0E"/>
                </a:solidFill>
                <a:latin typeface="Arial"/>
              </a:rPr>
              <a:t>Fix automatically</a:t>
            </a:r>
          </a:p>
        </p:txBody>
      </p:sp>
      <p:sp>
        <p:nvSpPr>
          <p:cNvPr id="20" name="TextBox 19"/>
          <p:cNvSpPr txBox="1"/>
          <p:nvPr/>
        </p:nvSpPr>
        <p:spPr>
          <a:xfrm>
            <a:off x="5591556" y="2468880"/>
            <a:ext cx="1945386" cy="457200"/>
          </a:xfrm>
          <a:prstGeom prst="rect">
            <a:avLst/>
          </a:prstGeom>
          <a:noFill/>
        </p:spPr>
        <p:txBody>
          <a:bodyPr wrap="square" anchor="t" lIns="0" rIns="0" tIns="0" bIns="0">
            <a:spAutoFit/>
          </a:bodyPr>
          <a:lstStyle/>
          <a:p>
            <a:pPr algn="ctr">
              <a:lnSpc>
                <a:spcPct val="120000"/>
              </a:lnSpc>
              <a:spcBef>
                <a:spcPts val="0"/>
              </a:spcBef>
              <a:spcAft>
                <a:spcPts val="300"/>
              </a:spcAft>
            </a:pPr>
            <a:r>
              <a:rPr sz="900" b="0" i="0">
                <a:solidFill>
                  <a:srgbClr val="53565A"/>
                </a:solidFill>
                <a:latin typeface="Arial"/>
              </a:rPr>
              <a:t>Missing fields, compile errors, thin coverage</a:t>
            </a:r>
          </a:p>
        </p:txBody>
      </p:sp>
      <p:sp>
        <p:nvSpPr>
          <p:cNvPr id="21" name="TextBox 20"/>
          <p:cNvSpPr txBox="1"/>
          <p:nvPr/>
        </p:nvSpPr>
        <p:spPr>
          <a:xfrm>
            <a:off x="7664958" y="2313432"/>
            <a:ext cx="201168" cy="365760"/>
          </a:xfrm>
          <a:prstGeom prst="rect">
            <a:avLst/>
          </a:prstGeom>
          <a:noFill/>
        </p:spPr>
        <p:txBody>
          <a:bodyPr wrap="square" anchor="ctr" lIns="0" rIns="0" tIns="0" bIns="0">
            <a:spAutoFit/>
          </a:bodyPr>
          <a:lstStyle/>
          <a:p>
            <a:pPr algn="ctr">
              <a:lnSpc>
                <a:spcPct val="108000"/>
              </a:lnSpc>
              <a:spcBef>
                <a:spcPts val="0"/>
              </a:spcBef>
              <a:spcAft>
                <a:spcPts val="300"/>
              </a:spcAft>
            </a:pPr>
            <a:r>
              <a:rPr sz="1300" b="0" i="0">
                <a:solidFill>
                  <a:srgbClr val="8F9296"/>
                </a:solidFill>
                <a:latin typeface="Arial"/>
              </a:rPr>
              <a:t>→</a:t>
            </a:r>
          </a:p>
        </p:txBody>
      </p:sp>
      <p:sp>
        <p:nvSpPr>
          <p:cNvPr id="22" name="Rectangle 21"/>
          <p:cNvSpPr/>
          <p:nvPr/>
        </p:nvSpPr>
        <p:spPr>
          <a:xfrm>
            <a:off x="7866125" y="1993392"/>
            <a:ext cx="2219706" cy="10515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12429" y="2157984"/>
            <a:ext cx="1945386" cy="274320"/>
          </a:xfrm>
          <a:prstGeom prst="rect">
            <a:avLst/>
          </a:prstGeom>
          <a:noFill/>
        </p:spPr>
        <p:txBody>
          <a:bodyPr wrap="square" anchor="t" lIns="0" rIns="0" tIns="0" bIns="0">
            <a:spAutoFit/>
          </a:bodyPr>
          <a:lstStyle/>
          <a:p>
            <a:pPr algn="ctr">
              <a:lnSpc>
                <a:spcPct val="108000"/>
              </a:lnSpc>
              <a:spcBef>
                <a:spcPts val="0"/>
              </a:spcBef>
              <a:spcAft>
                <a:spcPts val="300"/>
              </a:spcAft>
            </a:pPr>
            <a:r>
              <a:rPr sz="1150" b="1" i="0">
                <a:solidFill>
                  <a:srgbClr val="0E0E0E"/>
                </a:solidFill>
                <a:latin typeface="Arial"/>
              </a:rPr>
              <a:t>Repeat until green</a:t>
            </a:r>
          </a:p>
        </p:txBody>
      </p:sp>
      <p:sp>
        <p:nvSpPr>
          <p:cNvPr id="24" name="TextBox 23"/>
          <p:cNvSpPr txBox="1"/>
          <p:nvPr/>
        </p:nvSpPr>
        <p:spPr>
          <a:xfrm>
            <a:off x="8012429" y="2468880"/>
            <a:ext cx="1945386" cy="457200"/>
          </a:xfrm>
          <a:prstGeom prst="rect">
            <a:avLst/>
          </a:prstGeom>
          <a:noFill/>
        </p:spPr>
        <p:txBody>
          <a:bodyPr wrap="square" anchor="t" lIns="0" rIns="0" tIns="0" bIns="0">
            <a:spAutoFit/>
          </a:bodyPr>
          <a:lstStyle/>
          <a:p>
            <a:pPr algn="ctr">
              <a:lnSpc>
                <a:spcPct val="120000"/>
              </a:lnSpc>
              <a:spcBef>
                <a:spcPts val="0"/>
              </a:spcBef>
              <a:spcAft>
                <a:spcPts val="300"/>
              </a:spcAft>
            </a:pPr>
            <a:r>
              <a:rPr sz="900" b="0" i="0">
                <a:solidFill>
                  <a:srgbClr val="53565A"/>
                </a:solidFill>
                <a:latin typeface="Arial"/>
              </a:rPr>
              <a:t>Anything unresolved is flagged for a human</a:t>
            </a:r>
          </a:p>
        </p:txBody>
      </p:sp>
      <p:sp>
        <p:nvSpPr>
          <p:cNvPr id="25" name="TextBox 24"/>
          <p:cNvSpPr txBox="1"/>
          <p:nvPr/>
        </p:nvSpPr>
        <p:spPr>
          <a:xfrm>
            <a:off x="603504" y="3182112"/>
            <a:ext cx="9482328" cy="274320"/>
          </a:xfrm>
          <a:prstGeom prst="rect">
            <a:avLst/>
          </a:prstGeom>
          <a:noFill/>
        </p:spPr>
        <p:txBody>
          <a:bodyPr wrap="square" anchor="t" lIns="0" rIns="0" tIns="0" bIns="0">
            <a:spAutoFit/>
          </a:bodyPr>
          <a:lstStyle/>
          <a:p>
            <a:pPr algn="ctr">
              <a:lnSpc>
                <a:spcPct val="108000"/>
              </a:lnSpc>
              <a:spcBef>
                <a:spcPts val="0"/>
              </a:spcBef>
              <a:spcAft>
                <a:spcPts val="300"/>
              </a:spcAft>
            </a:pPr>
            <a:r>
              <a:rPr sz="900" b="1" i="0" spc="100">
                <a:solidFill>
                  <a:srgbClr val="046A38"/>
                </a:solidFill>
                <a:latin typeface="Courier New"/>
              </a:rPr>
              <a:t>↺  BOUNDED LOOP — RUNS UNTIL GREEN, NEVER SILENTLY SHIPS</a:t>
            </a:r>
          </a:p>
        </p:txBody>
      </p:sp>
      <p:sp>
        <p:nvSpPr>
          <p:cNvPr id="26" name="TextBox 25"/>
          <p:cNvSpPr txBox="1"/>
          <p:nvPr/>
        </p:nvSpPr>
        <p:spPr>
          <a:xfrm>
            <a:off x="603504" y="3383280"/>
            <a:ext cx="9482328" cy="274320"/>
          </a:xfrm>
          <a:prstGeom prst="rect">
            <a:avLst/>
          </a:prstGeom>
          <a:noFill/>
        </p:spPr>
        <p:txBody>
          <a:bodyPr wrap="square" anchor="t" lIns="0" rIns="0" tIns="0" bIns="0">
            <a:spAutoFit/>
          </a:bodyPr>
          <a:lstStyle/>
          <a:p>
            <a:pPr algn="ctr">
              <a:lnSpc>
                <a:spcPct val="108000"/>
              </a:lnSpc>
              <a:spcBef>
                <a:spcPts val="0"/>
              </a:spcBef>
              <a:spcAft>
                <a:spcPts val="300"/>
              </a:spcAft>
            </a:pPr>
            <a:r>
              <a:rPr sz="900" b="1" i="0" spc="100">
                <a:solidFill>
                  <a:srgbClr val="A9622F"/>
                </a:solidFill>
                <a:latin typeface="Courier New"/>
              </a:rPr>
              <a:t>AND THEN IT PROVES THE BEHAVIOUR SURVIVED</a:t>
            </a:r>
          </a:p>
        </p:txBody>
      </p:sp>
      <p:sp>
        <p:nvSpPr>
          <p:cNvPr id="27" name="Rectangle 26"/>
          <p:cNvSpPr/>
          <p:nvPr/>
        </p:nvSpPr>
        <p:spPr>
          <a:xfrm>
            <a:off x="603504" y="3730752"/>
            <a:ext cx="2977895" cy="2084831"/>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3504" y="3730752"/>
            <a:ext cx="2977895" cy="5029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3913632"/>
            <a:ext cx="2575560" cy="457200"/>
          </a:xfrm>
          <a:prstGeom prst="rect">
            <a:avLst/>
          </a:prstGeom>
          <a:noFill/>
        </p:spPr>
        <p:txBody>
          <a:bodyPr wrap="square" anchor="t" lIns="0" rIns="0" tIns="0" bIns="0">
            <a:spAutoFit/>
          </a:bodyPr>
          <a:lstStyle/>
          <a:p>
            <a:pPr algn="l">
              <a:lnSpc>
                <a:spcPct val="110000"/>
              </a:lnSpc>
              <a:spcBef>
                <a:spcPts val="0"/>
              </a:spcBef>
              <a:spcAft>
                <a:spcPts val="300"/>
              </a:spcAft>
            </a:pPr>
            <a:r>
              <a:rPr sz="1200" b="1" i="0">
                <a:solidFill>
                  <a:srgbClr val="0E0E0E"/>
                </a:solidFill>
                <a:latin typeface="Arial"/>
              </a:rPr>
              <a:t>Every business rule is tracked</a:t>
            </a:r>
          </a:p>
        </p:txBody>
      </p:sp>
      <p:sp>
        <p:nvSpPr>
          <p:cNvPr id="30" name="TextBox 29"/>
          <p:cNvSpPr txBox="1"/>
          <p:nvPr/>
        </p:nvSpPr>
        <p:spPr>
          <a:xfrm>
            <a:off x="804672" y="4389120"/>
            <a:ext cx="2575560" cy="1371600"/>
          </a:xfrm>
          <a:prstGeom prst="rect">
            <a:avLst/>
          </a:prstGeom>
          <a:noFill/>
        </p:spPr>
        <p:txBody>
          <a:bodyPr wrap="square" anchor="t" lIns="0" rIns="0" tIns="0" bIns="0">
            <a:spAutoFit/>
          </a:bodyPr>
          <a:lstStyle/>
          <a:p>
            <a:pPr algn="l">
              <a:lnSpc>
                <a:spcPct val="124000"/>
              </a:lnSpc>
              <a:spcBef>
                <a:spcPts val="0"/>
              </a:spcBef>
              <a:spcAft>
                <a:spcPts val="300"/>
              </a:spcAft>
            </a:pPr>
            <a:r>
              <a:rPr sz="960" b="0" i="0">
                <a:solidFill>
                  <a:srgbClr val="53565A"/>
                </a:solidFill>
                <a:latin typeface="Arial"/>
              </a:rPr>
              <a:t>Each rule found in your Java is followed through to the finished code and lands in one of four buckets — asserted, implemented, at risk, or dropped. “Dropped” is the one no other tool shows you.</a:t>
            </a:r>
          </a:p>
        </p:txBody>
      </p:sp>
      <p:sp>
        <p:nvSpPr>
          <p:cNvPr id="31" name="Rectangle 30"/>
          <p:cNvSpPr/>
          <p:nvPr/>
        </p:nvSpPr>
        <p:spPr>
          <a:xfrm>
            <a:off x="3855719" y="3730752"/>
            <a:ext cx="2977895" cy="2084831"/>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855719" y="3730752"/>
            <a:ext cx="2977895" cy="5029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56887" y="3913632"/>
            <a:ext cx="2575560" cy="457200"/>
          </a:xfrm>
          <a:prstGeom prst="rect">
            <a:avLst/>
          </a:prstGeom>
          <a:noFill/>
        </p:spPr>
        <p:txBody>
          <a:bodyPr wrap="square" anchor="t" lIns="0" rIns="0" tIns="0" bIns="0">
            <a:spAutoFit/>
          </a:bodyPr>
          <a:lstStyle/>
          <a:p>
            <a:pPr algn="l">
              <a:lnSpc>
                <a:spcPct val="110000"/>
              </a:lnSpc>
              <a:spcBef>
                <a:spcPts val="0"/>
              </a:spcBef>
              <a:spcAft>
                <a:spcPts val="300"/>
              </a:spcAft>
            </a:pPr>
            <a:r>
              <a:rPr sz="1200" b="1" i="0">
                <a:solidFill>
                  <a:srgbClr val="0E0E0E"/>
                </a:solidFill>
                <a:latin typeface="Arial"/>
              </a:rPr>
              <a:t>Your own tests, replayed</a:t>
            </a:r>
          </a:p>
        </p:txBody>
      </p:sp>
      <p:sp>
        <p:nvSpPr>
          <p:cNvPr id="34" name="TextBox 33"/>
          <p:cNvSpPr txBox="1"/>
          <p:nvPr/>
        </p:nvSpPr>
        <p:spPr>
          <a:xfrm>
            <a:off x="4056887" y="4389120"/>
            <a:ext cx="2575560" cy="1371600"/>
          </a:xfrm>
          <a:prstGeom prst="rect">
            <a:avLst/>
          </a:prstGeom>
          <a:noFill/>
        </p:spPr>
        <p:txBody>
          <a:bodyPr wrap="square" anchor="t" lIns="0" rIns="0" tIns="0" bIns="0">
            <a:spAutoFit/>
          </a:bodyPr>
          <a:lstStyle/>
          <a:p>
            <a:pPr algn="l">
              <a:lnSpc>
                <a:spcPct val="124000"/>
              </a:lnSpc>
              <a:spcBef>
                <a:spcPts val="0"/>
              </a:spcBef>
              <a:spcAft>
                <a:spcPts val="300"/>
              </a:spcAft>
            </a:pPr>
            <a:r>
              <a:rPr sz="960" b="0" i="0">
                <a:solidFill>
                  <a:srgbClr val="53565A"/>
                </a:solidFill>
                <a:latin typeface="Arial"/>
              </a:rPr>
              <a:t>We mine your existing JUnit suite for what the old code actually did, then replay it against the new Apex. The AI may set the test up, but it is never allowed to write the expected answer.</a:t>
            </a:r>
          </a:p>
        </p:txBody>
      </p:sp>
      <p:sp>
        <p:nvSpPr>
          <p:cNvPr id="35" name="Rectangle 34"/>
          <p:cNvSpPr/>
          <p:nvPr/>
        </p:nvSpPr>
        <p:spPr>
          <a:xfrm>
            <a:off x="7107935" y="3730752"/>
            <a:ext cx="2977895" cy="2084831"/>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107935" y="3730752"/>
            <a:ext cx="2977895" cy="5029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09103" y="3913632"/>
            <a:ext cx="2575560" cy="457200"/>
          </a:xfrm>
          <a:prstGeom prst="rect">
            <a:avLst/>
          </a:prstGeom>
          <a:noFill/>
        </p:spPr>
        <p:txBody>
          <a:bodyPr wrap="square" anchor="t" lIns="0" rIns="0" tIns="0" bIns="0">
            <a:spAutoFit/>
          </a:bodyPr>
          <a:lstStyle/>
          <a:p>
            <a:pPr algn="l">
              <a:lnSpc>
                <a:spcPct val="110000"/>
              </a:lnSpc>
              <a:spcBef>
                <a:spcPts val="0"/>
              </a:spcBef>
              <a:spcAft>
                <a:spcPts val="300"/>
              </a:spcAft>
            </a:pPr>
            <a:r>
              <a:rPr sz="1200" b="1" i="0">
                <a:solidFill>
                  <a:srgbClr val="0E0E0E"/>
                </a:solidFill>
                <a:latin typeface="Arial"/>
              </a:rPr>
              <a:t>And what it can't prove</a:t>
            </a:r>
          </a:p>
        </p:txBody>
      </p:sp>
      <p:sp>
        <p:nvSpPr>
          <p:cNvPr id="38" name="TextBox 37"/>
          <p:cNvSpPr txBox="1"/>
          <p:nvPr/>
        </p:nvSpPr>
        <p:spPr>
          <a:xfrm>
            <a:off x="7309103" y="4389120"/>
            <a:ext cx="2575560" cy="1371600"/>
          </a:xfrm>
          <a:prstGeom prst="rect">
            <a:avLst/>
          </a:prstGeom>
          <a:noFill/>
        </p:spPr>
        <p:txBody>
          <a:bodyPr wrap="square" anchor="t" lIns="0" rIns="0" tIns="0" bIns="0">
            <a:spAutoFit/>
          </a:bodyPr>
          <a:lstStyle/>
          <a:p>
            <a:pPr algn="l">
              <a:lnSpc>
                <a:spcPct val="124000"/>
              </a:lnSpc>
              <a:spcBef>
                <a:spcPts val="0"/>
              </a:spcBef>
              <a:spcAft>
                <a:spcPts val="300"/>
              </a:spcAft>
            </a:pPr>
            <a:r>
              <a:rPr sz="960" b="0" i="0">
                <a:solidFill>
                  <a:srgbClr val="53565A"/>
                </a:solidFill>
                <a:latin typeface="Arial"/>
              </a:rPr>
              <a:t>The sign-off contract lists the gaps as prominently as the wins — untested rules, methods with no traceable origin, whether an org ever compiled it. There is no “100%” badge anywhere.</a:t>
            </a:r>
          </a:p>
        </p:txBody>
      </p:sp>
      <p:sp>
        <p:nvSpPr>
          <p:cNvPr id="39" name="Rectangle 38"/>
          <p:cNvSpPr/>
          <p:nvPr/>
        </p:nvSpPr>
        <p:spPr>
          <a:xfrm>
            <a:off x="603504" y="6455664"/>
            <a:ext cx="9482328" cy="713232"/>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03504" y="6455664"/>
            <a:ext cx="64008" cy="71323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9536" y="6565392"/>
            <a:ext cx="8979407" cy="512064"/>
          </a:xfrm>
          <a:prstGeom prst="rect">
            <a:avLst/>
          </a:prstGeom>
          <a:noFill/>
        </p:spPr>
        <p:txBody>
          <a:bodyPr wrap="square" anchor="t" lIns="0" rIns="0" tIns="0" bIns="0">
            <a:spAutoFit/>
          </a:bodyPr>
          <a:lstStyle/>
          <a:p>
            <a:pPr algn="l">
              <a:lnSpc>
                <a:spcPct val="108000"/>
              </a:lnSpc>
              <a:spcBef>
                <a:spcPts val="0"/>
              </a:spcBef>
              <a:spcAft>
                <a:spcPts val="400"/>
              </a:spcAft>
            </a:pPr>
            <a:r>
              <a:rPr sz="850" b="1" i="0" spc="140">
                <a:solidFill>
                  <a:srgbClr val="046A38"/>
                </a:solidFill>
                <a:latin typeface="Courier New"/>
              </a:rPr>
              <a:t>IN PLAIN WORDS</a:t>
            </a:r>
          </a:p>
          <a:p>
            <a:pPr algn="l">
              <a:lnSpc>
                <a:spcPct val="116000"/>
              </a:lnSpc>
              <a:spcBef>
                <a:spcPts val="0"/>
              </a:spcBef>
              <a:spcAft>
                <a:spcPts val="300"/>
              </a:spcAft>
            </a:pPr>
            <a:r>
              <a:rPr sz="1150" b="0" i="0">
                <a:solidFill>
                  <a:srgbClr val="222427"/>
                </a:solidFill>
                <a:latin typeface="Arial"/>
              </a:rPr>
              <a:t>Any tool can hand you Apex. The question your architect will ask is </a:t>
            </a:r>
            <a:r>
              <a:rPr sz="1150" b="1" i="0">
                <a:solidFill>
                  <a:srgbClr val="0E0E0E"/>
                </a:solidFill>
                <a:latin typeface="Arial"/>
              </a:rPr>
              <a:t>“how do I know it still does what it did?”</a:t>
            </a:r>
            <a:r>
              <a:rPr sz="1150" b="0" i="0">
                <a:solidFill>
                  <a:srgbClr val="222427"/>
                </a:solidFill>
                <a:latin typeface="Arial"/>
              </a:rPr>
              <a:t> — and that is what the whole right-hand side of this slide answers.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03504" y="493776"/>
            <a:ext cx="118872" cy="118872"/>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0392" y="438912"/>
            <a:ext cx="9208007" cy="292608"/>
          </a:xfrm>
          <a:prstGeom prst="rect">
            <a:avLst/>
          </a:prstGeom>
          <a:noFill/>
        </p:spPr>
        <p:txBody>
          <a:bodyPr wrap="square" anchor="t" lIns="0" rIns="0" tIns="0" bIns="0">
            <a:spAutoFit/>
          </a:bodyPr>
          <a:lstStyle/>
          <a:p>
            <a:pPr algn="l">
              <a:lnSpc>
                <a:spcPct val="108000"/>
              </a:lnSpc>
              <a:spcBef>
                <a:spcPts val="0"/>
              </a:spcBef>
              <a:spcAft>
                <a:spcPts val="300"/>
              </a:spcAft>
            </a:pPr>
            <a:r>
              <a:rPr sz="1050" b="1" i="0" spc="200">
                <a:solidFill>
                  <a:srgbClr val="53565A"/>
                </a:solidFill>
                <a:latin typeface="Courier New"/>
              </a:rPr>
              <a:t>07 · THE DELIVERABLE</a:t>
            </a:r>
          </a:p>
        </p:txBody>
      </p:sp>
      <p:sp>
        <p:nvSpPr>
          <p:cNvPr id="5" name="TextBox 4"/>
          <p:cNvSpPr txBox="1"/>
          <p:nvPr/>
        </p:nvSpPr>
        <p:spPr>
          <a:xfrm>
            <a:off x="603504" y="822960"/>
            <a:ext cx="9482328" cy="960120"/>
          </a:xfrm>
          <a:prstGeom prst="rect">
            <a:avLst/>
          </a:prstGeom>
          <a:noFill/>
        </p:spPr>
        <p:txBody>
          <a:bodyPr wrap="square" anchor="t" lIns="0" rIns="0" tIns="0" bIns="0">
            <a:spAutoFit/>
          </a:bodyPr>
          <a:lstStyle/>
          <a:p>
            <a:pPr algn="l">
              <a:lnSpc>
                <a:spcPct val="102000"/>
              </a:lnSpc>
              <a:spcBef>
                <a:spcPts val="0"/>
              </a:spcBef>
              <a:spcAft>
                <a:spcPts val="0"/>
              </a:spcAft>
            </a:pPr>
            <a:r>
              <a:rPr sz="3000" b="1" i="0">
                <a:solidFill>
                  <a:srgbClr val="0E0E0E"/>
                </a:solidFill>
                <a:latin typeface="Arial"/>
              </a:rPr>
              <a:t>What lands in the output folder</a:t>
            </a:r>
            <a:r>
              <a:rPr sz="3000" b="1" i="0">
                <a:solidFill>
                  <a:srgbClr val="86BC25"/>
                </a:solidFill>
                <a:latin typeface="Arial"/>
              </a:rPr>
              <a:t>.</a:t>
            </a:r>
          </a:p>
        </p:txBody>
      </p:sp>
      <p:sp>
        <p:nvSpPr>
          <p:cNvPr id="6" name="Rectangle 5"/>
          <p:cNvSpPr/>
          <p:nvPr/>
        </p:nvSpPr>
        <p:spPr>
          <a:xfrm>
            <a:off x="603504" y="1664208"/>
            <a:ext cx="9482328" cy="18288"/>
          </a:xfrm>
          <a:prstGeom prst="rect">
            <a:avLst/>
          </a:prstGeom>
          <a:solidFill>
            <a:srgbClr val="D2D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7296912"/>
            <a:ext cx="3657600" cy="228600"/>
          </a:xfrm>
          <a:prstGeom prst="rect">
            <a:avLst/>
          </a:prstGeom>
          <a:noFill/>
        </p:spPr>
        <p:txBody>
          <a:bodyPr wrap="square" anchor="t" lIns="0" rIns="0" tIns="0" bIns="0">
            <a:spAutoFit/>
          </a:bodyPr>
          <a:lstStyle/>
          <a:p>
            <a:pPr algn="l">
              <a:lnSpc>
                <a:spcPct val="108000"/>
              </a:lnSpc>
              <a:spcBef>
                <a:spcPts val="0"/>
              </a:spcBef>
              <a:spcAft>
                <a:spcPts val="300"/>
              </a:spcAft>
            </a:pPr>
            <a:r>
              <a:rPr sz="800" b="0" i="0" spc="120">
                <a:solidFill>
                  <a:srgbClr val="8F9296"/>
                </a:solidFill>
                <a:latin typeface="Courier New"/>
              </a:rPr>
              <a:t>PORTAGE · MIGRATION ACCELERATOR</a:t>
            </a:r>
          </a:p>
        </p:txBody>
      </p:sp>
      <p:sp>
        <p:nvSpPr>
          <p:cNvPr id="8" name="TextBox 7"/>
          <p:cNvSpPr txBox="1"/>
          <p:nvPr/>
        </p:nvSpPr>
        <p:spPr>
          <a:xfrm>
            <a:off x="8074151" y="7296912"/>
            <a:ext cx="1828800" cy="228600"/>
          </a:xfrm>
          <a:prstGeom prst="rect">
            <a:avLst/>
          </a:prstGeom>
          <a:noFill/>
        </p:spPr>
        <p:txBody>
          <a:bodyPr wrap="square" anchor="t" lIns="0" rIns="0" tIns="0" bIns="0">
            <a:spAutoFit/>
          </a:bodyPr>
          <a:lstStyle/>
          <a:p>
            <a:pPr algn="r">
              <a:lnSpc>
                <a:spcPct val="108000"/>
              </a:lnSpc>
              <a:spcBef>
                <a:spcPts val="0"/>
              </a:spcBef>
              <a:spcAft>
                <a:spcPts val="300"/>
              </a:spcAft>
            </a:pPr>
            <a:r>
              <a:rPr sz="800" b="0" i="0" spc="120">
                <a:solidFill>
                  <a:srgbClr val="8F9296"/>
                </a:solidFill>
                <a:latin typeface="Courier New"/>
              </a:rPr>
              <a:t>08 / 10</a:t>
            </a:r>
          </a:p>
        </p:txBody>
      </p:sp>
      <p:sp>
        <p:nvSpPr>
          <p:cNvPr id="9" name="Oval 8"/>
          <p:cNvSpPr/>
          <p:nvPr/>
        </p:nvSpPr>
        <p:spPr>
          <a:xfrm>
            <a:off x="9957815" y="7319772"/>
            <a:ext cx="82296" cy="82296"/>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504" y="1993392"/>
            <a:ext cx="2977895" cy="15087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6384" y="2157984"/>
            <a:ext cx="1600200" cy="274320"/>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2157984"/>
            <a:ext cx="2520695" cy="274320"/>
          </a:xfrm>
          <a:prstGeom prst="rect">
            <a:avLst/>
          </a:prstGeom>
          <a:noFill/>
        </p:spPr>
        <p:txBody>
          <a:bodyPr wrap="square" anchor="ctr" lIns="0" rIns="0" tIns="0" bIns="0">
            <a:spAutoFit/>
          </a:bodyPr>
          <a:lstStyle/>
          <a:p>
            <a:pPr algn="l">
              <a:lnSpc>
                <a:spcPct val="108000"/>
              </a:lnSpc>
              <a:spcBef>
                <a:spcPts val="0"/>
              </a:spcBef>
              <a:spcAft>
                <a:spcPts val="300"/>
              </a:spcAft>
            </a:pPr>
            <a:r>
              <a:rPr sz="850" b="0" i="0">
                <a:solidFill>
                  <a:srgbClr val="046A38"/>
                </a:solidFill>
                <a:latin typeface="Courier New"/>
              </a:rPr>
              <a:t>force-app/…/classes · lwc</a:t>
            </a:r>
          </a:p>
        </p:txBody>
      </p:sp>
      <p:sp>
        <p:nvSpPr>
          <p:cNvPr id="13" name="TextBox 12"/>
          <p:cNvSpPr txBox="1"/>
          <p:nvPr/>
        </p:nvSpPr>
        <p:spPr>
          <a:xfrm>
            <a:off x="786384" y="2487168"/>
            <a:ext cx="2612136" cy="274320"/>
          </a:xfrm>
          <a:prstGeom prst="rect">
            <a:avLst/>
          </a:prstGeom>
          <a:noFill/>
        </p:spPr>
        <p:txBody>
          <a:bodyPr wrap="square" anchor="t" lIns="0" rIns="0" tIns="0" bIns="0">
            <a:spAutoFit/>
          </a:bodyPr>
          <a:lstStyle/>
          <a:p>
            <a:pPr algn="l">
              <a:lnSpc>
                <a:spcPct val="108000"/>
              </a:lnSpc>
              <a:spcBef>
                <a:spcPts val="0"/>
              </a:spcBef>
              <a:spcAft>
                <a:spcPts val="300"/>
              </a:spcAft>
            </a:pPr>
            <a:r>
              <a:rPr sz="1150" b="1" i="0">
                <a:solidFill>
                  <a:srgbClr val="0E0E0E"/>
                </a:solidFill>
                <a:latin typeface="Arial"/>
              </a:rPr>
              <a:t>Apex, LWC + tests</a:t>
            </a:r>
          </a:p>
        </p:txBody>
      </p:sp>
      <p:sp>
        <p:nvSpPr>
          <p:cNvPr id="14" name="TextBox 13"/>
          <p:cNvSpPr txBox="1"/>
          <p:nvPr/>
        </p:nvSpPr>
        <p:spPr>
          <a:xfrm>
            <a:off x="786384" y="2798064"/>
            <a:ext cx="2612136" cy="640080"/>
          </a:xfrm>
          <a:prstGeom prst="rect">
            <a:avLst/>
          </a:prstGeom>
          <a:noFill/>
        </p:spPr>
        <p:txBody>
          <a:bodyPr wrap="square" anchor="t" lIns="0" rIns="0" tIns="0" bIns="0">
            <a:spAutoFit/>
          </a:bodyPr>
          <a:lstStyle/>
          <a:p>
            <a:pPr algn="l">
              <a:lnSpc>
                <a:spcPct val="122000"/>
              </a:lnSpc>
              <a:spcBef>
                <a:spcPts val="0"/>
              </a:spcBef>
              <a:spcAft>
                <a:spcPts val="300"/>
              </a:spcAft>
            </a:pPr>
            <a:r>
              <a:rPr sz="950" b="0" i="0">
                <a:solidFill>
                  <a:srgbClr val="53565A"/>
                </a:solidFill>
                <a:latin typeface="Arial"/>
              </a:rPr>
              <a:t>Selectors, Services, controllers, scheduled jobs and Lightning Web Components — each with its own test.</a:t>
            </a:r>
          </a:p>
        </p:txBody>
      </p:sp>
      <p:sp>
        <p:nvSpPr>
          <p:cNvPr id="15" name="Rectangle 14"/>
          <p:cNvSpPr/>
          <p:nvPr/>
        </p:nvSpPr>
        <p:spPr>
          <a:xfrm>
            <a:off x="3855719" y="1993392"/>
            <a:ext cx="2977895" cy="15087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38599" y="2157984"/>
            <a:ext cx="1260043" cy="274320"/>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1751" y="2157984"/>
            <a:ext cx="2520695" cy="274320"/>
          </a:xfrm>
          <a:prstGeom prst="rect">
            <a:avLst/>
          </a:prstGeom>
          <a:noFill/>
        </p:spPr>
        <p:txBody>
          <a:bodyPr wrap="square" anchor="ctr" lIns="0" rIns="0" tIns="0" bIns="0">
            <a:spAutoFit/>
          </a:bodyPr>
          <a:lstStyle/>
          <a:p>
            <a:pPr algn="l">
              <a:lnSpc>
                <a:spcPct val="108000"/>
              </a:lnSpc>
              <a:spcBef>
                <a:spcPts val="0"/>
              </a:spcBef>
              <a:spcAft>
                <a:spcPts val="300"/>
              </a:spcAft>
            </a:pPr>
            <a:r>
              <a:rPr sz="850" b="0" i="0">
                <a:solidFill>
                  <a:srgbClr val="046A38"/>
                </a:solidFill>
                <a:latin typeface="Courier New"/>
              </a:rPr>
              <a:t>force-app/…/objects</a:t>
            </a:r>
          </a:p>
        </p:txBody>
      </p:sp>
      <p:sp>
        <p:nvSpPr>
          <p:cNvPr id="18" name="TextBox 17"/>
          <p:cNvSpPr txBox="1"/>
          <p:nvPr/>
        </p:nvSpPr>
        <p:spPr>
          <a:xfrm>
            <a:off x="4038599" y="2487168"/>
            <a:ext cx="2612136" cy="274320"/>
          </a:xfrm>
          <a:prstGeom prst="rect">
            <a:avLst/>
          </a:prstGeom>
          <a:noFill/>
        </p:spPr>
        <p:txBody>
          <a:bodyPr wrap="square" anchor="t" lIns="0" rIns="0" tIns="0" bIns="0">
            <a:spAutoFit/>
          </a:bodyPr>
          <a:lstStyle/>
          <a:p>
            <a:pPr algn="l">
              <a:lnSpc>
                <a:spcPct val="108000"/>
              </a:lnSpc>
              <a:spcBef>
                <a:spcPts val="0"/>
              </a:spcBef>
              <a:spcAft>
                <a:spcPts val="300"/>
              </a:spcAft>
            </a:pPr>
            <a:r>
              <a:rPr sz="1150" b="1" i="0">
                <a:solidFill>
                  <a:srgbClr val="0E0E0E"/>
                </a:solidFill>
                <a:latin typeface="Arial"/>
              </a:rPr>
              <a:t>Data model</a:t>
            </a:r>
          </a:p>
        </p:txBody>
      </p:sp>
      <p:sp>
        <p:nvSpPr>
          <p:cNvPr id="19" name="TextBox 18"/>
          <p:cNvSpPr txBox="1"/>
          <p:nvPr/>
        </p:nvSpPr>
        <p:spPr>
          <a:xfrm>
            <a:off x="4038599" y="2798064"/>
            <a:ext cx="2612136" cy="640080"/>
          </a:xfrm>
          <a:prstGeom prst="rect">
            <a:avLst/>
          </a:prstGeom>
          <a:noFill/>
        </p:spPr>
        <p:txBody>
          <a:bodyPr wrap="square" anchor="t" lIns="0" rIns="0" tIns="0" bIns="0">
            <a:spAutoFit/>
          </a:bodyPr>
          <a:lstStyle/>
          <a:p>
            <a:pPr algn="l">
              <a:lnSpc>
                <a:spcPct val="122000"/>
              </a:lnSpc>
              <a:spcBef>
                <a:spcPts val="0"/>
              </a:spcBef>
              <a:spcAft>
                <a:spcPts val="300"/>
              </a:spcAft>
            </a:pPr>
            <a:r>
              <a:rPr sz="950" b="0" i="0">
                <a:solidFill>
                  <a:srgbClr val="53565A"/>
                </a:solidFill>
                <a:latin typeface="Arial"/>
              </a:rPr>
              <a:t>Custom objects, fields, picklists, relationships, required/unique constraints.</a:t>
            </a:r>
          </a:p>
        </p:txBody>
      </p:sp>
      <p:sp>
        <p:nvSpPr>
          <p:cNvPr id="20" name="Rectangle 19"/>
          <p:cNvSpPr/>
          <p:nvPr/>
        </p:nvSpPr>
        <p:spPr>
          <a:xfrm>
            <a:off x="7107935" y="1993392"/>
            <a:ext cx="2977895" cy="15087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90815" y="2157984"/>
            <a:ext cx="1316736" cy="274320"/>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3967" y="2157984"/>
            <a:ext cx="2520695" cy="274320"/>
          </a:xfrm>
          <a:prstGeom prst="rect">
            <a:avLst/>
          </a:prstGeom>
          <a:noFill/>
        </p:spPr>
        <p:txBody>
          <a:bodyPr wrap="square" anchor="ctr" lIns="0" rIns="0" tIns="0" bIns="0">
            <a:spAutoFit/>
          </a:bodyPr>
          <a:lstStyle/>
          <a:p>
            <a:pPr algn="l">
              <a:lnSpc>
                <a:spcPct val="108000"/>
              </a:lnSpc>
              <a:spcBef>
                <a:spcPts val="0"/>
              </a:spcBef>
              <a:spcAft>
                <a:spcPts val="300"/>
              </a:spcAft>
            </a:pPr>
            <a:r>
              <a:rPr sz="850" b="0" i="0">
                <a:solidFill>
                  <a:srgbClr val="046A38"/>
                </a:solidFill>
                <a:latin typeface="Courier New"/>
              </a:rPr>
              <a:t>data/ · CRON_JOBS.md</a:t>
            </a:r>
          </a:p>
        </p:txBody>
      </p:sp>
      <p:sp>
        <p:nvSpPr>
          <p:cNvPr id="23" name="TextBox 22"/>
          <p:cNvSpPr txBox="1"/>
          <p:nvPr/>
        </p:nvSpPr>
        <p:spPr>
          <a:xfrm>
            <a:off x="7290815" y="2487168"/>
            <a:ext cx="2612136" cy="274320"/>
          </a:xfrm>
          <a:prstGeom prst="rect">
            <a:avLst/>
          </a:prstGeom>
          <a:noFill/>
        </p:spPr>
        <p:txBody>
          <a:bodyPr wrap="square" anchor="t" lIns="0" rIns="0" tIns="0" bIns="0">
            <a:spAutoFit/>
          </a:bodyPr>
          <a:lstStyle/>
          <a:p>
            <a:pPr algn="l">
              <a:lnSpc>
                <a:spcPct val="108000"/>
              </a:lnSpc>
              <a:spcBef>
                <a:spcPts val="0"/>
              </a:spcBef>
              <a:spcAft>
                <a:spcPts val="300"/>
              </a:spcAft>
            </a:pPr>
            <a:r>
              <a:rPr sz="1150" b="1" i="0">
                <a:solidFill>
                  <a:srgbClr val="0E0E0E"/>
                </a:solidFill>
                <a:latin typeface="Arial"/>
              </a:rPr>
              <a:t>Data &amp; schedules</a:t>
            </a:r>
          </a:p>
        </p:txBody>
      </p:sp>
      <p:sp>
        <p:nvSpPr>
          <p:cNvPr id="24" name="TextBox 23"/>
          <p:cNvSpPr txBox="1"/>
          <p:nvPr/>
        </p:nvSpPr>
        <p:spPr>
          <a:xfrm>
            <a:off x="7290815" y="2798064"/>
            <a:ext cx="2612136" cy="640080"/>
          </a:xfrm>
          <a:prstGeom prst="rect">
            <a:avLst/>
          </a:prstGeom>
          <a:noFill/>
        </p:spPr>
        <p:txBody>
          <a:bodyPr wrap="square" anchor="t" lIns="0" rIns="0" tIns="0" bIns="0">
            <a:spAutoFit/>
          </a:bodyPr>
          <a:lstStyle/>
          <a:p>
            <a:pPr algn="l">
              <a:lnSpc>
                <a:spcPct val="122000"/>
              </a:lnSpc>
              <a:spcBef>
                <a:spcPts val="0"/>
              </a:spcBef>
              <a:spcAft>
                <a:spcPts val="300"/>
              </a:spcAft>
            </a:pPr>
            <a:r>
              <a:rPr sz="950" b="0" i="0">
                <a:solidFill>
                  <a:srgbClr val="53565A"/>
                </a:solidFill>
                <a:latin typeface="Arial"/>
              </a:rPr>
              <a:t>Load-ready CSVs with a re-runnable import runbook; every timed job translated, same timing.</a:t>
            </a:r>
          </a:p>
        </p:txBody>
      </p:sp>
      <p:sp>
        <p:nvSpPr>
          <p:cNvPr id="25" name="Rectangle 24"/>
          <p:cNvSpPr/>
          <p:nvPr/>
        </p:nvSpPr>
        <p:spPr>
          <a:xfrm>
            <a:off x="603504" y="3685032"/>
            <a:ext cx="2977895" cy="15087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86384" y="3849624"/>
            <a:ext cx="806500" cy="274320"/>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3849624"/>
            <a:ext cx="2520695" cy="274320"/>
          </a:xfrm>
          <a:prstGeom prst="rect">
            <a:avLst/>
          </a:prstGeom>
          <a:noFill/>
        </p:spPr>
        <p:txBody>
          <a:bodyPr wrap="square" anchor="ctr" lIns="0" rIns="0" tIns="0" bIns="0">
            <a:spAutoFit/>
          </a:bodyPr>
          <a:lstStyle/>
          <a:p>
            <a:pPr algn="l">
              <a:lnSpc>
                <a:spcPct val="108000"/>
              </a:lnSpc>
              <a:spcBef>
                <a:spcPts val="0"/>
              </a:spcBef>
              <a:spcAft>
                <a:spcPts val="300"/>
              </a:spcAft>
            </a:pPr>
            <a:r>
              <a:rPr sz="850" b="0" i="0">
                <a:solidFill>
                  <a:srgbClr val="046A38"/>
                </a:solidFill>
                <a:latin typeface="Courier New"/>
              </a:rPr>
              <a:t>SIGN_OFF.md</a:t>
            </a:r>
          </a:p>
        </p:txBody>
      </p:sp>
      <p:sp>
        <p:nvSpPr>
          <p:cNvPr id="28" name="TextBox 27"/>
          <p:cNvSpPr txBox="1"/>
          <p:nvPr/>
        </p:nvSpPr>
        <p:spPr>
          <a:xfrm>
            <a:off x="786384" y="4178808"/>
            <a:ext cx="2612136" cy="274320"/>
          </a:xfrm>
          <a:prstGeom prst="rect">
            <a:avLst/>
          </a:prstGeom>
          <a:noFill/>
        </p:spPr>
        <p:txBody>
          <a:bodyPr wrap="square" anchor="t" lIns="0" rIns="0" tIns="0" bIns="0">
            <a:spAutoFit/>
          </a:bodyPr>
          <a:lstStyle/>
          <a:p>
            <a:pPr algn="l">
              <a:lnSpc>
                <a:spcPct val="108000"/>
              </a:lnSpc>
              <a:spcBef>
                <a:spcPts val="0"/>
              </a:spcBef>
              <a:spcAft>
                <a:spcPts val="300"/>
              </a:spcAft>
            </a:pPr>
            <a:r>
              <a:rPr sz="1150" b="1" i="0">
                <a:solidFill>
                  <a:srgbClr val="0E0E0E"/>
                </a:solidFill>
                <a:latin typeface="Arial"/>
              </a:rPr>
              <a:t>The audit</a:t>
            </a:r>
          </a:p>
        </p:txBody>
      </p:sp>
      <p:sp>
        <p:nvSpPr>
          <p:cNvPr id="29" name="TextBox 28"/>
          <p:cNvSpPr txBox="1"/>
          <p:nvPr/>
        </p:nvSpPr>
        <p:spPr>
          <a:xfrm>
            <a:off x="786384" y="4489704"/>
            <a:ext cx="2612136" cy="640080"/>
          </a:xfrm>
          <a:prstGeom prst="rect">
            <a:avLst/>
          </a:prstGeom>
          <a:noFill/>
        </p:spPr>
        <p:txBody>
          <a:bodyPr wrap="square" anchor="t" lIns="0" rIns="0" tIns="0" bIns="0">
            <a:spAutoFit/>
          </a:bodyPr>
          <a:lstStyle/>
          <a:p>
            <a:pPr algn="l">
              <a:lnSpc>
                <a:spcPct val="122000"/>
              </a:lnSpc>
              <a:spcBef>
                <a:spcPts val="0"/>
              </a:spcBef>
              <a:spcAft>
                <a:spcPts val="300"/>
              </a:spcAft>
            </a:pPr>
            <a:r>
              <a:rPr sz="950" b="0" i="0">
                <a:solidFill>
                  <a:srgbClr val="53565A"/>
                </a:solidFill>
                <a:latin typeface="Arial"/>
              </a:rPr>
              <a:t>Who approved which stage, on what evidence — and, just as prominently, what it does not certify.</a:t>
            </a:r>
          </a:p>
        </p:txBody>
      </p:sp>
      <p:sp>
        <p:nvSpPr>
          <p:cNvPr id="30" name="Rectangle 29"/>
          <p:cNvSpPr/>
          <p:nvPr/>
        </p:nvSpPr>
        <p:spPr>
          <a:xfrm>
            <a:off x="3855719" y="3685032"/>
            <a:ext cx="2977895" cy="15087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038599" y="3849624"/>
            <a:ext cx="1826971" cy="274320"/>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1751" y="3849624"/>
            <a:ext cx="2520695" cy="274320"/>
          </a:xfrm>
          <a:prstGeom prst="rect">
            <a:avLst/>
          </a:prstGeom>
          <a:noFill/>
        </p:spPr>
        <p:txBody>
          <a:bodyPr wrap="square" anchor="ctr" lIns="0" rIns="0" tIns="0" bIns="0">
            <a:spAutoFit/>
          </a:bodyPr>
          <a:lstStyle/>
          <a:p>
            <a:pPr algn="l">
              <a:lnSpc>
                <a:spcPct val="108000"/>
              </a:lnSpc>
              <a:spcBef>
                <a:spcPts val="0"/>
              </a:spcBef>
              <a:spcAft>
                <a:spcPts val="300"/>
              </a:spcAft>
            </a:pPr>
            <a:r>
              <a:rPr sz="850" b="0" i="0">
                <a:solidFill>
                  <a:srgbClr val="046A38"/>
                </a:solidFill>
                <a:latin typeface="Courier New"/>
              </a:rPr>
              <a:t>TRIAGE.md · BUSINESS_RULES.md</a:t>
            </a:r>
          </a:p>
        </p:txBody>
      </p:sp>
      <p:sp>
        <p:nvSpPr>
          <p:cNvPr id="33" name="TextBox 32"/>
          <p:cNvSpPr txBox="1"/>
          <p:nvPr/>
        </p:nvSpPr>
        <p:spPr>
          <a:xfrm>
            <a:off x="4038599" y="4178808"/>
            <a:ext cx="2612136" cy="274320"/>
          </a:xfrm>
          <a:prstGeom prst="rect">
            <a:avLst/>
          </a:prstGeom>
          <a:noFill/>
        </p:spPr>
        <p:txBody>
          <a:bodyPr wrap="square" anchor="t" lIns="0" rIns="0" tIns="0" bIns="0">
            <a:spAutoFit/>
          </a:bodyPr>
          <a:lstStyle/>
          <a:p>
            <a:pPr algn="l">
              <a:lnSpc>
                <a:spcPct val="108000"/>
              </a:lnSpc>
              <a:spcBef>
                <a:spcPts val="0"/>
              </a:spcBef>
              <a:spcAft>
                <a:spcPts val="300"/>
              </a:spcAft>
            </a:pPr>
            <a:r>
              <a:rPr sz="1150" b="1" i="0">
                <a:solidFill>
                  <a:srgbClr val="0E0E0E"/>
                </a:solidFill>
                <a:latin typeface="Arial"/>
              </a:rPr>
              <a:t>Where to look</a:t>
            </a:r>
          </a:p>
        </p:txBody>
      </p:sp>
      <p:sp>
        <p:nvSpPr>
          <p:cNvPr id="34" name="TextBox 33"/>
          <p:cNvSpPr txBox="1"/>
          <p:nvPr/>
        </p:nvSpPr>
        <p:spPr>
          <a:xfrm>
            <a:off x="4038599" y="4489704"/>
            <a:ext cx="2612136" cy="640080"/>
          </a:xfrm>
          <a:prstGeom prst="rect">
            <a:avLst/>
          </a:prstGeom>
          <a:noFill/>
        </p:spPr>
        <p:txBody>
          <a:bodyPr wrap="square" anchor="t" lIns="0" rIns="0" tIns="0" bIns="0">
            <a:spAutoFit/>
          </a:bodyPr>
          <a:lstStyle/>
          <a:p>
            <a:pPr algn="l">
              <a:lnSpc>
                <a:spcPct val="122000"/>
              </a:lnSpc>
              <a:spcBef>
                <a:spcPts val="0"/>
              </a:spcBef>
              <a:spcAft>
                <a:spcPts val="300"/>
              </a:spcAft>
            </a:pPr>
            <a:r>
              <a:rPr sz="950" b="0" i="0">
                <a:solidFill>
                  <a:srgbClr val="53565A"/>
                </a:solidFill>
                <a:latin typeface="Arial"/>
              </a:rPr>
              <a:t>Every file ranked by how much it needs you, and every business rule with its verdict.</a:t>
            </a:r>
          </a:p>
        </p:txBody>
      </p:sp>
      <p:sp>
        <p:nvSpPr>
          <p:cNvPr id="35" name="Rectangle 34"/>
          <p:cNvSpPr/>
          <p:nvPr/>
        </p:nvSpPr>
        <p:spPr>
          <a:xfrm>
            <a:off x="7107935" y="3685032"/>
            <a:ext cx="2977895" cy="1508760"/>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90815" y="3849624"/>
            <a:ext cx="1373428" cy="274320"/>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63967" y="3849624"/>
            <a:ext cx="2520695" cy="274320"/>
          </a:xfrm>
          <a:prstGeom prst="rect">
            <a:avLst/>
          </a:prstGeom>
          <a:noFill/>
        </p:spPr>
        <p:txBody>
          <a:bodyPr wrap="square" anchor="ctr" lIns="0" rIns="0" tIns="0" bIns="0">
            <a:spAutoFit/>
          </a:bodyPr>
          <a:lstStyle/>
          <a:p>
            <a:pPr algn="l">
              <a:lnSpc>
                <a:spcPct val="108000"/>
              </a:lnSpc>
              <a:spcBef>
                <a:spcPts val="0"/>
              </a:spcBef>
              <a:spcAft>
                <a:spcPts val="300"/>
              </a:spcAft>
            </a:pPr>
            <a:r>
              <a:rPr sz="850" b="0" i="0">
                <a:solidFill>
                  <a:srgbClr val="046A38"/>
                </a:solidFill>
                <a:latin typeface="Courier New"/>
              </a:rPr>
              <a:t>FEASIBILITY_REPORT.md</a:t>
            </a:r>
          </a:p>
        </p:txBody>
      </p:sp>
      <p:sp>
        <p:nvSpPr>
          <p:cNvPr id="38" name="TextBox 37"/>
          <p:cNvSpPr txBox="1"/>
          <p:nvPr/>
        </p:nvSpPr>
        <p:spPr>
          <a:xfrm>
            <a:off x="7290815" y="4178808"/>
            <a:ext cx="2612136" cy="274320"/>
          </a:xfrm>
          <a:prstGeom prst="rect">
            <a:avLst/>
          </a:prstGeom>
          <a:noFill/>
        </p:spPr>
        <p:txBody>
          <a:bodyPr wrap="square" anchor="t" lIns="0" rIns="0" tIns="0" bIns="0">
            <a:spAutoFit/>
          </a:bodyPr>
          <a:lstStyle/>
          <a:p>
            <a:pPr algn="l">
              <a:lnSpc>
                <a:spcPct val="108000"/>
              </a:lnSpc>
              <a:spcBef>
                <a:spcPts val="0"/>
              </a:spcBef>
              <a:spcAft>
                <a:spcPts val="300"/>
              </a:spcAft>
            </a:pPr>
            <a:r>
              <a:rPr sz="1150" b="1" i="0">
                <a:solidFill>
                  <a:srgbClr val="0E0E0E"/>
                </a:solidFill>
                <a:latin typeface="Arial"/>
              </a:rPr>
              <a:t>The scorecard</a:t>
            </a:r>
          </a:p>
        </p:txBody>
      </p:sp>
      <p:sp>
        <p:nvSpPr>
          <p:cNvPr id="39" name="TextBox 38"/>
          <p:cNvSpPr txBox="1"/>
          <p:nvPr/>
        </p:nvSpPr>
        <p:spPr>
          <a:xfrm>
            <a:off x="7290815" y="4489704"/>
            <a:ext cx="2612136" cy="640080"/>
          </a:xfrm>
          <a:prstGeom prst="rect">
            <a:avLst/>
          </a:prstGeom>
          <a:noFill/>
        </p:spPr>
        <p:txBody>
          <a:bodyPr wrap="square" anchor="t" lIns="0" rIns="0" tIns="0" bIns="0">
            <a:spAutoFit/>
          </a:bodyPr>
          <a:lstStyle/>
          <a:p>
            <a:pPr algn="l">
              <a:lnSpc>
                <a:spcPct val="122000"/>
              </a:lnSpc>
              <a:spcBef>
                <a:spcPts val="0"/>
              </a:spcBef>
              <a:spcAft>
                <a:spcPts val="300"/>
              </a:spcAft>
            </a:pPr>
            <a:r>
              <a:rPr sz="950" b="0" i="0">
                <a:solidFill>
                  <a:srgbClr val="53565A"/>
                </a:solidFill>
                <a:latin typeface="Arial"/>
              </a:rPr>
              <a:t>Validation results, a High/Medium/Low confidence score per class, deploy status, cost.</a:t>
            </a:r>
          </a:p>
        </p:txBody>
      </p:sp>
      <p:sp>
        <p:nvSpPr>
          <p:cNvPr id="40" name="Rectangle 39"/>
          <p:cNvSpPr/>
          <p:nvPr/>
        </p:nvSpPr>
        <p:spPr>
          <a:xfrm>
            <a:off x="603504" y="5513832"/>
            <a:ext cx="2845612" cy="347472"/>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0664" y="5513832"/>
            <a:ext cx="2571292" cy="347472"/>
          </a:xfrm>
          <a:prstGeom prst="rect">
            <a:avLst/>
          </a:prstGeom>
          <a:noFill/>
        </p:spPr>
        <p:txBody>
          <a:bodyPr wrap="none" anchor="ctr" lIns="0" rIns="0" tIns="0" bIns="0">
            <a:spAutoFit/>
          </a:bodyPr>
          <a:lstStyle/>
          <a:p>
            <a:pPr algn="l">
              <a:lnSpc>
                <a:spcPct val="100000"/>
              </a:lnSpc>
              <a:spcBef>
                <a:spcPts val="0"/>
              </a:spcBef>
              <a:spcAft>
                <a:spcPts val="300"/>
              </a:spcAft>
            </a:pPr>
            <a:r>
              <a:rPr sz="900" b="1" i="0">
                <a:solidFill>
                  <a:srgbClr val="0E0E0E"/>
                </a:solidFill>
                <a:latin typeface="Courier New"/>
              </a:rPr>
              <a:t>340</a:t>
            </a:r>
            <a:r>
              <a:rPr sz="900" b="0" i="0">
                <a:solidFill>
                  <a:srgbClr val="53565A"/>
                </a:solidFill>
                <a:latin typeface="Courier New"/>
              </a:rPr>
              <a:t> automated tests, all passing</a:t>
            </a:r>
          </a:p>
        </p:txBody>
      </p:sp>
      <p:sp>
        <p:nvSpPr>
          <p:cNvPr id="42" name="Rectangle 41"/>
          <p:cNvSpPr/>
          <p:nvPr/>
        </p:nvSpPr>
        <p:spPr>
          <a:xfrm>
            <a:off x="3631996" y="5513832"/>
            <a:ext cx="2924251" cy="347472"/>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769156" y="5513832"/>
            <a:ext cx="2649931" cy="347472"/>
          </a:xfrm>
          <a:prstGeom prst="rect">
            <a:avLst/>
          </a:prstGeom>
          <a:noFill/>
        </p:spPr>
        <p:txBody>
          <a:bodyPr wrap="none" anchor="ctr" lIns="0" rIns="0" tIns="0" bIns="0">
            <a:spAutoFit/>
          </a:bodyPr>
          <a:lstStyle/>
          <a:p>
            <a:pPr algn="l">
              <a:lnSpc>
                <a:spcPct val="100000"/>
              </a:lnSpc>
              <a:spcBef>
                <a:spcPts val="0"/>
              </a:spcBef>
              <a:spcAft>
                <a:spcPts val="300"/>
              </a:spcAft>
            </a:pPr>
            <a:r>
              <a:rPr sz="900" b="1" i="0">
                <a:solidFill>
                  <a:srgbClr val="0E0E0E"/>
                </a:solidFill>
                <a:latin typeface="Courier New"/>
              </a:rPr>
              <a:t>3</a:t>
            </a:r>
            <a:r>
              <a:rPr sz="900" b="0" i="0">
                <a:solidFill>
                  <a:srgbClr val="53565A"/>
                </a:solidFill>
                <a:latin typeface="Courier New"/>
              </a:rPr>
              <a:t> AI providers incl. free offline</a:t>
            </a:r>
          </a:p>
        </p:txBody>
      </p:sp>
      <p:sp>
        <p:nvSpPr>
          <p:cNvPr id="44" name="Rectangle 43"/>
          <p:cNvSpPr/>
          <p:nvPr/>
        </p:nvSpPr>
        <p:spPr>
          <a:xfrm>
            <a:off x="6739127" y="5513832"/>
            <a:ext cx="2688335" cy="347472"/>
          </a:xfrm>
          <a:prstGeom prst="rect">
            <a:avLst/>
          </a:prstGeom>
          <a:solidFill>
            <a:srgbClr val="FFFFFF"/>
          </a:solidFill>
          <a:ln w="9525">
            <a:solidFill>
              <a:srgbClr val="D2D2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76288" y="5513832"/>
            <a:ext cx="2414015" cy="347472"/>
          </a:xfrm>
          <a:prstGeom prst="rect">
            <a:avLst/>
          </a:prstGeom>
          <a:noFill/>
        </p:spPr>
        <p:txBody>
          <a:bodyPr wrap="none" anchor="ctr" lIns="0" rIns="0" tIns="0" bIns="0">
            <a:spAutoFit/>
          </a:bodyPr>
          <a:lstStyle/>
          <a:p>
            <a:pPr algn="l">
              <a:lnSpc>
                <a:spcPct val="100000"/>
              </a:lnSpc>
              <a:spcBef>
                <a:spcPts val="0"/>
              </a:spcBef>
              <a:spcAft>
                <a:spcPts val="300"/>
              </a:spcAft>
            </a:pPr>
            <a:r>
              <a:rPr sz="900" b="0" i="0">
                <a:solidFill>
                  <a:srgbClr val="53565A"/>
                </a:solidFill>
                <a:latin typeface="Courier New"/>
              </a:rPr>
              <a:t>every run reports its own </a:t>
            </a:r>
            <a:r>
              <a:rPr sz="900" b="1" i="0">
                <a:solidFill>
                  <a:srgbClr val="0E0E0E"/>
                </a:solidFill>
                <a:latin typeface="Courier New"/>
              </a:rPr>
              <a:t>cost</a:t>
            </a:r>
          </a:p>
        </p:txBody>
      </p:sp>
      <p:sp>
        <p:nvSpPr>
          <p:cNvPr id="46" name="Rectangle 45"/>
          <p:cNvSpPr/>
          <p:nvPr/>
        </p:nvSpPr>
        <p:spPr>
          <a:xfrm>
            <a:off x="603504" y="6455664"/>
            <a:ext cx="9482328" cy="713232"/>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03504" y="6455664"/>
            <a:ext cx="64008" cy="71323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9536" y="6565392"/>
            <a:ext cx="8979407" cy="512064"/>
          </a:xfrm>
          <a:prstGeom prst="rect">
            <a:avLst/>
          </a:prstGeom>
          <a:noFill/>
        </p:spPr>
        <p:txBody>
          <a:bodyPr wrap="square" anchor="t" lIns="0" rIns="0" tIns="0" bIns="0">
            <a:spAutoFit/>
          </a:bodyPr>
          <a:lstStyle/>
          <a:p>
            <a:pPr algn="l">
              <a:lnSpc>
                <a:spcPct val="108000"/>
              </a:lnSpc>
              <a:spcBef>
                <a:spcPts val="0"/>
              </a:spcBef>
              <a:spcAft>
                <a:spcPts val="400"/>
              </a:spcAft>
            </a:pPr>
            <a:r>
              <a:rPr sz="850" b="1" i="0" spc="140">
                <a:solidFill>
                  <a:srgbClr val="046A38"/>
                </a:solidFill>
                <a:latin typeface="Courier New"/>
              </a:rPr>
              <a:t>IN PLAIN WORDS</a:t>
            </a:r>
          </a:p>
          <a:p>
            <a:pPr algn="l">
              <a:lnSpc>
                <a:spcPct val="116000"/>
              </a:lnSpc>
              <a:spcBef>
                <a:spcPts val="0"/>
              </a:spcBef>
              <a:spcAft>
                <a:spcPts val="300"/>
              </a:spcAft>
            </a:pPr>
            <a:r>
              <a:rPr sz="1150" b="0" i="0">
                <a:solidFill>
                  <a:srgbClr val="222427"/>
                </a:solidFill>
                <a:latin typeface="Arial"/>
              </a:rPr>
              <a:t>Not just code — a complete package: the system, its data, its schedules, and </a:t>
            </a:r>
            <a:r>
              <a:rPr sz="1150" b="1" i="0">
                <a:solidFill>
                  <a:srgbClr val="0E0E0E"/>
                </a:solidFill>
                <a:latin typeface="Arial"/>
              </a:rPr>
              <a:t>the receipts</a:t>
            </a:r>
            <a:r>
              <a:rPr sz="1150" b="0" i="0">
                <a:solidFill>
                  <a:srgbClr val="222427"/>
                </a:solidFill>
                <a:latin typeface="Arial"/>
              </a:rPr>
              <a:t> that tell your reviewers exactly where to look and what is still unproven.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03504" y="493776"/>
            <a:ext cx="118872" cy="118872"/>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0392" y="438912"/>
            <a:ext cx="9208007" cy="292608"/>
          </a:xfrm>
          <a:prstGeom prst="rect">
            <a:avLst/>
          </a:prstGeom>
          <a:noFill/>
        </p:spPr>
        <p:txBody>
          <a:bodyPr wrap="square" anchor="t" lIns="0" rIns="0" tIns="0" bIns="0">
            <a:spAutoFit/>
          </a:bodyPr>
          <a:lstStyle/>
          <a:p>
            <a:pPr algn="l">
              <a:lnSpc>
                <a:spcPct val="108000"/>
              </a:lnSpc>
              <a:spcBef>
                <a:spcPts val="0"/>
              </a:spcBef>
              <a:spcAft>
                <a:spcPts val="300"/>
              </a:spcAft>
            </a:pPr>
            <a:r>
              <a:rPr sz="1050" b="1" i="0" spc="200">
                <a:solidFill>
                  <a:srgbClr val="53565A"/>
                </a:solidFill>
                <a:latin typeface="Courier New"/>
              </a:rPr>
              <a:t>08 · THE BUSINESS CASE</a:t>
            </a:r>
          </a:p>
        </p:txBody>
      </p:sp>
      <p:sp>
        <p:nvSpPr>
          <p:cNvPr id="5" name="TextBox 4"/>
          <p:cNvSpPr txBox="1"/>
          <p:nvPr/>
        </p:nvSpPr>
        <p:spPr>
          <a:xfrm>
            <a:off x="603504" y="822960"/>
            <a:ext cx="9482328" cy="960120"/>
          </a:xfrm>
          <a:prstGeom prst="rect">
            <a:avLst/>
          </a:prstGeom>
          <a:noFill/>
        </p:spPr>
        <p:txBody>
          <a:bodyPr wrap="square" anchor="t" lIns="0" rIns="0" tIns="0" bIns="0">
            <a:spAutoFit/>
          </a:bodyPr>
          <a:lstStyle/>
          <a:p>
            <a:pPr algn="l">
              <a:lnSpc>
                <a:spcPct val="102000"/>
              </a:lnSpc>
              <a:spcBef>
                <a:spcPts val="0"/>
              </a:spcBef>
              <a:spcAft>
                <a:spcPts val="0"/>
              </a:spcAft>
            </a:pPr>
            <a:r>
              <a:rPr sz="2800" b="1" i="0">
                <a:solidFill>
                  <a:srgbClr val="0E0E0E"/>
                </a:solidFill>
                <a:latin typeface="Arial"/>
              </a:rPr>
              <a:t>What the accelerator changes, concretely</a:t>
            </a:r>
            <a:r>
              <a:rPr sz="2800" b="1" i="0">
                <a:solidFill>
                  <a:srgbClr val="86BC25"/>
                </a:solidFill>
                <a:latin typeface="Arial"/>
              </a:rPr>
              <a:t>.</a:t>
            </a:r>
          </a:p>
        </p:txBody>
      </p:sp>
      <p:sp>
        <p:nvSpPr>
          <p:cNvPr id="6" name="Rectangle 5"/>
          <p:cNvSpPr/>
          <p:nvPr/>
        </p:nvSpPr>
        <p:spPr>
          <a:xfrm>
            <a:off x="603504" y="1664208"/>
            <a:ext cx="9482328" cy="18288"/>
          </a:xfrm>
          <a:prstGeom prst="rect">
            <a:avLst/>
          </a:prstGeom>
          <a:solidFill>
            <a:srgbClr val="D2D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 y="7296912"/>
            <a:ext cx="3657600" cy="228600"/>
          </a:xfrm>
          <a:prstGeom prst="rect">
            <a:avLst/>
          </a:prstGeom>
          <a:noFill/>
        </p:spPr>
        <p:txBody>
          <a:bodyPr wrap="square" anchor="t" lIns="0" rIns="0" tIns="0" bIns="0">
            <a:spAutoFit/>
          </a:bodyPr>
          <a:lstStyle/>
          <a:p>
            <a:pPr algn="l">
              <a:lnSpc>
                <a:spcPct val="108000"/>
              </a:lnSpc>
              <a:spcBef>
                <a:spcPts val="0"/>
              </a:spcBef>
              <a:spcAft>
                <a:spcPts val="300"/>
              </a:spcAft>
            </a:pPr>
            <a:r>
              <a:rPr sz="800" b="0" i="0" spc="120">
                <a:solidFill>
                  <a:srgbClr val="8F9296"/>
                </a:solidFill>
                <a:latin typeface="Courier New"/>
              </a:rPr>
              <a:t>PORTAGE · MIGRATION ACCELERATOR</a:t>
            </a:r>
          </a:p>
        </p:txBody>
      </p:sp>
      <p:sp>
        <p:nvSpPr>
          <p:cNvPr id="8" name="TextBox 7"/>
          <p:cNvSpPr txBox="1"/>
          <p:nvPr/>
        </p:nvSpPr>
        <p:spPr>
          <a:xfrm>
            <a:off x="8074151" y="7296912"/>
            <a:ext cx="1828800" cy="228600"/>
          </a:xfrm>
          <a:prstGeom prst="rect">
            <a:avLst/>
          </a:prstGeom>
          <a:noFill/>
        </p:spPr>
        <p:txBody>
          <a:bodyPr wrap="square" anchor="t" lIns="0" rIns="0" tIns="0" bIns="0">
            <a:spAutoFit/>
          </a:bodyPr>
          <a:lstStyle/>
          <a:p>
            <a:pPr algn="r">
              <a:lnSpc>
                <a:spcPct val="108000"/>
              </a:lnSpc>
              <a:spcBef>
                <a:spcPts val="0"/>
              </a:spcBef>
              <a:spcAft>
                <a:spcPts val="300"/>
              </a:spcAft>
            </a:pPr>
            <a:r>
              <a:rPr sz="800" b="0" i="0" spc="120">
                <a:solidFill>
                  <a:srgbClr val="8F9296"/>
                </a:solidFill>
                <a:latin typeface="Courier New"/>
              </a:rPr>
              <a:t>09 / 10</a:t>
            </a:r>
          </a:p>
        </p:txBody>
      </p:sp>
      <p:sp>
        <p:nvSpPr>
          <p:cNvPr id="9" name="Oval 8"/>
          <p:cNvSpPr/>
          <p:nvPr/>
        </p:nvSpPr>
        <p:spPr>
          <a:xfrm>
            <a:off x="9957815" y="7319772"/>
            <a:ext cx="82296" cy="82296"/>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2039112"/>
            <a:ext cx="4572000" cy="274320"/>
          </a:xfrm>
          <a:prstGeom prst="rect">
            <a:avLst/>
          </a:prstGeom>
          <a:noFill/>
        </p:spPr>
        <p:txBody>
          <a:bodyPr wrap="square" anchor="t" lIns="0" rIns="0" tIns="0" bIns="0">
            <a:spAutoFit/>
          </a:bodyPr>
          <a:lstStyle/>
          <a:p>
            <a:pPr algn="l">
              <a:lnSpc>
                <a:spcPct val="108000"/>
              </a:lnSpc>
              <a:spcBef>
                <a:spcPts val="0"/>
              </a:spcBef>
              <a:spcAft>
                <a:spcPts val="300"/>
              </a:spcAft>
            </a:pPr>
            <a:r>
              <a:rPr sz="850" b="0" i="0" spc="100">
                <a:solidFill>
                  <a:srgbClr val="53565A"/>
                </a:solidFill>
                <a:latin typeface="Courier New"/>
              </a:rPr>
              <a:t>WITHOUT THE ACCELERATOR</a:t>
            </a:r>
          </a:p>
        </p:txBody>
      </p:sp>
      <p:sp>
        <p:nvSpPr>
          <p:cNvPr id="11" name="TextBox 10"/>
          <p:cNvSpPr txBox="1"/>
          <p:nvPr/>
        </p:nvSpPr>
        <p:spPr>
          <a:xfrm>
            <a:off x="5436107" y="2039112"/>
            <a:ext cx="4572000" cy="274320"/>
          </a:xfrm>
          <a:prstGeom prst="rect">
            <a:avLst/>
          </a:prstGeom>
          <a:noFill/>
        </p:spPr>
        <p:txBody>
          <a:bodyPr wrap="square" anchor="t" lIns="0" rIns="0" tIns="0" bIns="0">
            <a:spAutoFit/>
          </a:bodyPr>
          <a:lstStyle/>
          <a:p>
            <a:pPr algn="l">
              <a:lnSpc>
                <a:spcPct val="108000"/>
              </a:lnSpc>
              <a:spcBef>
                <a:spcPts val="0"/>
              </a:spcBef>
              <a:spcAft>
                <a:spcPts val="300"/>
              </a:spcAft>
            </a:pPr>
            <a:r>
              <a:rPr sz="850" b="0" i="0" spc="100">
                <a:solidFill>
                  <a:srgbClr val="53565A"/>
                </a:solidFill>
                <a:latin typeface="Courier New"/>
              </a:rPr>
              <a:t>WITH THE ACCELERATOR</a:t>
            </a:r>
          </a:p>
        </p:txBody>
      </p:sp>
      <p:sp>
        <p:nvSpPr>
          <p:cNvPr id="12" name="Rectangle 11"/>
          <p:cNvSpPr/>
          <p:nvPr/>
        </p:nvSpPr>
        <p:spPr>
          <a:xfrm>
            <a:off x="603504" y="2331720"/>
            <a:ext cx="9482328" cy="20116"/>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2404872"/>
            <a:ext cx="4466844" cy="548640"/>
          </a:xfrm>
          <a:prstGeom prst="rect">
            <a:avLst/>
          </a:prstGeom>
          <a:noFill/>
        </p:spPr>
        <p:txBody>
          <a:bodyPr wrap="square" anchor="ctr" lIns="0" rIns="0" tIns="0" bIns="0">
            <a:spAutoFit/>
          </a:bodyPr>
          <a:lstStyle/>
          <a:p>
            <a:pPr algn="l">
              <a:lnSpc>
                <a:spcPct val="112000"/>
              </a:lnSpc>
              <a:spcBef>
                <a:spcPts val="0"/>
              </a:spcBef>
              <a:spcAft>
                <a:spcPts val="300"/>
              </a:spcAft>
            </a:pPr>
            <a:r>
              <a:rPr sz="1150" b="1" i="0">
                <a:solidFill>
                  <a:srgbClr val="B3282D"/>
                </a:solidFill>
                <a:latin typeface="Arial"/>
              </a:rPr>
              <a:t>Months of manual rewriting</a:t>
            </a:r>
          </a:p>
        </p:txBody>
      </p:sp>
      <p:sp>
        <p:nvSpPr>
          <p:cNvPr id="14" name="TextBox 13"/>
          <p:cNvSpPr txBox="1"/>
          <p:nvPr/>
        </p:nvSpPr>
        <p:spPr>
          <a:xfrm>
            <a:off x="5436107" y="2404872"/>
            <a:ext cx="4466844" cy="548640"/>
          </a:xfrm>
          <a:prstGeom prst="rect">
            <a:avLst/>
          </a:prstGeom>
          <a:noFill/>
        </p:spPr>
        <p:txBody>
          <a:bodyPr wrap="square" anchor="ctr" lIns="0" rIns="0" tIns="0" bIns="0">
            <a:spAutoFit/>
          </a:bodyPr>
          <a:lstStyle/>
          <a:p>
            <a:pPr algn="l">
              <a:lnSpc>
                <a:spcPct val="112000"/>
              </a:lnSpc>
              <a:spcBef>
                <a:spcPts val="0"/>
              </a:spcBef>
              <a:spcAft>
                <a:spcPts val="300"/>
              </a:spcAft>
            </a:pPr>
            <a:r>
              <a:rPr sz="1150" b="1" i="0">
                <a:solidFill>
                  <a:srgbClr val="046A38"/>
                </a:solidFill>
                <a:latin typeface="Arial"/>
              </a:rPr>
              <a:t>A working, verified first draft in minutes–hours</a:t>
            </a:r>
          </a:p>
        </p:txBody>
      </p:sp>
      <p:sp>
        <p:nvSpPr>
          <p:cNvPr id="15" name="Rectangle 14"/>
          <p:cNvSpPr/>
          <p:nvPr/>
        </p:nvSpPr>
        <p:spPr>
          <a:xfrm>
            <a:off x="603504" y="3008375"/>
            <a:ext cx="9482328" cy="10972"/>
          </a:xfrm>
          <a:prstGeom prst="rect">
            <a:avLst/>
          </a:prstGeom>
          <a:solidFill>
            <a:srgbClr val="D2D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 y="3063239"/>
            <a:ext cx="4466844" cy="548640"/>
          </a:xfrm>
          <a:prstGeom prst="rect">
            <a:avLst/>
          </a:prstGeom>
          <a:noFill/>
        </p:spPr>
        <p:txBody>
          <a:bodyPr wrap="square" anchor="ctr" lIns="0" rIns="0" tIns="0" bIns="0">
            <a:spAutoFit/>
          </a:bodyPr>
          <a:lstStyle/>
          <a:p>
            <a:pPr algn="l">
              <a:lnSpc>
                <a:spcPct val="112000"/>
              </a:lnSpc>
              <a:spcBef>
                <a:spcPts val="0"/>
              </a:spcBef>
              <a:spcAft>
                <a:spcPts val="300"/>
              </a:spcAft>
            </a:pPr>
            <a:r>
              <a:rPr sz="1150" b="1" i="0">
                <a:solidFill>
                  <a:srgbClr val="B3282D"/>
                </a:solidFill>
                <a:latin typeface="Arial"/>
              </a:rPr>
              <a:t>Business rules silently lost</a:t>
            </a:r>
          </a:p>
        </p:txBody>
      </p:sp>
      <p:sp>
        <p:nvSpPr>
          <p:cNvPr id="17" name="TextBox 16"/>
          <p:cNvSpPr txBox="1"/>
          <p:nvPr/>
        </p:nvSpPr>
        <p:spPr>
          <a:xfrm>
            <a:off x="5436107" y="3063239"/>
            <a:ext cx="4466844" cy="548640"/>
          </a:xfrm>
          <a:prstGeom prst="rect">
            <a:avLst/>
          </a:prstGeom>
          <a:noFill/>
        </p:spPr>
        <p:txBody>
          <a:bodyPr wrap="square" anchor="ctr" lIns="0" rIns="0" tIns="0" bIns="0">
            <a:spAutoFit/>
          </a:bodyPr>
          <a:lstStyle/>
          <a:p>
            <a:pPr algn="l">
              <a:lnSpc>
                <a:spcPct val="112000"/>
              </a:lnSpc>
              <a:spcBef>
                <a:spcPts val="0"/>
              </a:spcBef>
              <a:spcAft>
                <a:spcPts val="300"/>
              </a:spcAft>
            </a:pPr>
            <a:r>
              <a:rPr sz="1150" b="1" i="0">
                <a:solidFill>
                  <a:srgbClr val="046A38"/>
                </a:solidFill>
                <a:latin typeface="Arial"/>
              </a:rPr>
              <a:t>Every rule tracked to a verdict — including the ones nothing carries</a:t>
            </a:r>
          </a:p>
        </p:txBody>
      </p:sp>
      <p:sp>
        <p:nvSpPr>
          <p:cNvPr id="18" name="Rectangle 17"/>
          <p:cNvSpPr/>
          <p:nvPr/>
        </p:nvSpPr>
        <p:spPr>
          <a:xfrm>
            <a:off x="603504" y="3666744"/>
            <a:ext cx="9482328" cy="10972"/>
          </a:xfrm>
          <a:prstGeom prst="rect">
            <a:avLst/>
          </a:prstGeom>
          <a:solidFill>
            <a:srgbClr val="D2D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4944" y="3721608"/>
            <a:ext cx="4466844" cy="548640"/>
          </a:xfrm>
          <a:prstGeom prst="rect">
            <a:avLst/>
          </a:prstGeom>
          <a:noFill/>
        </p:spPr>
        <p:txBody>
          <a:bodyPr wrap="square" anchor="ctr" lIns="0" rIns="0" tIns="0" bIns="0">
            <a:spAutoFit/>
          </a:bodyPr>
          <a:lstStyle/>
          <a:p>
            <a:pPr algn="l">
              <a:lnSpc>
                <a:spcPct val="112000"/>
              </a:lnSpc>
              <a:spcBef>
                <a:spcPts val="0"/>
              </a:spcBef>
              <a:spcAft>
                <a:spcPts val="300"/>
              </a:spcAft>
            </a:pPr>
            <a:r>
              <a:rPr sz="1150" b="1" i="0">
                <a:solidFill>
                  <a:srgbClr val="B3282D"/>
                </a:solidFill>
                <a:latin typeface="Arial"/>
              </a:rPr>
              <a:t>“Trust me, it compiles”</a:t>
            </a:r>
          </a:p>
        </p:txBody>
      </p:sp>
      <p:sp>
        <p:nvSpPr>
          <p:cNvPr id="20" name="TextBox 19"/>
          <p:cNvSpPr txBox="1"/>
          <p:nvPr/>
        </p:nvSpPr>
        <p:spPr>
          <a:xfrm>
            <a:off x="5436107" y="3721608"/>
            <a:ext cx="4466844" cy="548640"/>
          </a:xfrm>
          <a:prstGeom prst="rect">
            <a:avLst/>
          </a:prstGeom>
          <a:noFill/>
        </p:spPr>
        <p:txBody>
          <a:bodyPr wrap="square" anchor="ctr" lIns="0" rIns="0" tIns="0" bIns="0">
            <a:spAutoFit/>
          </a:bodyPr>
          <a:lstStyle/>
          <a:p>
            <a:pPr algn="l">
              <a:lnSpc>
                <a:spcPct val="112000"/>
              </a:lnSpc>
              <a:spcBef>
                <a:spcPts val="0"/>
              </a:spcBef>
              <a:spcAft>
                <a:spcPts val="300"/>
              </a:spcAft>
            </a:pPr>
            <a:r>
              <a:rPr sz="1150" b="1" i="0">
                <a:solidFill>
                  <a:srgbClr val="046A38"/>
                </a:solidFill>
                <a:latin typeface="Arial"/>
              </a:rPr>
              <a:t>Deployed to a real org and self-corrected until verifiably green</a:t>
            </a:r>
          </a:p>
        </p:txBody>
      </p:sp>
      <p:sp>
        <p:nvSpPr>
          <p:cNvPr id="21" name="Rectangle 20"/>
          <p:cNvSpPr/>
          <p:nvPr/>
        </p:nvSpPr>
        <p:spPr>
          <a:xfrm>
            <a:off x="603504" y="4325112"/>
            <a:ext cx="9482328" cy="10972"/>
          </a:xfrm>
          <a:prstGeom prst="rect">
            <a:avLst/>
          </a:prstGeom>
          <a:solidFill>
            <a:srgbClr val="D2D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4379976"/>
            <a:ext cx="4466844" cy="548640"/>
          </a:xfrm>
          <a:prstGeom prst="rect">
            <a:avLst/>
          </a:prstGeom>
          <a:noFill/>
        </p:spPr>
        <p:txBody>
          <a:bodyPr wrap="square" anchor="ctr" lIns="0" rIns="0" tIns="0" bIns="0">
            <a:spAutoFit/>
          </a:bodyPr>
          <a:lstStyle/>
          <a:p>
            <a:pPr algn="l">
              <a:lnSpc>
                <a:spcPct val="112000"/>
              </a:lnSpc>
              <a:spcBef>
                <a:spcPts val="0"/>
              </a:spcBef>
              <a:spcAft>
                <a:spcPts val="300"/>
              </a:spcAft>
            </a:pPr>
            <a:r>
              <a:rPr sz="1150" b="1" i="0">
                <a:solidFill>
                  <a:srgbClr val="B3282D"/>
                </a:solidFill>
                <a:latin typeface="Arial"/>
              </a:rPr>
              <a:t>Everything becomes custom code to own forever</a:t>
            </a:r>
          </a:p>
        </p:txBody>
      </p:sp>
      <p:sp>
        <p:nvSpPr>
          <p:cNvPr id="23" name="TextBox 22"/>
          <p:cNvSpPr txBox="1"/>
          <p:nvPr/>
        </p:nvSpPr>
        <p:spPr>
          <a:xfrm>
            <a:off x="5436107" y="4379976"/>
            <a:ext cx="4466844" cy="548640"/>
          </a:xfrm>
          <a:prstGeom prst="rect">
            <a:avLst/>
          </a:prstGeom>
          <a:noFill/>
        </p:spPr>
        <p:txBody>
          <a:bodyPr wrap="square" anchor="ctr" lIns="0" rIns="0" tIns="0" bIns="0">
            <a:spAutoFit/>
          </a:bodyPr>
          <a:lstStyle/>
          <a:p>
            <a:pPr algn="l">
              <a:lnSpc>
                <a:spcPct val="112000"/>
              </a:lnSpc>
              <a:spcBef>
                <a:spcPts val="0"/>
              </a:spcBef>
              <a:spcAft>
                <a:spcPts val="300"/>
              </a:spcAft>
            </a:pPr>
            <a:r>
              <a:rPr sz="1150" b="1" i="0">
                <a:solidFill>
                  <a:srgbClr val="046A38"/>
                </a:solidFill>
                <a:latin typeface="Arial"/>
              </a:rPr>
              <a:t>Native Salesforce products recommended where they fit — less debt</a:t>
            </a:r>
          </a:p>
        </p:txBody>
      </p:sp>
      <p:sp>
        <p:nvSpPr>
          <p:cNvPr id="24" name="Rectangle 23"/>
          <p:cNvSpPr/>
          <p:nvPr/>
        </p:nvSpPr>
        <p:spPr>
          <a:xfrm>
            <a:off x="603504" y="4983480"/>
            <a:ext cx="9482328" cy="10972"/>
          </a:xfrm>
          <a:prstGeom prst="rect">
            <a:avLst/>
          </a:prstGeom>
          <a:solidFill>
            <a:srgbClr val="D2D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038344"/>
            <a:ext cx="4466844" cy="548640"/>
          </a:xfrm>
          <a:prstGeom prst="rect">
            <a:avLst/>
          </a:prstGeom>
          <a:noFill/>
        </p:spPr>
        <p:txBody>
          <a:bodyPr wrap="square" anchor="ctr" lIns="0" rIns="0" tIns="0" bIns="0">
            <a:spAutoFit/>
          </a:bodyPr>
          <a:lstStyle/>
          <a:p>
            <a:pPr algn="l">
              <a:lnSpc>
                <a:spcPct val="112000"/>
              </a:lnSpc>
              <a:spcBef>
                <a:spcPts val="0"/>
              </a:spcBef>
              <a:spcAft>
                <a:spcPts val="300"/>
              </a:spcAft>
            </a:pPr>
            <a:r>
              <a:rPr sz="1150" b="1" i="0">
                <a:solidFill>
                  <a:srgbClr val="B3282D"/>
                </a:solidFill>
                <a:latin typeface="Arial"/>
              </a:rPr>
              <a:t>A black-box engagement</a:t>
            </a:r>
          </a:p>
        </p:txBody>
      </p:sp>
      <p:sp>
        <p:nvSpPr>
          <p:cNvPr id="26" name="TextBox 25"/>
          <p:cNvSpPr txBox="1"/>
          <p:nvPr/>
        </p:nvSpPr>
        <p:spPr>
          <a:xfrm>
            <a:off x="5436107" y="5038344"/>
            <a:ext cx="4466844" cy="548640"/>
          </a:xfrm>
          <a:prstGeom prst="rect">
            <a:avLst/>
          </a:prstGeom>
          <a:noFill/>
        </p:spPr>
        <p:txBody>
          <a:bodyPr wrap="square" anchor="ctr" lIns="0" rIns="0" tIns="0" bIns="0">
            <a:spAutoFit/>
          </a:bodyPr>
          <a:lstStyle/>
          <a:p>
            <a:pPr algn="l">
              <a:lnSpc>
                <a:spcPct val="112000"/>
              </a:lnSpc>
              <a:spcBef>
                <a:spcPts val="0"/>
              </a:spcBef>
              <a:spcAft>
                <a:spcPts val="300"/>
              </a:spcAft>
            </a:pPr>
            <a:r>
              <a:rPr sz="1150" b="1" i="0">
                <a:solidFill>
                  <a:srgbClr val="046A38"/>
                </a:solidFill>
                <a:latin typeface="Arial"/>
              </a:rPr>
              <a:t>A signed audit: who approved what, on what evidence</a:t>
            </a:r>
          </a:p>
        </p:txBody>
      </p:sp>
      <p:sp>
        <p:nvSpPr>
          <p:cNvPr id="27" name="Rectangle 26"/>
          <p:cNvSpPr/>
          <p:nvPr/>
        </p:nvSpPr>
        <p:spPr>
          <a:xfrm>
            <a:off x="603504" y="5641848"/>
            <a:ext cx="9482328" cy="10972"/>
          </a:xfrm>
          <a:prstGeom prst="rect">
            <a:avLst/>
          </a:prstGeom>
          <a:solidFill>
            <a:srgbClr val="D2D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5696712"/>
            <a:ext cx="4466844" cy="548640"/>
          </a:xfrm>
          <a:prstGeom prst="rect">
            <a:avLst/>
          </a:prstGeom>
          <a:noFill/>
        </p:spPr>
        <p:txBody>
          <a:bodyPr wrap="square" anchor="ctr" lIns="0" rIns="0" tIns="0" bIns="0">
            <a:spAutoFit/>
          </a:bodyPr>
          <a:lstStyle/>
          <a:p>
            <a:pPr algn="l">
              <a:lnSpc>
                <a:spcPct val="112000"/>
              </a:lnSpc>
              <a:spcBef>
                <a:spcPts val="0"/>
              </a:spcBef>
              <a:spcAft>
                <a:spcPts val="300"/>
              </a:spcAft>
            </a:pPr>
            <a:r>
              <a:rPr sz="1150" b="1" i="0">
                <a:solidFill>
                  <a:srgbClr val="B3282D"/>
                </a:solidFill>
                <a:latin typeface="Arial"/>
              </a:rPr>
              <a:t>“It converted 100% of files”</a:t>
            </a:r>
          </a:p>
        </p:txBody>
      </p:sp>
      <p:sp>
        <p:nvSpPr>
          <p:cNvPr id="29" name="TextBox 28"/>
          <p:cNvSpPr txBox="1"/>
          <p:nvPr/>
        </p:nvSpPr>
        <p:spPr>
          <a:xfrm>
            <a:off x="5436107" y="5696712"/>
            <a:ext cx="4466844" cy="548640"/>
          </a:xfrm>
          <a:prstGeom prst="rect">
            <a:avLst/>
          </a:prstGeom>
          <a:noFill/>
        </p:spPr>
        <p:txBody>
          <a:bodyPr wrap="square" anchor="ctr" lIns="0" rIns="0" tIns="0" bIns="0">
            <a:spAutoFit/>
          </a:bodyPr>
          <a:lstStyle/>
          <a:p>
            <a:pPr algn="l">
              <a:lnSpc>
                <a:spcPct val="112000"/>
              </a:lnSpc>
              <a:spcBef>
                <a:spcPts val="0"/>
              </a:spcBef>
              <a:spcAft>
                <a:spcPts val="300"/>
              </a:spcAft>
            </a:pPr>
            <a:r>
              <a:rPr sz="1150" b="1" i="0">
                <a:solidFill>
                  <a:srgbClr val="046A38"/>
                </a:solidFill>
                <a:latin typeface="Arial"/>
              </a:rPr>
              <a:t>A number that means something — rules preserved, not files touched</a:t>
            </a:r>
          </a:p>
        </p:txBody>
      </p:sp>
      <p:sp>
        <p:nvSpPr>
          <p:cNvPr id="30" name="Rectangle 29"/>
          <p:cNvSpPr/>
          <p:nvPr/>
        </p:nvSpPr>
        <p:spPr>
          <a:xfrm>
            <a:off x="603504" y="6300216"/>
            <a:ext cx="9482328" cy="10972"/>
          </a:xfrm>
          <a:prstGeom prst="rect">
            <a:avLst/>
          </a:prstGeom>
          <a:solidFill>
            <a:srgbClr val="D2D2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 y="6455664"/>
            <a:ext cx="9482328" cy="713232"/>
          </a:xfrm>
          <a:prstGeom prst="rect">
            <a:avLst/>
          </a:prstGeom>
          <a:solidFill>
            <a:srgbClr val="F3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3504" y="6455664"/>
            <a:ext cx="64008" cy="713232"/>
          </a:xfrm>
          <a:prstGeom prst="rect">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6565392"/>
            <a:ext cx="8979407" cy="512064"/>
          </a:xfrm>
          <a:prstGeom prst="rect">
            <a:avLst/>
          </a:prstGeom>
          <a:noFill/>
        </p:spPr>
        <p:txBody>
          <a:bodyPr wrap="square" anchor="t" lIns="0" rIns="0" tIns="0" bIns="0">
            <a:spAutoFit/>
          </a:bodyPr>
          <a:lstStyle/>
          <a:p>
            <a:pPr algn="l">
              <a:lnSpc>
                <a:spcPct val="108000"/>
              </a:lnSpc>
              <a:spcBef>
                <a:spcPts val="0"/>
              </a:spcBef>
              <a:spcAft>
                <a:spcPts val="400"/>
              </a:spcAft>
            </a:pPr>
            <a:r>
              <a:rPr sz="850" b="1" i="0" spc="140">
                <a:solidFill>
                  <a:srgbClr val="046A38"/>
                </a:solidFill>
                <a:latin typeface="Courier New"/>
              </a:rPr>
              <a:t>THE HONEST POSITIONING</a:t>
            </a:r>
          </a:p>
          <a:p>
            <a:pPr algn="l">
              <a:lnSpc>
                <a:spcPct val="116000"/>
              </a:lnSpc>
              <a:spcBef>
                <a:spcPts val="0"/>
              </a:spcBef>
              <a:spcAft>
                <a:spcPts val="300"/>
              </a:spcAft>
            </a:pPr>
            <a:r>
              <a:rPr sz="1150" b="0" i="0">
                <a:solidFill>
                  <a:srgbClr val="222427"/>
                </a:solidFill>
                <a:latin typeface="Arial"/>
              </a:rPr>
              <a:t>A strong, verified first draft plus a prioritized review list. It makes expert reviewers dramatically faster — it doesn't remove them, and we don't pretend it does.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89336" cy="7562088"/>
          </a:xfrm>
          <a:prstGeom prst="rect">
            <a:avLst/>
          </a:prstGeom>
          <a:solidFill>
            <a:srgbClr val="0E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206240" y="6126480"/>
            <a:ext cx="2286000" cy="2286000"/>
          </a:xfrm>
          <a:prstGeom prst="ellipse">
            <a:avLst/>
          </a:prstGeom>
          <a:noFill/>
          <a:ln w="1270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554480"/>
            <a:ext cx="10689336" cy="365760"/>
          </a:xfrm>
          <a:prstGeom prst="rect">
            <a:avLst/>
          </a:prstGeom>
          <a:noFill/>
        </p:spPr>
        <p:txBody>
          <a:bodyPr wrap="square" anchor="t" lIns="0" rIns="0" tIns="0" bIns="0">
            <a:spAutoFit/>
          </a:bodyPr>
          <a:lstStyle/>
          <a:p>
            <a:pPr algn="ctr">
              <a:lnSpc>
                <a:spcPct val="108000"/>
              </a:lnSpc>
              <a:spcBef>
                <a:spcPts val="0"/>
              </a:spcBef>
              <a:spcAft>
                <a:spcPts val="300"/>
              </a:spcAft>
            </a:pPr>
            <a:r>
              <a:rPr sz="1000" b="1" i="0" spc="200">
                <a:solidFill>
                  <a:srgbClr val="86BC25"/>
                </a:solidFill>
                <a:latin typeface="Courier New"/>
              </a:rPr>
              <a:t>● THE ASK</a:t>
            </a:r>
          </a:p>
        </p:txBody>
      </p:sp>
      <p:sp>
        <p:nvSpPr>
          <p:cNvPr id="5" name="TextBox 4"/>
          <p:cNvSpPr txBox="1"/>
          <p:nvPr/>
        </p:nvSpPr>
        <p:spPr>
          <a:xfrm>
            <a:off x="914400" y="2286000"/>
            <a:ext cx="8860536" cy="1463040"/>
          </a:xfrm>
          <a:prstGeom prst="rect">
            <a:avLst/>
          </a:prstGeom>
          <a:noFill/>
        </p:spPr>
        <p:txBody>
          <a:bodyPr wrap="square" anchor="t" lIns="0" rIns="0" tIns="0" bIns="0">
            <a:spAutoFit/>
          </a:bodyPr>
          <a:lstStyle/>
          <a:p>
            <a:pPr algn="ctr">
              <a:lnSpc>
                <a:spcPct val="112000"/>
              </a:lnSpc>
              <a:spcBef>
                <a:spcPts val="0"/>
              </a:spcBef>
              <a:spcAft>
                <a:spcPts val="400"/>
              </a:spcAft>
            </a:pPr>
            <a:r>
              <a:rPr sz="2700" b="1" i="0">
                <a:solidFill>
                  <a:srgbClr val="FFFFFF"/>
                </a:solidFill>
                <a:latin typeface="Arial"/>
              </a:rPr>
              <a:t>Give us one real slice of a Hybris codebase.</a:t>
            </a:r>
          </a:p>
          <a:p>
            <a:pPr algn="ctr">
              <a:lnSpc>
                <a:spcPct val="112000"/>
              </a:lnSpc>
              <a:spcBef>
                <a:spcPts val="0"/>
              </a:spcBef>
              <a:spcAft>
                <a:spcPts val="300"/>
              </a:spcAft>
            </a:pPr>
            <a:r>
              <a:rPr sz="2700" b="1" i="0">
                <a:solidFill>
                  <a:srgbClr val="FFFFFF"/>
                </a:solidFill>
                <a:latin typeface="Arial"/>
              </a:rPr>
              <a:t>We'll hand back verified Salesforce — and the receipts</a:t>
            </a:r>
            <a:r>
              <a:rPr sz="2700" b="1" i="0">
                <a:solidFill>
                  <a:srgbClr val="86BC25"/>
                </a:solidFill>
                <a:latin typeface="Arial"/>
              </a:rPr>
              <a:t> ●</a:t>
            </a:r>
          </a:p>
        </p:txBody>
      </p:sp>
      <p:sp>
        <p:nvSpPr>
          <p:cNvPr id="6" name="TextBox 5"/>
          <p:cNvSpPr txBox="1"/>
          <p:nvPr/>
        </p:nvSpPr>
        <p:spPr>
          <a:xfrm>
            <a:off x="2011680" y="4114800"/>
            <a:ext cx="6665975" cy="822960"/>
          </a:xfrm>
          <a:prstGeom prst="rect">
            <a:avLst/>
          </a:prstGeom>
          <a:noFill/>
        </p:spPr>
        <p:txBody>
          <a:bodyPr wrap="square" anchor="t" lIns="0" rIns="0" tIns="0" bIns="0">
            <a:spAutoFit/>
          </a:bodyPr>
          <a:lstStyle/>
          <a:p>
            <a:pPr algn="ctr">
              <a:lnSpc>
                <a:spcPct val="130000"/>
              </a:lnSpc>
              <a:spcBef>
                <a:spcPts val="0"/>
              </a:spcBef>
              <a:spcAft>
                <a:spcPts val="300"/>
              </a:spcAft>
            </a:pPr>
            <a:r>
              <a:rPr sz="1300" b="0" i="0">
                <a:solidFill>
                  <a:srgbClr val="A7A8AA"/>
                </a:solidFill>
                <a:latin typeface="Arial"/>
              </a:rPr>
              <a:t>A pilot costs days, not months. Free mock mode first, a scored real run second, your team's verdict third.</a:t>
            </a:r>
          </a:p>
        </p:txBody>
      </p:sp>
      <p:sp>
        <p:nvSpPr>
          <p:cNvPr id="7" name="Rectangle 6"/>
          <p:cNvSpPr/>
          <p:nvPr/>
        </p:nvSpPr>
        <p:spPr>
          <a:xfrm>
            <a:off x="1970531" y="5120640"/>
            <a:ext cx="1591055" cy="384048"/>
          </a:xfrm>
          <a:prstGeom prst="rect">
            <a:avLst/>
          </a:prstGeom>
          <a:solidFill>
            <a:srgbClr val="181818"/>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35124" y="5120640"/>
            <a:ext cx="1261872" cy="384048"/>
          </a:xfrm>
          <a:prstGeom prst="rect">
            <a:avLst/>
          </a:prstGeom>
          <a:noFill/>
        </p:spPr>
        <p:txBody>
          <a:bodyPr wrap="none" anchor="ctr" lIns="0" rIns="0" tIns="0" bIns="0">
            <a:spAutoFit/>
          </a:bodyPr>
          <a:lstStyle/>
          <a:p>
            <a:pPr algn="ctr">
              <a:lnSpc>
                <a:spcPct val="108000"/>
              </a:lnSpc>
              <a:spcBef>
                <a:spcPts val="0"/>
              </a:spcBef>
              <a:spcAft>
                <a:spcPts val="300"/>
              </a:spcAft>
            </a:pPr>
            <a:r>
              <a:rPr sz="900" b="0" i="0">
                <a:solidFill>
                  <a:srgbClr val="A7A8AA"/>
                </a:solidFill>
                <a:latin typeface="Courier New"/>
              </a:rPr>
              <a:t>Live demo </a:t>
            </a:r>
            <a:r>
              <a:rPr sz="900" b="1" i="0">
                <a:solidFill>
                  <a:srgbClr val="FFFFFF"/>
                </a:solidFill>
                <a:latin typeface="Courier New"/>
              </a:rPr>
              <a:t>today</a:t>
            </a:r>
          </a:p>
        </p:txBody>
      </p:sp>
      <p:sp>
        <p:nvSpPr>
          <p:cNvPr id="9" name="Rectangle 8"/>
          <p:cNvSpPr/>
          <p:nvPr/>
        </p:nvSpPr>
        <p:spPr>
          <a:xfrm>
            <a:off x="3744468" y="5120640"/>
            <a:ext cx="3522268" cy="384048"/>
          </a:xfrm>
          <a:prstGeom prst="rect">
            <a:avLst/>
          </a:prstGeom>
          <a:solidFill>
            <a:srgbClr val="181818"/>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09059" y="5120640"/>
            <a:ext cx="3193084" cy="384048"/>
          </a:xfrm>
          <a:prstGeom prst="rect">
            <a:avLst/>
          </a:prstGeom>
          <a:noFill/>
        </p:spPr>
        <p:txBody>
          <a:bodyPr wrap="none" anchor="ctr" lIns="0" rIns="0" tIns="0" bIns="0">
            <a:spAutoFit/>
          </a:bodyPr>
          <a:lstStyle/>
          <a:p>
            <a:pPr algn="ctr">
              <a:lnSpc>
                <a:spcPct val="108000"/>
              </a:lnSpc>
              <a:spcBef>
                <a:spcPts val="0"/>
              </a:spcBef>
              <a:spcAft>
                <a:spcPts val="300"/>
              </a:spcAft>
            </a:pPr>
            <a:r>
              <a:rPr sz="900" b="0" i="0">
                <a:solidFill>
                  <a:srgbClr val="A7A8AA"/>
                </a:solidFill>
                <a:latin typeface="Courier New"/>
              </a:rPr>
              <a:t>Full docs: </a:t>
            </a:r>
            <a:r>
              <a:rPr sz="900" b="1" i="0">
                <a:solidFill>
                  <a:srgbClr val="FFFFFF"/>
                </a:solidFill>
                <a:latin typeface="Courier New"/>
              </a:rPr>
              <a:t>PRD · TDD · flows · security</a:t>
            </a:r>
          </a:p>
        </p:txBody>
      </p:sp>
      <p:sp>
        <p:nvSpPr>
          <p:cNvPr id="11" name="Rectangle 10"/>
          <p:cNvSpPr/>
          <p:nvPr/>
        </p:nvSpPr>
        <p:spPr>
          <a:xfrm>
            <a:off x="7449616" y="5120640"/>
            <a:ext cx="1269187" cy="384048"/>
          </a:xfrm>
          <a:prstGeom prst="rect">
            <a:avLst/>
          </a:prstGeom>
          <a:solidFill>
            <a:srgbClr val="181818"/>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4208" y="5120640"/>
            <a:ext cx="940003" cy="384048"/>
          </a:xfrm>
          <a:prstGeom prst="rect">
            <a:avLst/>
          </a:prstGeom>
          <a:noFill/>
        </p:spPr>
        <p:txBody>
          <a:bodyPr wrap="none" anchor="ctr" lIns="0" rIns="0" tIns="0" bIns="0">
            <a:spAutoFit/>
          </a:bodyPr>
          <a:lstStyle/>
          <a:p>
            <a:pPr algn="ctr">
              <a:lnSpc>
                <a:spcPct val="108000"/>
              </a:lnSpc>
              <a:spcBef>
                <a:spcPts val="0"/>
              </a:spcBef>
              <a:spcAft>
                <a:spcPts val="300"/>
              </a:spcAft>
            </a:pPr>
            <a:r>
              <a:rPr sz="900" b="1" i="0">
                <a:solidFill>
                  <a:srgbClr val="FFFFFF"/>
                </a:solidFill>
                <a:latin typeface="Courier New"/>
              </a:rPr>
              <a:t>Pilot-ready</a:t>
            </a:r>
          </a:p>
        </p:txBody>
      </p:sp>
      <p:sp>
        <p:nvSpPr>
          <p:cNvPr id="13" name="TextBox 12"/>
          <p:cNvSpPr txBox="1"/>
          <p:nvPr/>
        </p:nvSpPr>
        <p:spPr>
          <a:xfrm>
            <a:off x="603504" y="7296912"/>
            <a:ext cx="3657600" cy="228600"/>
          </a:xfrm>
          <a:prstGeom prst="rect">
            <a:avLst/>
          </a:prstGeom>
          <a:noFill/>
        </p:spPr>
        <p:txBody>
          <a:bodyPr wrap="square" anchor="t" lIns="0" rIns="0" tIns="0" bIns="0">
            <a:spAutoFit/>
          </a:bodyPr>
          <a:lstStyle/>
          <a:p>
            <a:pPr algn="l">
              <a:lnSpc>
                <a:spcPct val="108000"/>
              </a:lnSpc>
              <a:spcBef>
                <a:spcPts val="0"/>
              </a:spcBef>
              <a:spcAft>
                <a:spcPts val="300"/>
              </a:spcAft>
            </a:pPr>
            <a:r>
              <a:rPr sz="800" b="0" i="0" spc="120">
                <a:solidFill>
                  <a:srgbClr val="6A6D70"/>
                </a:solidFill>
                <a:latin typeface="Courier New"/>
              </a:rPr>
              <a:t>PORTAGE · MIGRATION ACCELERATOR</a:t>
            </a:r>
          </a:p>
        </p:txBody>
      </p:sp>
      <p:sp>
        <p:nvSpPr>
          <p:cNvPr id="14" name="TextBox 13"/>
          <p:cNvSpPr txBox="1"/>
          <p:nvPr/>
        </p:nvSpPr>
        <p:spPr>
          <a:xfrm>
            <a:off x="8074151" y="7296912"/>
            <a:ext cx="1828800" cy="228600"/>
          </a:xfrm>
          <a:prstGeom prst="rect">
            <a:avLst/>
          </a:prstGeom>
          <a:noFill/>
        </p:spPr>
        <p:txBody>
          <a:bodyPr wrap="square" anchor="t" lIns="0" rIns="0" tIns="0" bIns="0">
            <a:spAutoFit/>
          </a:bodyPr>
          <a:lstStyle/>
          <a:p>
            <a:pPr algn="r">
              <a:lnSpc>
                <a:spcPct val="108000"/>
              </a:lnSpc>
              <a:spcBef>
                <a:spcPts val="0"/>
              </a:spcBef>
              <a:spcAft>
                <a:spcPts val="300"/>
              </a:spcAft>
            </a:pPr>
            <a:r>
              <a:rPr sz="800" b="0" i="0" spc="120">
                <a:solidFill>
                  <a:srgbClr val="6A6D70"/>
                </a:solidFill>
                <a:latin typeface="Courier New"/>
              </a:rPr>
              <a:t>10 / 10</a:t>
            </a:r>
          </a:p>
        </p:txBody>
      </p:sp>
      <p:sp>
        <p:nvSpPr>
          <p:cNvPr id="15" name="Oval 14"/>
          <p:cNvSpPr/>
          <p:nvPr/>
        </p:nvSpPr>
        <p:spPr>
          <a:xfrm>
            <a:off x="9957815" y="7319772"/>
            <a:ext cx="82296" cy="82296"/>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