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0689336" cy="756208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89336" cy="75620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223760" y="640080"/>
            <a:ext cx="4480560" cy="4480560"/>
          </a:xfrm>
          <a:prstGeom prst="ellipse">
            <a:avLst/>
          </a:prstGeom>
          <a:noFill/>
          <a:ln w="19050">
            <a:solidFill>
              <a:srgbClr val="86BC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3108960"/>
            <a:ext cx="2926080" cy="2926080"/>
          </a:xfrm>
          <a:prstGeom prst="ellipse">
            <a:avLst/>
          </a:prstGeom>
          <a:noFill/>
          <a:ln w="12700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967728" y="932688"/>
            <a:ext cx="292608" cy="292608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03504" y="493776"/>
            <a:ext cx="118872" cy="118872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438912"/>
            <a:ext cx="920800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 spc="200">
                <a:solidFill>
                  <a:srgbClr val="53565A"/>
                </a:solidFill>
                <a:latin typeface="Courier New"/>
              </a:rPr>
              <a:t>MIGRATION ACCELERATOR · EXECUTIVE OVERVIEW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" y="1280160"/>
            <a:ext cx="69494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E0E0E"/>
                </a:solidFill>
                <a:latin typeface="Arial"/>
              </a:rPr>
              <a:t>SAP Hybris to Salesforce.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E0E0E"/>
                </a:solidFill>
                <a:latin typeface="Arial"/>
              </a:rPr>
              <a:t>Migrated by AI. Proven to run</a:t>
            </a:r>
            <a:r>
              <a:rPr sz="3400" b="1" i="0">
                <a:solidFill>
                  <a:srgbClr val="86BC25"/>
                </a:solidFill>
                <a:latin typeface="Arial"/>
              </a:rPr>
              <a:t>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" y="2606040"/>
            <a:ext cx="868680" cy="73152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" y="2880360"/>
            <a:ext cx="6492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3565A"/>
                </a:solidFill>
                <a:latin typeface="Arial"/>
              </a:rPr>
              <a:t>Migrating a complete Hybris estate is a multi-month program. This accelerator removes the biggest bottleneck — it uses AI to do the manual code-move, and then proves the result actually works, before your experts spend a minute on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" y="4343400"/>
            <a:ext cx="1564538" cy="384048"/>
          </a:xfrm>
          <a:prstGeom prst="rect">
            <a:avLst/>
          </a:prstGeom>
          <a:noFill/>
          <a:ln w="19050">
            <a:solidFill>
              <a:srgbClr val="A962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" y="4343400"/>
            <a:ext cx="1564538" cy="3840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A9622F"/>
                </a:solidFill>
                <a:latin typeface="Courier New"/>
              </a:rPr>
              <a:t>SAP HYBRIS · JAVA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68042" y="4343400"/>
            <a:ext cx="4572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8F9296"/>
                </a:solidFill>
                <a:latin typeface="Arial"/>
              </a:rPr>
              <a:t>──▶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25242" y="4343400"/>
            <a:ext cx="1260957" cy="384048"/>
          </a:xfrm>
          <a:prstGeom prst="rect">
            <a:avLst/>
          </a:prstGeom>
          <a:noFill/>
          <a:ln w="19050">
            <a:solidFill>
              <a:srgbClr val="0E0E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25242" y="4343400"/>
            <a:ext cx="1260957" cy="3840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0E0E0E"/>
                </a:solidFill>
                <a:latin typeface="Courier New"/>
              </a:rPr>
              <a:t>AI AGENT TEAM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86200" y="4343400"/>
            <a:ext cx="4572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8F9296"/>
                </a:solidFill>
                <a:latin typeface="Arial"/>
              </a:rPr>
              <a:t>──▶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4343400"/>
            <a:ext cx="1564538" cy="384048"/>
          </a:xfrm>
          <a:prstGeom prst="rect">
            <a:avLst/>
          </a:prstGeom>
          <a:noFill/>
          <a:ln w="19050">
            <a:solidFill>
              <a:srgbClr val="007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43400" y="4343400"/>
            <a:ext cx="1564538" cy="3840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007CB0"/>
                </a:solidFill>
                <a:latin typeface="Courier New"/>
              </a:rPr>
              <a:t>SALESFORCE · APEX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" y="5166360"/>
            <a:ext cx="2137867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5166360"/>
            <a:ext cx="1863547" cy="34747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3565A"/>
                </a:solidFill>
                <a:latin typeface="Courier New"/>
              </a:rPr>
              <a:t>VS Code extension </a:t>
            </a:r>
            <a:r>
              <a:rPr sz="900" b="1" i="0">
                <a:solidFill>
                  <a:srgbClr val="0E0E0E"/>
                </a:solidFill>
                <a:latin typeface="Courier New"/>
              </a:rPr>
              <a:t>+ CLI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24251" y="5166360"/>
            <a:ext cx="245242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61411" y="5166360"/>
            <a:ext cx="2178100" cy="34747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3565A"/>
                </a:solidFill>
                <a:latin typeface="Courier New"/>
              </a:rPr>
              <a:t>Powered by </a:t>
            </a:r>
            <a:r>
              <a:rPr sz="900" b="1" i="0">
                <a:solidFill>
                  <a:srgbClr val="0E0E0E"/>
                </a:solidFill>
                <a:latin typeface="Courier New"/>
              </a:rPr>
              <a:t>Anthropic Claude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559552" y="5166360"/>
            <a:ext cx="2845612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96712" y="5166360"/>
            <a:ext cx="2571292" cy="34747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0E0E0E"/>
                </a:solidFill>
                <a:latin typeface="Courier New"/>
              </a:rPr>
              <a:t>63</a:t>
            </a:r>
            <a:r>
              <a:rPr sz="900" b="0" i="0">
                <a:solidFill>
                  <a:srgbClr val="53565A"/>
                </a:solidFill>
                <a:latin typeface="Courier New"/>
              </a:rPr>
              <a:t> automated tests · all passing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" y="7296912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H2A MIGRATOR · ACCELERATOR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74151" y="7296912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01 / 10</a:t>
            </a:r>
          </a:p>
        </p:txBody>
      </p:sp>
      <p:sp>
        <p:nvSpPr>
          <p:cNvPr id="27" name="Oval 26"/>
          <p:cNvSpPr/>
          <p:nvPr/>
        </p:nvSpPr>
        <p:spPr>
          <a:xfrm>
            <a:off x="9957815" y="7319772"/>
            <a:ext cx="82296" cy="82296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89336" cy="75620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03504" y="493776"/>
            <a:ext cx="118872" cy="118872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" y="438912"/>
            <a:ext cx="920800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 spc="200">
                <a:solidFill>
                  <a:srgbClr val="53565A"/>
                </a:solidFill>
                <a:latin typeface="Courier New"/>
              </a:rPr>
              <a:t>01 · 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822960"/>
            <a:ext cx="948232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E0E0E"/>
                </a:solidFill>
                <a:latin typeface="Arial"/>
              </a:rPr>
              <a:t>A full Hybris migration by hand is slow, expensive —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E0E0E"/>
                </a:solidFill>
                <a:latin typeface="Arial"/>
              </a:rPr>
              <a:t>and it quietly loses business logic</a:t>
            </a:r>
            <a:r>
              <a:rPr sz="2500" b="1" i="0">
                <a:solidFill>
                  <a:srgbClr val="86BC25"/>
                </a:solidFill>
                <a:latin typeface="Arial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1664208"/>
            <a:ext cx="9482328" cy="18288"/>
          </a:xfrm>
          <a:prstGeom prst="rect">
            <a:avLst/>
          </a:prstGeom>
          <a:solidFill>
            <a:srgbClr val="D2D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7296912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H2A MIGRATOR · ACCELERATOR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74151" y="7296912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02 / 10</a:t>
            </a:r>
          </a:p>
        </p:txBody>
      </p:sp>
      <p:sp>
        <p:nvSpPr>
          <p:cNvPr id="9" name="Oval 8"/>
          <p:cNvSpPr/>
          <p:nvPr/>
        </p:nvSpPr>
        <p:spPr>
          <a:xfrm>
            <a:off x="9957815" y="7319772"/>
            <a:ext cx="82296" cy="82296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3504" y="2039112"/>
            <a:ext cx="2965703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3504" y="2039112"/>
            <a:ext cx="2965703" cy="50292"/>
          </a:xfrm>
          <a:prstGeom prst="rect">
            <a:avLst/>
          </a:prstGeom>
          <a:solidFill>
            <a:srgbClr val="B3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286000"/>
            <a:ext cx="252679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B3282D"/>
                </a:solidFill>
                <a:latin typeface="Arial"/>
              </a:rPr>
              <a:t>Months →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27832"/>
            <a:ext cx="2526791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3565A"/>
                </a:solidFill>
                <a:latin typeface="Arial"/>
              </a:rPr>
              <a:t>A complete Hybris estate holds hundreds of Java classes, a custom data model, live data, and scheduled jobs. Rewriting it manually is measured in quarters — often years.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61815" y="2039112"/>
            <a:ext cx="2965703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861815" y="2039112"/>
            <a:ext cx="2965703" cy="50292"/>
          </a:xfrm>
          <a:prstGeom prst="rect">
            <a:avLst/>
          </a:prstGeom>
          <a:solidFill>
            <a:srgbClr val="B3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81271" y="2286000"/>
            <a:ext cx="252679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B3282D"/>
                </a:solidFill>
                <a:latin typeface="Arial"/>
              </a:rPr>
              <a:t>Rare, costly experts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81271" y="3227832"/>
            <a:ext cx="2526791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3565A"/>
                </a:solidFill>
                <a:latin typeface="Arial"/>
              </a:rPr>
              <a:t>It needs engineers senior in both Hybris and Salesforce — one of the scarcest, most expensive skill combinations in the market.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20127" y="2039112"/>
            <a:ext cx="2965703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120127" y="2039112"/>
            <a:ext cx="2965703" cy="50292"/>
          </a:xfrm>
          <a:prstGeom prst="rect">
            <a:avLst/>
          </a:prstGeom>
          <a:solidFill>
            <a:srgbClr val="B3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39583" y="2286000"/>
            <a:ext cx="252679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B3282D"/>
                </a:solidFill>
                <a:latin typeface="Arial"/>
              </a:rPr>
              <a:t>Silent logic loss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39583" y="3227832"/>
            <a:ext cx="2526791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3565A"/>
                </a:solidFill>
                <a:latin typeface="Arial"/>
              </a:rPr>
              <a:t>Rules like “never accept a zero-value order” vanish during a manual rewrite. Nobody notices — until it breaks in production.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3504" y="6455664"/>
            <a:ext cx="9482328" cy="713232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3504" y="6455664"/>
            <a:ext cx="64008" cy="713232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536" y="6565392"/>
            <a:ext cx="8979407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 spc="140">
                <a:solidFill>
                  <a:srgbClr val="046A38"/>
                </a:solidFill>
                <a:latin typeface="Courier New"/>
              </a:rPr>
              <a:t>IN PLAIN WORDS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427"/>
                </a:solidFill>
                <a:latin typeface="Arial"/>
              </a:rPr>
              <a:t>Rewriting an old system by hand is like retyping a 1,000-page contract from memory — slow, and the fine print is what gets lost.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89336" cy="7562088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03504" y="493776"/>
            <a:ext cx="118872" cy="118872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" y="438912"/>
            <a:ext cx="920800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 spc="200">
                <a:solidFill>
                  <a:srgbClr val="53565A"/>
                </a:solidFill>
                <a:latin typeface="Courier New"/>
              </a:rPr>
              <a:t>02 · THE ACCELERATOR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822960"/>
            <a:ext cx="948232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E0E0E"/>
                </a:solidFill>
                <a:latin typeface="Arial"/>
              </a:rPr>
              <a:t>Point it at the old code.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E0E0E"/>
                </a:solidFill>
                <a:latin typeface="Arial"/>
              </a:rPr>
              <a:t>Get a verified Salesforce project back</a:t>
            </a:r>
            <a:r>
              <a:rPr sz="2600" b="1" i="0">
                <a:solidFill>
                  <a:srgbClr val="86BC25"/>
                </a:solidFill>
                <a:latin typeface="Arial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1664208"/>
            <a:ext cx="9482328" cy="18288"/>
          </a:xfrm>
          <a:prstGeom prst="rect">
            <a:avLst/>
          </a:prstGeom>
          <a:solidFill>
            <a:srgbClr val="D2D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7296912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H2A MIGRATOR · ACCELERATOR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74151" y="7296912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03 / 10</a:t>
            </a:r>
          </a:p>
        </p:txBody>
      </p:sp>
      <p:sp>
        <p:nvSpPr>
          <p:cNvPr id="9" name="Oval 8"/>
          <p:cNvSpPr/>
          <p:nvPr/>
        </p:nvSpPr>
        <p:spPr>
          <a:xfrm>
            <a:off x="9957815" y="7319772"/>
            <a:ext cx="82296" cy="82296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3504" y="2221992"/>
            <a:ext cx="3977639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3504" y="2221992"/>
            <a:ext cx="3977639" cy="50292"/>
          </a:xfrm>
          <a:prstGeom prst="rect">
            <a:avLst/>
          </a:prstGeom>
          <a:solidFill>
            <a:srgbClr val="A96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2478024"/>
            <a:ext cx="35204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0E0E0E"/>
                </a:solidFill>
                <a:latin typeface="Arial"/>
              </a:rPr>
              <a:t>IN — a Hybris codebase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" y="2953512"/>
            <a:ext cx="3520439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A9622F"/>
                </a:solidFill>
                <a:latin typeface="Arial"/>
              </a:rPr>
              <a:t>—  </a:t>
            </a:r>
            <a:r>
              <a:rPr sz="1150" b="0" i="0">
                <a:solidFill>
                  <a:srgbClr val="53565A"/>
                </a:solidFill>
                <a:latin typeface="Arial"/>
              </a:rPr>
              <a:t>Java business logic (orders, customers, pricing…)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A9622F"/>
                </a:solidFill>
                <a:latin typeface="Arial"/>
              </a:rPr>
              <a:t>—  </a:t>
            </a:r>
            <a:r>
              <a:rPr sz="1150" b="0" i="0">
                <a:solidFill>
                  <a:srgbClr val="53565A"/>
                </a:solidFill>
                <a:latin typeface="Arial"/>
              </a:rPr>
              <a:t>The data model (items.xml)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A9622F"/>
                </a:solidFill>
                <a:latin typeface="Arial"/>
              </a:rPr>
              <a:t>—  </a:t>
            </a:r>
            <a:r>
              <a:rPr sz="1150" b="0" i="0">
                <a:solidFill>
                  <a:srgbClr val="53565A"/>
                </a:solidFill>
                <a:latin typeface="Arial"/>
              </a:rPr>
              <a:t>Actual data records (ImpEx files)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A9622F"/>
                </a:solidFill>
                <a:latin typeface="Arial"/>
              </a:rPr>
              <a:t>—  </a:t>
            </a:r>
            <a:r>
              <a:rPr sz="1150" b="0" i="0">
                <a:solidFill>
                  <a:srgbClr val="53565A"/>
                </a:solidFill>
                <a:latin typeface="Arial"/>
              </a:rPr>
              <a:t>Scheduled jobs (cronjobs + triggers)</a:t>
            </a:r>
          </a:p>
        </p:txBody>
      </p:sp>
      <p:sp>
        <p:nvSpPr>
          <p:cNvPr id="14" name="Oval 13"/>
          <p:cNvSpPr/>
          <p:nvPr/>
        </p:nvSpPr>
        <p:spPr>
          <a:xfrm>
            <a:off x="4887468" y="3227832"/>
            <a:ext cx="914400" cy="914400"/>
          </a:xfrm>
          <a:prstGeom prst="ellipse">
            <a:avLst/>
          </a:prstGeom>
          <a:solidFill>
            <a:srgbClr val="0E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87468" y="3227832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FFFFFF"/>
                </a:solidFill>
                <a:latin typeface="Courier New"/>
              </a:rPr>
              <a:t>AI AGENT
TEAM</a:t>
            </a:r>
          </a:p>
        </p:txBody>
      </p:sp>
      <p:sp>
        <p:nvSpPr>
          <p:cNvPr id="16" name="Oval 15"/>
          <p:cNvSpPr/>
          <p:nvPr/>
        </p:nvSpPr>
        <p:spPr>
          <a:xfrm>
            <a:off x="5637276" y="3886200"/>
            <a:ext cx="109728" cy="109728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7428" y="4279392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8F9296"/>
                </a:solidFill>
                <a:latin typeface="Courier New"/>
              </a:rPr>
              <a:t>MINUTES–HOURS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08192" y="2221992"/>
            <a:ext cx="3977639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08192" y="2221992"/>
            <a:ext cx="3977639" cy="50292"/>
          </a:xfrm>
          <a:prstGeom prst="rect">
            <a:avLst/>
          </a:prstGeom>
          <a:solidFill>
            <a:srgbClr val="007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64224" y="2478024"/>
            <a:ext cx="35204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0E0E0E"/>
                </a:solidFill>
                <a:latin typeface="Arial"/>
              </a:rPr>
              <a:t>OUT — deployable Salesforce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4224" y="2953512"/>
            <a:ext cx="3520439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007CB0"/>
                </a:solidFill>
                <a:latin typeface="Arial"/>
              </a:rPr>
              <a:t>—  </a:t>
            </a:r>
            <a:r>
              <a:rPr sz="1150" b="0" i="0">
                <a:solidFill>
                  <a:srgbClr val="53565A"/>
                </a:solidFill>
                <a:latin typeface="Arial"/>
              </a:rPr>
              <a:t>Apex code in Salesforce enterprise patterns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007CB0"/>
                </a:solidFill>
                <a:latin typeface="Arial"/>
              </a:rPr>
              <a:t>—  </a:t>
            </a:r>
            <a:r>
              <a:rPr sz="1150" b="0" i="0">
                <a:solidFill>
                  <a:srgbClr val="53565A"/>
                </a:solidFill>
                <a:latin typeface="Arial"/>
              </a:rPr>
              <a:t>A test class for every class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007CB0"/>
                </a:solidFill>
                <a:latin typeface="Arial"/>
              </a:rPr>
              <a:t>—  </a:t>
            </a:r>
            <a:r>
              <a:rPr sz="1150" b="0" i="0">
                <a:solidFill>
                  <a:srgbClr val="53565A"/>
                </a:solidFill>
                <a:latin typeface="Arial"/>
              </a:rPr>
              <a:t>Data model, data &amp; schedules — migrated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007CB0"/>
                </a:solidFill>
                <a:latin typeface="Arial"/>
              </a:rPr>
              <a:t>—  </a:t>
            </a:r>
            <a:r>
              <a:rPr sz="1150" b="0" i="0">
                <a:solidFill>
                  <a:srgbClr val="53565A"/>
                </a:solidFill>
                <a:latin typeface="Arial"/>
              </a:rPr>
              <a:t>Confidence report: what to trust, what to review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3504" y="6455664"/>
            <a:ext cx="9482328" cy="713232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3504" y="6455664"/>
            <a:ext cx="64008" cy="713232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536" y="6565392"/>
            <a:ext cx="8979407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 spc="140">
                <a:solidFill>
                  <a:srgbClr val="046A38"/>
                </a:solidFill>
                <a:latin typeface="Courier New"/>
              </a:rPr>
              <a:t>WHY IT MATTERS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427"/>
                </a:solidFill>
                <a:latin typeface="Arial"/>
              </a:rPr>
              <a:t>The full migration is still a program — but the code-move stops being the bottleneck. The accelerator does the grind with AI intelligence; your experts review a scored draft instead of rewriting from scratch.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89336" cy="75620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03504" y="493776"/>
            <a:ext cx="118872" cy="118872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" y="438912"/>
            <a:ext cx="920800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 spc="200">
                <a:solidFill>
                  <a:srgbClr val="53565A"/>
                </a:solidFill>
                <a:latin typeface="Courier New"/>
              </a:rPr>
              <a:t>03 ·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822960"/>
            <a:ext cx="948232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E0E0E"/>
                </a:solidFill>
                <a:latin typeface="Arial"/>
              </a:rPr>
              <a:t>Four layers, one engine</a:t>
            </a:r>
            <a:r>
              <a:rPr sz="3000" b="1" i="0">
                <a:solidFill>
                  <a:srgbClr val="86BC25"/>
                </a:solidFill>
                <a:latin typeface="Arial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1664208"/>
            <a:ext cx="9482328" cy="18288"/>
          </a:xfrm>
          <a:prstGeom prst="rect">
            <a:avLst/>
          </a:prstGeom>
          <a:solidFill>
            <a:srgbClr val="D2D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7296912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H2A MIGRATOR · ACCELERATOR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74151" y="7296912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04 / 10</a:t>
            </a:r>
          </a:p>
        </p:txBody>
      </p:sp>
      <p:sp>
        <p:nvSpPr>
          <p:cNvPr id="9" name="Oval 8"/>
          <p:cNvSpPr/>
          <p:nvPr/>
        </p:nvSpPr>
        <p:spPr>
          <a:xfrm>
            <a:off x="9957815" y="7319772"/>
            <a:ext cx="82296" cy="82296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3504" y="1947672"/>
            <a:ext cx="9482328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3504" y="1947672"/>
            <a:ext cx="1783080" cy="786384"/>
          </a:xfrm>
          <a:prstGeom prst="rect">
            <a:avLst/>
          </a:prstGeom>
          <a:solidFill>
            <a:srgbClr val="0E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1947672"/>
            <a:ext cx="155448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 spc="80">
                <a:solidFill>
                  <a:srgbClr val="FFFFFF"/>
                </a:solidFill>
                <a:latin typeface="Courier New"/>
              </a:rPr>
              <a:t>INTERFACES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69464" y="2167128"/>
            <a:ext cx="2126894" cy="347472"/>
          </a:xfrm>
          <a:prstGeom prst="rect">
            <a:avLst/>
          </a:prstGeom>
          <a:solidFill>
            <a:srgbClr val="F3F3F1"/>
          </a:solidFill>
          <a:ln w="6350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60904" y="2167128"/>
            <a:ext cx="194401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E0E0E"/>
                </a:solidFill>
                <a:latin typeface="Arial"/>
              </a:rPr>
              <a:t>VS Code extension — right-click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24374" y="2167128"/>
            <a:ext cx="1704441" cy="347472"/>
          </a:xfrm>
          <a:prstGeom prst="rect">
            <a:avLst/>
          </a:prstGeom>
          <a:solidFill>
            <a:srgbClr val="F3F3F1"/>
          </a:solidFill>
          <a:ln w="6350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15814" y="2167128"/>
            <a:ext cx="1521561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E0E0E"/>
                </a:solidFill>
                <a:latin typeface="Arial"/>
              </a:rPr>
              <a:t>Command line — for CI/CD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56832" y="2167128"/>
            <a:ext cx="1825142" cy="347472"/>
          </a:xfrm>
          <a:prstGeom prst="rect">
            <a:avLst/>
          </a:prstGeom>
          <a:solidFill>
            <a:srgbClr val="F3F3F1"/>
          </a:solidFill>
          <a:ln w="6350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48272" y="2167128"/>
            <a:ext cx="164226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E0E0E"/>
                </a:solidFill>
                <a:latin typeface="Arial"/>
              </a:rPr>
              <a:t>both drive the same engine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" y="2715768"/>
            <a:ext cx="9482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8F9296"/>
                </a:solidFill>
                <a:latin typeface="Arial"/>
              </a:rPr>
              <a:t>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504" y="2953512"/>
            <a:ext cx="9482328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3504" y="2953512"/>
            <a:ext cx="1783080" cy="786384"/>
          </a:xfrm>
          <a:prstGeom prst="rect">
            <a:avLst/>
          </a:prstGeom>
          <a:solidFill>
            <a:srgbClr val="046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2953512"/>
            <a:ext cx="155448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 spc="80">
                <a:solidFill>
                  <a:srgbClr val="FFFFFF"/>
                </a:solidFill>
                <a:latin typeface="Courier New"/>
              </a:rPr>
              <a:t>ORCHESTRATION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569464" y="3172968"/>
            <a:ext cx="3394252" cy="347472"/>
          </a:xfrm>
          <a:prstGeom prst="rect">
            <a:avLst/>
          </a:prstGeom>
          <a:solidFill>
            <a:srgbClr val="F3F3F1"/>
          </a:solidFill>
          <a:ln w="6350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60904" y="3172968"/>
            <a:ext cx="32113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E0E0E"/>
                </a:solidFill>
                <a:latin typeface="Arial"/>
              </a:rPr>
              <a:t>Agentic mode — Planner · Builder · Critic · Verifier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1732" y="3172968"/>
            <a:ext cx="2488996" cy="347472"/>
          </a:xfrm>
          <a:prstGeom prst="rect">
            <a:avLst/>
          </a:prstGeom>
          <a:solidFill>
            <a:srgbClr val="F3F3F1"/>
          </a:solidFill>
          <a:ln w="6350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83172" y="3172968"/>
            <a:ext cx="230611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E0E0E"/>
                </a:solidFill>
                <a:latin typeface="Arial"/>
              </a:rPr>
              <a:t>Linear mode — fixed 10-stage pipeline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3504" y="3721608"/>
            <a:ext cx="9482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8F9296"/>
                </a:solidFill>
                <a:latin typeface="Arial"/>
              </a:rPr>
              <a:t>▼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" y="3959352"/>
            <a:ext cx="9482328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03504" y="3959352"/>
            <a:ext cx="1783080" cy="786384"/>
          </a:xfrm>
          <a:prstGeom prst="rect">
            <a:avLst/>
          </a:prstGeom>
          <a:solidFill>
            <a:srgbClr val="0E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9808" y="3959352"/>
            <a:ext cx="155448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 spc="80">
                <a:solidFill>
                  <a:srgbClr val="FFFFFF"/>
                </a:solidFill>
                <a:latin typeface="Courier New"/>
              </a:rPr>
              <a:t>SHARED STAGE FUNCTIONS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569464" y="4178807"/>
            <a:ext cx="859536" cy="347472"/>
          </a:xfrm>
          <a:prstGeom prst="rect">
            <a:avLst/>
          </a:prstGeom>
          <a:solidFill>
            <a:srgbClr val="F3F3F1"/>
          </a:solidFill>
          <a:ln w="6350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660904" y="4178807"/>
            <a:ext cx="67665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E0E0E"/>
                </a:solidFill>
                <a:latin typeface="Arial"/>
              </a:rPr>
              <a:t>parse Java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57016" y="4178807"/>
            <a:ext cx="1040587" cy="347472"/>
          </a:xfrm>
          <a:prstGeom prst="rect">
            <a:avLst/>
          </a:prstGeom>
          <a:solidFill>
            <a:srgbClr val="F3F3F1"/>
          </a:solidFill>
          <a:ln w="6350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48456" y="4178807"/>
            <a:ext cx="857707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E0E0E"/>
                </a:solidFill>
                <a:latin typeface="Arial"/>
              </a:rPr>
              <a:t>derive schema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725619" y="4178807"/>
            <a:ext cx="1040587" cy="347472"/>
          </a:xfrm>
          <a:prstGeom prst="rect">
            <a:avLst/>
          </a:prstGeom>
          <a:solidFill>
            <a:srgbClr val="F3F3F1"/>
          </a:solidFill>
          <a:ln w="6350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817059" y="4178807"/>
            <a:ext cx="857707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E0E0E"/>
                </a:solidFill>
                <a:latin typeface="Arial"/>
              </a:rPr>
              <a:t>generate Apex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94222" y="4178807"/>
            <a:ext cx="1281988" cy="347472"/>
          </a:xfrm>
          <a:prstGeom prst="rect">
            <a:avLst/>
          </a:prstGeom>
          <a:solidFill>
            <a:srgbClr val="F3F3F1"/>
          </a:solidFill>
          <a:ln w="6350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85662" y="4178807"/>
            <a:ext cx="10991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E0E0E"/>
                </a:solidFill>
                <a:latin typeface="Arial"/>
              </a:rPr>
              <a:t>validate &amp; repair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304227" y="4178807"/>
            <a:ext cx="919886" cy="347472"/>
          </a:xfrm>
          <a:prstGeom prst="rect">
            <a:avLst/>
          </a:prstGeom>
          <a:solidFill>
            <a:srgbClr val="F3F3F1"/>
          </a:solidFill>
          <a:ln w="6350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95667" y="4178807"/>
            <a:ext cx="73700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E0E0E"/>
                </a:solidFill>
                <a:latin typeface="Arial"/>
              </a:rPr>
              <a:t>data · jobs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352129" y="4178807"/>
            <a:ext cx="1161288" cy="347472"/>
          </a:xfrm>
          <a:prstGeom prst="rect">
            <a:avLst/>
          </a:prstGeom>
          <a:solidFill>
            <a:srgbClr val="F3F3F1"/>
          </a:solidFill>
          <a:ln w="6350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43569" y="4178807"/>
            <a:ext cx="9784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E0E0E"/>
                </a:solidFill>
                <a:latin typeface="Arial"/>
              </a:rPr>
              <a:t>verify · report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3504" y="4727448"/>
            <a:ext cx="9482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8F9296"/>
                </a:solidFill>
                <a:latin typeface="Arial"/>
              </a:rPr>
              <a:t>▼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3504" y="4965192"/>
            <a:ext cx="9482328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03504" y="4965192"/>
            <a:ext cx="1783080" cy="786384"/>
          </a:xfrm>
          <a:prstGeom prst="rect">
            <a:avLst/>
          </a:prstGeom>
          <a:solidFill>
            <a:srgbClr val="0E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49808" y="4965192"/>
            <a:ext cx="155448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 spc="80">
                <a:solidFill>
                  <a:srgbClr val="FFFFFF"/>
                </a:solidFill>
                <a:latin typeface="Courier New"/>
              </a:rPr>
              <a:t>AI PROVIDERS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569464" y="5184647"/>
            <a:ext cx="2126894" cy="347472"/>
          </a:xfrm>
          <a:prstGeom prst="rect">
            <a:avLst/>
          </a:prstGeom>
          <a:solidFill>
            <a:srgbClr val="F3F3F1"/>
          </a:solidFill>
          <a:ln w="6350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660904" y="5184647"/>
            <a:ext cx="194401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E0E0E"/>
                </a:solidFill>
                <a:latin typeface="Arial"/>
              </a:rPr>
              <a:t>Anthropic Claude — best quality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824374" y="5184647"/>
            <a:ext cx="1945843" cy="347472"/>
          </a:xfrm>
          <a:prstGeom prst="rect">
            <a:avLst/>
          </a:prstGeom>
          <a:solidFill>
            <a:srgbClr val="F3F3F1"/>
          </a:solidFill>
          <a:ln w="6350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915814" y="5184647"/>
            <a:ext cx="1762963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E0E0E"/>
                </a:solidFill>
                <a:latin typeface="Arial"/>
              </a:rPr>
              <a:t>OpenRouter — cheap iteration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898233" y="5184647"/>
            <a:ext cx="2368296" cy="347472"/>
          </a:xfrm>
          <a:prstGeom prst="rect">
            <a:avLst/>
          </a:prstGeom>
          <a:solidFill>
            <a:srgbClr val="F3F3F1"/>
          </a:solidFill>
          <a:ln w="6350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989673" y="5184647"/>
            <a:ext cx="2185415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E0E0E"/>
                </a:solidFill>
                <a:latin typeface="Arial"/>
              </a:rPr>
              <a:t>Mock — free, offline, zero exposure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03504" y="6455664"/>
            <a:ext cx="9482328" cy="713232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03504" y="6455664"/>
            <a:ext cx="64008" cy="713232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59536" y="6565392"/>
            <a:ext cx="8979407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 spc="140">
                <a:solidFill>
                  <a:srgbClr val="046A38"/>
                </a:solidFill>
                <a:latin typeface="Courier New"/>
              </a:rPr>
              <a:t>IN PLAIN WORDS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427"/>
                </a:solidFill>
                <a:latin typeface="Arial"/>
              </a:rPr>
              <a:t>Two “driving modes” — a smart agent team, or a simple assembly line — share the same proven tools underneath. And the AI brain is swappable, including a free offline one for zero-exposure evaluation.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89336" cy="7562088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03504" y="493776"/>
            <a:ext cx="118872" cy="118872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" y="438912"/>
            <a:ext cx="920800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 spc="200">
                <a:solidFill>
                  <a:srgbClr val="53565A"/>
                </a:solidFill>
                <a:latin typeface="Courier New"/>
              </a:rPr>
              <a:t>04 · THE AI AGENT 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822960"/>
            <a:ext cx="948232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E0E0E"/>
                </a:solidFill>
                <a:latin typeface="Arial"/>
              </a:rPr>
              <a:t>A manager, a shared whiteboard, and four specialists</a:t>
            </a:r>
            <a:r>
              <a:rPr sz="2600" b="1" i="0">
                <a:solidFill>
                  <a:srgbClr val="86BC25"/>
                </a:solidFill>
                <a:latin typeface="Arial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1664208"/>
            <a:ext cx="9482328" cy="18288"/>
          </a:xfrm>
          <a:prstGeom prst="rect">
            <a:avLst/>
          </a:prstGeom>
          <a:solidFill>
            <a:srgbClr val="D2D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7296912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H2A MIGRATOR · ACCELERATOR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74151" y="7296912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05 / 10</a:t>
            </a:r>
          </a:p>
        </p:txBody>
      </p:sp>
      <p:sp>
        <p:nvSpPr>
          <p:cNvPr id="9" name="Oval 8"/>
          <p:cNvSpPr/>
          <p:nvPr/>
        </p:nvSpPr>
        <p:spPr>
          <a:xfrm>
            <a:off x="9957815" y="7319772"/>
            <a:ext cx="82296" cy="82296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3504" y="1993392"/>
            <a:ext cx="9482328" cy="475488"/>
          </a:xfrm>
          <a:prstGeom prst="rect">
            <a:avLst/>
          </a:prstGeom>
          <a:solidFill>
            <a:srgbClr val="0E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" y="1993392"/>
            <a:ext cx="948232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Orchestrator   </a:t>
            </a:r>
            <a:r>
              <a:rPr sz="850" b="0" i="0" spc="100">
                <a:solidFill>
                  <a:srgbClr val="86BC25"/>
                </a:solidFill>
                <a:latin typeface="Courier New"/>
              </a:rPr>
              <a:t>ROUTES WORK · LOOPS UNTIL EVERYTHING IS VERIFIED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2478024"/>
            <a:ext cx="948232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8F9296"/>
                </a:solidFill>
                <a:latin typeface="Arial"/>
              </a:rPr>
              <a:t>▲   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" y="2670048"/>
            <a:ext cx="9482328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86BC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2670048"/>
            <a:ext cx="94823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46A38"/>
                </a:solidFill>
                <a:latin typeface="Arial"/>
              </a:rPr>
              <a:t>The Blackboard</a:t>
            </a:r>
            <a:r>
              <a:rPr sz="1050" b="0" i="0">
                <a:solidFill>
                  <a:srgbClr val="222427"/>
                </a:solidFill>
                <a:latin typeface="Arial"/>
              </a:rPr>
              <a:t> — shared state: schema · migration plan · artifacts · </a:t>
            </a:r>
            <a:r>
              <a:rPr sz="1050" b="1" i="0">
                <a:solidFill>
                  <a:srgbClr val="046A38"/>
                </a:solidFill>
                <a:latin typeface="Arial"/>
              </a:rPr>
              <a:t>decision log</a:t>
            </a:r>
            <a:r>
              <a:rPr sz="1050" b="0" i="0">
                <a:solidFill>
                  <a:srgbClr val="222427"/>
                </a:solidFill>
                <a:latin typeface="Arial"/>
              </a:rPr>
              <a:t> · open questions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" y="3154680"/>
            <a:ext cx="948232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8F9296"/>
                </a:solidFill>
                <a:latin typeface="Arial"/>
              </a:rPr>
              <a:t>▲   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3504" y="3383280"/>
            <a:ext cx="2205989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3504" y="3383280"/>
            <a:ext cx="2205989" cy="50292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593592"/>
            <a:ext cx="187680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 spc="80">
                <a:solidFill>
                  <a:srgbClr val="046A38"/>
                </a:solidFill>
                <a:latin typeface="Courier New"/>
              </a:rPr>
              <a:t>STRATEGY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3822191"/>
            <a:ext cx="187680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0E0E0E"/>
                </a:solidFill>
                <a:latin typeface="Arial"/>
              </a:rPr>
              <a:t>The Planner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" y="4187952"/>
            <a:ext cx="187680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0" i="0">
                <a:solidFill>
                  <a:srgbClr val="53565A"/>
                </a:solidFill>
                <a:latin typeface="Arial"/>
              </a:rPr>
              <a:t>Decides what becomes Apex, what should be a native Salesforce product, and what to skip — with a written rationale.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8096" y="5422392"/>
            <a:ext cx="36576" cy="548640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" y="5422392"/>
            <a:ext cx="174878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919" b="0" i="1">
                <a:solidFill>
                  <a:srgbClr val="222427"/>
                </a:solidFill>
                <a:latin typeface="Arial"/>
              </a:rPr>
              <a:t>“Pricing rules? That's CPQ — don't hand-build it.”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028950" y="3383280"/>
            <a:ext cx="2205989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028950" y="3383280"/>
            <a:ext cx="2205989" cy="50292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93542" y="3593592"/>
            <a:ext cx="187680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 spc="80">
                <a:solidFill>
                  <a:srgbClr val="046A38"/>
                </a:solidFill>
                <a:latin typeface="Courier New"/>
              </a:rPr>
              <a:t>EXECUTION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93542" y="3822191"/>
            <a:ext cx="187680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0E0E0E"/>
                </a:solidFill>
                <a:latin typeface="Arial"/>
              </a:rPr>
              <a:t>The Builder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93542" y="4187952"/>
            <a:ext cx="187680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0" i="0">
                <a:solidFill>
                  <a:srgbClr val="53565A"/>
                </a:solidFill>
                <a:latin typeface="Arial"/>
              </a:rPr>
              <a:t>Writes the Apex + a test class per class, grounded in your real data model and best practices.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193542" y="5422392"/>
            <a:ext cx="36576" cy="548640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303270" y="5422392"/>
            <a:ext cx="174878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919" b="0" i="1">
                <a:solidFill>
                  <a:srgbClr val="222427"/>
                </a:solidFill>
                <a:latin typeface="Arial"/>
              </a:rPr>
              <a:t>“Bulk-safe, secure, on pattern — like a senior dev.”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54396" y="3383280"/>
            <a:ext cx="2205989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54396" y="3383280"/>
            <a:ext cx="2205989" cy="50292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18988" y="3593592"/>
            <a:ext cx="187680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 spc="80">
                <a:solidFill>
                  <a:srgbClr val="046A38"/>
                </a:solidFill>
                <a:latin typeface="Courier New"/>
              </a:rPr>
              <a:t>QUALITY GATE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18988" y="3822191"/>
            <a:ext cx="187680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0E0E0E"/>
                </a:solidFill>
                <a:latin typeface="Arial"/>
              </a:rPr>
              <a:t>The Critic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18988" y="4187952"/>
            <a:ext cx="187680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0" i="0">
                <a:solidFill>
                  <a:srgbClr val="53565A"/>
                </a:solidFill>
                <a:latin typeface="Arial"/>
              </a:rPr>
              <a:t>Adversarially reviews every piece: is the original behavior preserved? Is it secure?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18988" y="5422392"/>
            <a:ext cx="36576" cy="548640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28716" y="5422392"/>
            <a:ext cx="174878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919" b="0" i="1">
                <a:solidFill>
                  <a:srgbClr val="222427"/>
                </a:solidFill>
                <a:latin typeface="Arial"/>
              </a:rPr>
              <a:t>“The zero-total rule got dropped — blocked.”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879842" y="3383280"/>
            <a:ext cx="2205989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879842" y="3383280"/>
            <a:ext cx="2205989" cy="50292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44433" y="3593592"/>
            <a:ext cx="187680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 spc="80">
                <a:solidFill>
                  <a:srgbClr val="046A38"/>
                </a:solidFill>
                <a:latin typeface="Courier New"/>
              </a:rPr>
              <a:t>PROOF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44433" y="3822191"/>
            <a:ext cx="187680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0E0E0E"/>
                </a:solidFill>
                <a:latin typeface="Arial"/>
              </a:rPr>
              <a:t>The Verifier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44433" y="4187952"/>
            <a:ext cx="187680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0" i="0">
                <a:solidFill>
                  <a:srgbClr val="53565A"/>
                </a:solidFill>
                <a:latin typeface="Arial"/>
              </a:rPr>
              <a:t>Deploys to a real org, reads real compiler errors, and heals them until green.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44433" y="5422392"/>
            <a:ext cx="36576" cy="548640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154162" y="5422392"/>
            <a:ext cx="174878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919" b="0" i="1">
                <a:solidFill>
                  <a:srgbClr val="222427"/>
                </a:solidFill>
                <a:latin typeface="Arial"/>
              </a:rPr>
              <a:t>“Not ‘looks right’ — it actually ran.”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3504" y="7296912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H2A MIGRATOR · ACCELERATOR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74151" y="7296912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05 / 10</a:t>
            </a:r>
          </a:p>
        </p:txBody>
      </p:sp>
      <p:sp>
        <p:nvSpPr>
          <p:cNvPr id="46" name="Oval 45"/>
          <p:cNvSpPr/>
          <p:nvPr/>
        </p:nvSpPr>
        <p:spPr>
          <a:xfrm>
            <a:off x="9957815" y="7319772"/>
            <a:ext cx="82296" cy="82296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89336" cy="75620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03504" y="493776"/>
            <a:ext cx="118872" cy="118872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" y="438912"/>
            <a:ext cx="920800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 spc="200">
                <a:solidFill>
                  <a:srgbClr val="53565A"/>
                </a:solidFill>
                <a:latin typeface="Courier New"/>
              </a:rPr>
              <a:t>05 · THE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822960"/>
            <a:ext cx="948232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E0E0E"/>
                </a:solidFill>
                <a:latin typeface="Arial"/>
              </a:rPr>
              <a:t>Ten stages, end to end</a:t>
            </a:r>
            <a:r>
              <a:rPr sz="3000" b="1" i="0">
                <a:solidFill>
                  <a:srgbClr val="86BC25"/>
                </a:solidFill>
                <a:latin typeface="Arial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1664208"/>
            <a:ext cx="9482328" cy="18288"/>
          </a:xfrm>
          <a:prstGeom prst="rect">
            <a:avLst/>
          </a:prstGeom>
          <a:solidFill>
            <a:srgbClr val="D2D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7296912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H2A MIGRATOR · ACCELERATOR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74151" y="7296912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06 / 10</a:t>
            </a:r>
          </a:p>
        </p:txBody>
      </p:sp>
      <p:sp>
        <p:nvSpPr>
          <p:cNvPr id="9" name="Oval 8"/>
          <p:cNvSpPr/>
          <p:nvPr/>
        </p:nvSpPr>
        <p:spPr>
          <a:xfrm>
            <a:off x="9957815" y="7319772"/>
            <a:ext cx="82296" cy="82296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3504" y="1947672"/>
            <a:ext cx="1735531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075688"/>
            <a:ext cx="146121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046A38"/>
                </a:solidFill>
                <a:latin typeface="Courier New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313432"/>
            <a:ext cx="1461211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E0E0E"/>
                </a:solidFill>
                <a:latin typeface="Arial"/>
              </a:rPr>
              <a:t>Crawl &amp; schedule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660904"/>
            <a:ext cx="146121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860" b="0" i="0">
                <a:solidFill>
                  <a:srgbClr val="53565A"/>
                </a:solidFill>
                <a:latin typeface="Arial"/>
              </a:rPr>
              <a:t>Group classes by domain; sort so dependencies convert first.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40203" y="1947672"/>
            <a:ext cx="1735531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86507" y="2075688"/>
            <a:ext cx="146121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046A38"/>
                </a:solidFill>
                <a:latin typeface="Courier New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86507" y="2313432"/>
            <a:ext cx="1461211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E0E0E"/>
                </a:solidFill>
                <a:latin typeface="Arial"/>
              </a:rPr>
              <a:t>Call graph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86507" y="2660904"/>
            <a:ext cx="146121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860" b="0" i="0">
                <a:solidFill>
                  <a:srgbClr val="53565A"/>
                </a:solidFill>
                <a:latin typeface="Arial"/>
              </a:rPr>
              <a:t>Map who-calls-whom for the visual dashboard.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76902" y="1947672"/>
            <a:ext cx="1735531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23206" y="2075688"/>
            <a:ext cx="146121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046A38"/>
                </a:solidFill>
                <a:latin typeface="Courier New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23206" y="2313432"/>
            <a:ext cx="1461211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E0E0E"/>
                </a:solidFill>
                <a:latin typeface="Arial"/>
              </a:rPr>
              <a:t>Ingest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23206" y="2660904"/>
            <a:ext cx="146121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860" b="0" i="0">
                <a:solidFill>
                  <a:srgbClr val="53565A"/>
                </a:solidFill>
                <a:latin typeface="Arial"/>
              </a:rPr>
              <a:t>Parse the Java and data-model definitions precisely.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13601" y="1947672"/>
            <a:ext cx="1735531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59905" y="2075688"/>
            <a:ext cx="146121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046A38"/>
                </a:solidFill>
                <a:latin typeface="Courier New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59905" y="2313432"/>
            <a:ext cx="1461211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E0E0E"/>
                </a:solidFill>
                <a:latin typeface="Arial"/>
              </a:rPr>
              <a:t>Derive schema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59905" y="2660904"/>
            <a:ext cx="146121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860" b="0" i="0">
                <a:solidFill>
                  <a:srgbClr val="53565A"/>
                </a:solidFill>
                <a:latin typeface="Arial"/>
              </a:rPr>
              <a:t>Build the target object/field catalog — the source of truth.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350300" y="1947672"/>
            <a:ext cx="1735531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96604" y="2075688"/>
            <a:ext cx="146121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046A38"/>
                </a:solidFill>
                <a:latin typeface="Courier New"/>
              </a:rPr>
              <a:t>05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628632" y="2066543"/>
            <a:ext cx="329184" cy="219456"/>
          </a:xfrm>
          <a:prstGeom prst="rect">
            <a:avLst/>
          </a:prstGeom>
          <a:solidFill>
            <a:srgbClr val="0E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28632" y="2057400"/>
            <a:ext cx="32918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FFFFFF"/>
                </a:solidFill>
                <a:latin typeface="Courier New"/>
              </a:rPr>
              <a:t>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96604" y="2313432"/>
            <a:ext cx="1461211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E0E0E"/>
                </a:solidFill>
                <a:latin typeface="Arial"/>
              </a:rPr>
              <a:t>Comprehend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96604" y="2660904"/>
            <a:ext cx="146121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860" b="0" i="0">
                <a:solidFill>
                  <a:srgbClr val="53565A"/>
                </a:solidFill>
                <a:latin typeface="Arial"/>
              </a:rPr>
              <a:t>AI summarises each class: purpose, queries, rules.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3504" y="3584448"/>
            <a:ext cx="1735531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3712463"/>
            <a:ext cx="146121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046A38"/>
                </a:solidFill>
                <a:latin typeface="Courier New"/>
              </a:rPr>
              <a:t>06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881835" y="3703320"/>
            <a:ext cx="329184" cy="219456"/>
          </a:xfrm>
          <a:prstGeom prst="rect">
            <a:avLst/>
          </a:prstGeom>
          <a:solidFill>
            <a:srgbClr val="0E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81835" y="3694176"/>
            <a:ext cx="32918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FFFFFF"/>
                </a:solidFill>
                <a:latin typeface="Courier New"/>
              </a:rPr>
              <a:t>AI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3950208"/>
            <a:ext cx="1461211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E0E0E"/>
                </a:solidFill>
                <a:latin typeface="Arial"/>
              </a:rPr>
              <a:t>Generate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8" y="4297680"/>
            <a:ext cx="146121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860" b="0" i="0">
                <a:solidFill>
                  <a:srgbClr val="53565A"/>
                </a:solidFill>
                <a:latin typeface="Arial"/>
              </a:rPr>
              <a:t>AI writes the Apex + tests, grounded in the schema.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40203" y="3584448"/>
            <a:ext cx="1735531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86507" y="3712463"/>
            <a:ext cx="146121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046A38"/>
                </a:solidFill>
                <a:latin typeface="Courier New"/>
              </a:rPr>
              <a:t>07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818534" y="3703320"/>
            <a:ext cx="329184" cy="219456"/>
          </a:xfrm>
          <a:prstGeom prst="rect">
            <a:avLst/>
          </a:prstGeom>
          <a:solidFill>
            <a:srgbClr val="0E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818534" y="3694176"/>
            <a:ext cx="32918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FFFFFF"/>
                </a:solidFill>
                <a:latin typeface="Courier New"/>
              </a:rPr>
              <a:t>AI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686507" y="3950208"/>
            <a:ext cx="1461211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E0E0E"/>
                </a:solidFill>
                <a:latin typeface="Arial"/>
              </a:rPr>
              <a:t>Validate &amp; repair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686507" y="4297680"/>
            <a:ext cx="146121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860" b="0" i="0">
                <a:solidFill>
                  <a:srgbClr val="53565A"/>
                </a:solidFill>
                <a:latin typeface="Arial"/>
              </a:rPr>
              <a:t>Safety checks; failures loop back to the AI to fix.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76902" y="3584448"/>
            <a:ext cx="1735531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623206" y="3712463"/>
            <a:ext cx="146121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046A38"/>
                </a:solidFill>
                <a:latin typeface="Courier New"/>
              </a:rPr>
              <a:t>08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23206" y="3950208"/>
            <a:ext cx="1461211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E0E0E"/>
                </a:solidFill>
                <a:latin typeface="Arial"/>
              </a:rPr>
              <a:t>Reconcile &amp; metadata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23206" y="4297680"/>
            <a:ext cx="146121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860" b="0" i="0">
                <a:solidFill>
                  <a:srgbClr val="53565A"/>
                </a:solidFill>
                <a:latin typeface="Arial"/>
              </a:rPr>
              <a:t>Fill schema gaps with evidence; emit objects &amp; fields.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13601" y="3584448"/>
            <a:ext cx="1735531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59905" y="3712463"/>
            <a:ext cx="146121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046A38"/>
                </a:solidFill>
                <a:latin typeface="Courier New"/>
              </a:rPr>
              <a:t>09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59905" y="3950208"/>
            <a:ext cx="1461211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E0E0E"/>
                </a:solidFill>
                <a:latin typeface="Arial"/>
              </a:rPr>
              <a:t>Data &amp; jobs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59905" y="4297680"/>
            <a:ext cx="146121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860" b="0" i="0">
                <a:solidFill>
                  <a:srgbClr val="53565A"/>
                </a:solidFill>
                <a:latin typeface="Arial"/>
              </a:rPr>
              <a:t>ImpEx → CSVs; cron triggers → scheduling runbook.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350300" y="3584448"/>
            <a:ext cx="1735531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496604" y="3712463"/>
            <a:ext cx="146121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046A38"/>
                </a:solidFill>
                <a:latin typeface="Courier New"/>
              </a:rPr>
              <a:t>10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628632" y="3703320"/>
            <a:ext cx="329184" cy="219456"/>
          </a:xfrm>
          <a:prstGeom prst="rect">
            <a:avLst/>
          </a:prstGeom>
          <a:solidFill>
            <a:srgbClr val="0E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628632" y="3694176"/>
            <a:ext cx="32918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FFFFFF"/>
                </a:solidFill>
                <a:latin typeface="Courier New"/>
              </a:rPr>
              <a:t>AI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496604" y="3950208"/>
            <a:ext cx="1461211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E0E0E"/>
                </a:solidFill>
                <a:latin typeface="Arial"/>
              </a:rPr>
              <a:t>Verify &amp; report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496604" y="4297680"/>
            <a:ext cx="146121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860" b="0" i="0">
                <a:solidFill>
                  <a:srgbClr val="53565A"/>
                </a:solidFill>
                <a:latin typeface="Arial"/>
              </a:rPr>
              <a:t>Real-org deploy + self-heal; confidence scores.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03504" y="6455664"/>
            <a:ext cx="9482328" cy="713232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03504" y="6455664"/>
            <a:ext cx="64008" cy="713232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59536" y="6565392"/>
            <a:ext cx="8979407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 spc="140">
                <a:solidFill>
                  <a:srgbClr val="046A38"/>
                </a:solidFill>
                <a:latin typeface="Courier New"/>
              </a:rPr>
              <a:t>IN PLAIN WORDS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427"/>
                </a:solidFill>
                <a:latin typeface="Arial"/>
              </a:rPr>
              <a:t>The </a:t>
            </a:r>
            <a:r>
              <a:rPr sz="1150" b="1" i="0">
                <a:solidFill>
                  <a:srgbClr val="0E0E0E"/>
                </a:solidFill>
                <a:latin typeface="Arial"/>
              </a:rPr>
              <a:t>AI</a:t>
            </a:r>
            <a:r>
              <a:rPr sz="1150" b="0" i="0">
                <a:solidFill>
                  <a:srgbClr val="222427"/>
                </a:solidFill>
                <a:latin typeface="Arial"/>
              </a:rPr>
              <a:t> is used only where judgement is needed — understanding and writing code. Everything mechanical is ordinary tested software: fast, free, repeatable.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89336" cy="7562088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03504" y="493776"/>
            <a:ext cx="118872" cy="118872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" y="438912"/>
            <a:ext cx="920800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 spc="200">
                <a:solidFill>
                  <a:srgbClr val="53565A"/>
                </a:solidFill>
                <a:latin typeface="Courier New"/>
              </a:rPr>
              <a:t>06 · WHY YOU CAN TRUST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822960"/>
            <a:ext cx="948232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E0E0E"/>
                </a:solidFill>
                <a:latin typeface="Arial"/>
              </a:rPr>
              <a:t>It doesn't stop at “the AI wrote code.” It proves the code runs</a:t>
            </a:r>
            <a:r>
              <a:rPr sz="2300" b="1" i="0">
                <a:solidFill>
                  <a:srgbClr val="86BC25"/>
                </a:solidFill>
                <a:latin typeface="Arial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1664208"/>
            <a:ext cx="9482328" cy="18288"/>
          </a:xfrm>
          <a:prstGeom prst="rect">
            <a:avLst/>
          </a:prstGeom>
          <a:solidFill>
            <a:srgbClr val="D2D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7296912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H2A MIGRATOR · ACCELERATOR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74151" y="7296912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07 / 10</a:t>
            </a:r>
          </a:p>
        </p:txBody>
      </p:sp>
      <p:sp>
        <p:nvSpPr>
          <p:cNvPr id="9" name="Oval 8"/>
          <p:cNvSpPr/>
          <p:nvPr/>
        </p:nvSpPr>
        <p:spPr>
          <a:xfrm>
            <a:off x="9957815" y="7319772"/>
            <a:ext cx="82296" cy="82296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3504" y="1993392"/>
            <a:ext cx="2219706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157984"/>
            <a:ext cx="194538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E0E0E"/>
                </a:solidFill>
                <a:latin typeface="Arial"/>
              </a:rPr>
              <a:t>Deploy for real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468880"/>
            <a:ext cx="194538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3565A"/>
                </a:solidFill>
                <a:latin typeface="Arial"/>
              </a:rPr>
              <a:t>Validation-only deploy to an actual Salesforce org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23210" y="2313432"/>
            <a:ext cx="20116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8F9296"/>
                </a:solidFill>
                <a:latin typeface="Arial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24378" y="1993392"/>
            <a:ext cx="2219706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70682" y="2157984"/>
            <a:ext cx="194538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E0E0E"/>
                </a:solidFill>
                <a:latin typeface="Arial"/>
              </a:rPr>
              <a:t>Read real errors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70682" y="2468880"/>
            <a:ext cx="194538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3565A"/>
                </a:solidFill>
                <a:latin typeface="Arial"/>
              </a:rPr>
              <a:t>The actual compiler output — not a guess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44083" y="2313432"/>
            <a:ext cx="20116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8F9296"/>
                </a:solidFill>
                <a:latin typeface="Arial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45252" y="1993392"/>
            <a:ext cx="2219706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91556" y="2157984"/>
            <a:ext cx="194538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E0E0E"/>
                </a:solidFill>
                <a:latin typeface="Arial"/>
              </a:rPr>
              <a:t>Fix automatically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91556" y="2468880"/>
            <a:ext cx="194538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3565A"/>
                </a:solidFill>
                <a:latin typeface="Arial"/>
              </a:rPr>
              <a:t>Three healing modes (below)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64958" y="2313432"/>
            <a:ext cx="20116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8F9296"/>
                </a:solidFill>
                <a:latin typeface="Arial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66125" y="1993392"/>
            <a:ext cx="2219706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12429" y="2157984"/>
            <a:ext cx="194538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E0E0E"/>
                </a:solidFill>
                <a:latin typeface="Arial"/>
              </a:rPr>
              <a:t>Repeat until green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12429" y="2468880"/>
            <a:ext cx="194538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3565A"/>
                </a:solidFill>
                <a:latin typeface="Arial"/>
              </a:rPr>
              <a:t>Anything unresolved is flagged for a human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" y="3182112"/>
            <a:ext cx="94823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 spc="100">
                <a:solidFill>
                  <a:srgbClr val="046A38"/>
                </a:solidFill>
                <a:latin typeface="Courier New"/>
              </a:rPr>
              <a:t>↺  BOUNDED LOOP — RUNS UNTIL GREEN, NEVER SILENTLY SHIPS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3504" y="3593592"/>
            <a:ext cx="2977895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03504" y="3593592"/>
            <a:ext cx="2977895" cy="50292"/>
          </a:xfrm>
          <a:prstGeom prst="rect">
            <a:avLst/>
          </a:prstGeom>
          <a:solidFill>
            <a:srgbClr val="0E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3803904"/>
            <a:ext cx="2575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0E0E0E"/>
                </a:solidFill>
                <a:latin typeface="Arial"/>
              </a:rPr>
              <a:t>Metadata healing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672" y="4187952"/>
            <a:ext cx="25755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300"/>
              </a:spcAft>
            </a:pPr>
            <a:r>
              <a:rPr sz="1030" b="0" i="0">
                <a:solidFill>
                  <a:srgbClr val="53565A"/>
                </a:solidFill>
                <a:latin typeface="Arial"/>
              </a:rPr>
              <a:t>“Missing field” error? If the field is genuinely used in the original Java — proven by evidence — it's added to the data model. Never guessed.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55719" y="3593592"/>
            <a:ext cx="2977895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855719" y="3593592"/>
            <a:ext cx="2977895" cy="50292"/>
          </a:xfrm>
          <a:prstGeom prst="rect">
            <a:avLst/>
          </a:prstGeom>
          <a:solidFill>
            <a:srgbClr val="0E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056887" y="3803904"/>
            <a:ext cx="2575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0E0E0E"/>
                </a:solidFill>
                <a:latin typeface="Arial"/>
              </a:rPr>
              <a:t>Code repair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56887" y="4187952"/>
            <a:ext cx="25755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300"/>
              </a:spcAft>
            </a:pPr>
            <a:r>
              <a:rPr sz="1030" b="0" i="0">
                <a:solidFill>
                  <a:srgbClr val="53565A"/>
                </a:solidFill>
                <a:latin typeface="Arial"/>
              </a:rPr>
              <a:t>Compile errors are fed back to the AI with the real error message, and the class is rewritten and re-tried.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107935" y="3593592"/>
            <a:ext cx="2977895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107935" y="3593592"/>
            <a:ext cx="2977895" cy="50292"/>
          </a:xfrm>
          <a:prstGeom prst="rect">
            <a:avLst/>
          </a:prstGeom>
          <a:solidFill>
            <a:srgbClr val="0E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09103" y="3803904"/>
            <a:ext cx="2575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0E0E0E"/>
                </a:solidFill>
                <a:latin typeface="Arial"/>
              </a:rPr>
              <a:t>Coverage healing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09103" y="4187952"/>
            <a:ext cx="25755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300"/>
              </a:spcAft>
            </a:pPr>
            <a:r>
              <a:rPr sz="1030" b="0" i="0">
                <a:solidFill>
                  <a:srgbClr val="53565A"/>
                </a:solidFill>
                <a:latin typeface="Arial"/>
              </a:rPr>
              <a:t>Salesforce requires 75% test coverage to deploy. Below it? The tool writes more tests — error paths, bulk scenarios — until it clears the bar.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3504" y="6455664"/>
            <a:ext cx="9482328" cy="713232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03504" y="6455664"/>
            <a:ext cx="64008" cy="713232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9536" y="6565392"/>
            <a:ext cx="8979407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 spc="140">
                <a:solidFill>
                  <a:srgbClr val="046A38"/>
                </a:solidFill>
                <a:latin typeface="Courier New"/>
              </a:rPr>
              <a:t>IN PLAIN WORDS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427"/>
                </a:solidFill>
                <a:latin typeface="Arial"/>
              </a:rPr>
              <a:t>The AI can only use fields that provably exist, a second AI challenges every piece, and the code must actually compile against a real org. Correctness comes from the loop — not from trusting the model.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89336" cy="75620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03504" y="493776"/>
            <a:ext cx="118872" cy="118872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" y="438912"/>
            <a:ext cx="920800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 spc="200">
                <a:solidFill>
                  <a:srgbClr val="53565A"/>
                </a:solidFill>
                <a:latin typeface="Courier New"/>
              </a:rPr>
              <a:t>07 · THE DELIVERABLE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822960"/>
            <a:ext cx="948232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E0E0E"/>
                </a:solidFill>
                <a:latin typeface="Arial"/>
              </a:rPr>
              <a:t>What lands in the output folder</a:t>
            </a:r>
            <a:r>
              <a:rPr sz="3000" b="1" i="0">
                <a:solidFill>
                  <a:srgbClr val="86BC25"/>
                </a:solidFill>
                <a:latin typeface="Arial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1664208"/>
            <a:ext cx="9482328" cy="18288"/>
          </a:xfrm>
          <a:prstGeom prst="rect">
            <a:avLst/>
          </a:prstGeom>
          <a:solidFill>
            <a:srgbClr val="D2D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7296912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H2A MIGRATOR · ACCELERATOR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74151" y="7296912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08 / 10</a:t>
            </a:r>
          </a:p>
        </p:txBody>
      </p:sp>
      <p:sp>
        <p:nvSpPr>
          <p:cNvPr id="9" name="Oval 8"/>
          <p:cNvSpPr/>
          <p:nvPr/>
        </p:nvSpPr>
        <p:spPr>
          <a:xfrm>
            <a:off x="9957815" y="7319772"/>
            <a:ext cx="82296" cy="82296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3504" y="1993392"/>
            <a:ext cx="2977895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6384" y="2157984"/>
            <a:ext cx="1260043" cy="274320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2157984"/>
            <a:ext cx="2520695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046A38"/>
                </a:solidFill>
                <a:latin typeface="Courier New"/>
              </a:rPr>
              <a:t>force-app/…/classes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2487168"/>
            <a:ext cx="2612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E0E0E"/>
                </a:solidFill>
                <a:latin typeface="Arial"/>
              </a:rPr>
              <a:t>Apex code + tests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2798064"/>
            <a:ext cx="261213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65A"/>
                </a:solidFill>
                <a:latin typeface="Arial"/>
              </a:rPr>
              <a:t>Selectors, Services, REST controllers, scheduled jobs — each with its own test class.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55719" y="1993392"/>
            <a:ext cx="2977895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038599" y="2157984"/>
            <a:ext cx="1260043" cy="274320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1751" y="2157984"/>
            <a:ext cx="2520695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046A38"/>
                </a:solidFill>
                <a:latin typeface="Courier New"/>
              </a:rPr>
              <a:t>force-app/…/objects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38599" y="2487168"/>
            <a:ext cx="2612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E0E0E"/>
                </a:solidFill>
                <a:latin typeface="Arial"/>
              </a:rPr>
              <a:t>Data 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38599" y="2798064"/>
            <a:ext cx="261213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65A"/>
                </a:solidFill>
                <a:latin typeface="Arial"/>
              </a:rPr>
              <a:t>Custom objects, fields, picklists, relationships, required/unique constraints.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07935" y="1993392"/>
            <a:ext cx="2977895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90815" y="2157984"/>
            <a:ext cx="1600200" cy="274320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63967" y="2157984"/>
            <a:ext cx="2520695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046A38"/>
                </a:solidFill>
                <a:latin typeface="Courier New"/>
              </a:rPr>
              <a:t>data/ · DATA_MIGRATION.md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90815" y="2487168"/>
            <a:ext cx="2612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E0E0E"/>
                </a:solidFill>
                <a:latin typeface="Arial"/>
              </a:rPr>
              <a:t>The 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90815" y="2798064"/>
            <a:ext cx="261213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65A"/>
                </a:solidFill>
                <a:latin typeface="Arial"/>
              </a:rPr>
              <a:t>Load-ready CSVs plus a safe, re-runnable import runbook.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3504" y="3685032"/>
            <a:ext cx="2977895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86384" y="3849624"/>
            <a:ext cx="1770278" cy="274320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3849624"/>
            <a:ext cx="2520695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046A38"/>
                </a:solidFill>
                <a:latin typeface="Courier New"/>
              </a:rPr>
              <a:t>CRON_JOBS.md · schedule.apex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4178808"/>
            <a:ext cx="2612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E0E0E"/>
                </a:solidFill>
                <a:latin typeface="Arial"/>
              </a:rPr>
              <a:t>Schedules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" y="4489704"/>
            <a:ext cx="261213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65A"/>
                </a:solidFill>
                <a:latin typeface="Arial"/>
              </a:rPr>
              <a:t>Every timed job translated, same timing, with a ready-to-run script.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55719" y="3685032"/>
            <a:ext cx="2977895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038599" y="3849624"/>
            <a:ext cx="1146657" cy="274320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1751" y="3849624"/>
            <a:ext cx="2520695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046A38"/>
                </a:solidFill>
                <a:latin typeface="Courier New"/>
              </a:rPr>
              <a:t>MIGRATION_PLAN.md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38599" y="4178808"/>
            <a:ext cx="2612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E0E0E"/>
                </a:solidFill>
                <a:latin typeface="Arial"/>
              </a:rPr>
              <a:t>The decisions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38599" y="4489704"/>
            <a:ext cx="261213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65A"/>
                </a:solidFill>
                <a:latin typeface="Arial"/>
              </a:rPr>
              <a:t>The Planner's call on every class, the Critic's findings, the full decision log.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07935" y="3685032"/>
            <a:ext cx="2977895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290815" y="3849624"/>
            <a:ext cx="1373428" cy="274320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63967" y="3849624"/>
            <a:ext cx="2520695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046A38"/>
                </a:solidFill>
                <a:latin typeface="Courier New"/>
              </a:rPr>
              <a:t>FEASIBILITY_REPORT.md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90815" y="4178808"/>
            <a:ext cx="2612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E0E0E"/>
                </a:solidFill>
                <a:latin typeface="Arial"/>
              </a:rPr>
              <a:t>The scorecard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90815" y="4489704"/>
            <a:ext cx="261213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65A"/>
                </a:solidFill>
                <a:latin typeface="Arial"/>
              </a:rPr>
              <a:t>Validation results, a High/Medium/Low confidence score per class, deploy status, cost.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3504" y="5513832"/>
            <a:ext cx="2766974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40664" y="5513832"/>
            <a:ext cx="2492654" cy="34747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0E0E0E"/>
                </a:solidFill>
                <a:latin typeface="Courier New"/>
              </a:rPr>
              <a:t>63</a:t>
            </a:r>
            <a:r>
              <a:rPr sz="900" b="0" i="0">
                <a:solidFill>
                  <a:srgbClr val="53565A"/>
                </a:solidFill>
                <a:latin typeface="Courier New"/>
              </a:rPr>
              <a:t> automated tests, all passing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553358" y="5513832"/>
            <a:ext cx="2924251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90518" y="5513832"/>
            <a:ext cx="2649931" cy="34747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0E0E0E"/>
                </a:solidFill>
                <a:latin typeface="Courier New"/>
              </a:rPr>
              <a:t>3</a:t>
            </a:r>
            <a:r>
              <a:rPr sz="900" b="0" i="0">
                <a:solidFill>
                  <a:srgbClr val="53565A"/>
                </a:solidFill>
                <a:latin typeface="Courier New"/>
              </a:rPr>
              <a:t> AI providers incl. free offline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660489" y="5513832"/>
            <a:ext cx="2688335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97649" y="5513832"/>
            <a:ext cx="2414015" cy="34747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3565A"/>
                </a:solidFill>
                <a:latin typeface="Courier New"/>
              </a:rPr>
              <a:t>every run reports its own </a:t>
            </a:r>
            <a:r>
              <a:rPr sz="900" b="1" i="0">
                <a:solidFill>
                  <a:srgbClr val="0E0E0E"/>
                </a:solidFill>
                <a:latin typeface="Courier New"/>
              </a:rPr>
              <a:t>cost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3504" y="6455664"/>
            <a:ext cx="9482328" cy="713232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03504" y="6455664"/>
            <a:ext cx="64008" cy="713232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59536" y="6565392"/>
            <a:ext cx="8979407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 spc="140">
                <a:solidFill>
                  <a:srgbClr val="046A38"/>
                </a:solidFill>
                <a:latin typeface="Courier New"/>
              </a:rPr>
              <a:t>IN PLAIN WORDS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427"/>
                </a:solidFill>
                <a:latin typeface="Arial"/>
              </a:rPr>
              <a:t>Not just code — a complete package: the system, its data, its schedules, and the paper trail that tells your reviewers exactly where to look.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89336" cy="7562088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03504" y="493776"/>
            <a:ext cx="118872" cy="118872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" y="438912"/>
            <a:ext cx="920800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 spc="200">
                <a:solidFill>
                  <a:srgbClr val="53565A"/>
                </a:solidFill>
                <a:latin typeface="Courier New"/>
              </a:rPr>
              <a:t>08 · THE BUSINESS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822960"/>
            <a:ext cx="948232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0E0E"/>
                </a:solidFill>
                <a:latin typeface="Arial"/>
              </a:rPr>
              <a:t>What the accelerator changes, concretely</a:t>
            </a:r>
            <a:r>
              <a:rPr sz="2800" b="1" i="0">
                <a:solidFill>
                  <a:srgbClr val="86BC25"/>
                </a:solidFill>
                <a:latin typeface="Arial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1664208"/>
            <a:ext cx="9482328" cy="18288"/>
          </a:xfrm>
          <a:prstGeom prst="rect">
            <a:avLst/>
          </a:prstGeom>
          <a:solidFill>
            <a:srgbClr val="D2D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7296912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H2A MIGRATOR · ACCELERATOR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74151" y="7296912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09 / 10</a:t>
            </a:r>
          </a:p>
        </p:txBody>
      </p:sp>
      <p:sp>
        <p:nvSpPr>
          <p:cNvPr id="9" name="Oval 8"/>
          <p:cNvSpPr/>
          <p:nvPr/>
        </p:nvSpPr>
        <p:spPr>
          <a:xfrm>
            <a:off x="9957815" y="7319772"/>
            <a:ext cx="82296" cy="82296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203911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 spc="100">
                <a:solidFill>
                  <a:srgbClr val="53565A"/>
                </a:solidFill>
                <a:latin typeface="Courier New"/>
              </a:rPr>
              <a:t>WITHOUT THE ACCELERATOR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36107" y="203911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 spc="100">
                <a:solidFill>
                  <a:srgbClr val="53565A"/>
                </a:solidFill>
                <a:latin typeface="Courier New"/>
              </a:rPr>
              <a:t>WITH THE ACCELERATOR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" y="2331720"/>
            <a:ext cx="9482328" cy="20116"/>
          </a:xfrm>
          <a:prstGeom prst="rect">
            <a:avLst/>
          </a:prstGeom>
          <a:solidFill>
            <a:srgbClr val="0E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404872"/>
            <a:ext cx="446684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B3282D"/>
                </a:solidFill>
                <a:latin typeface="Arial"/>
              </a:rPr>
              <a:t>Months of manual rewriting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36107" y="2404872"/>
            <a:ext cx="446684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46A38"/>
                </a:solidFill>
                <a:latin typeface="Arial"/>
              </a:rPr>
              <a:t>A working, verified first draft in minutes–hours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" y="3008375"/>
            <a:ext cx="9482328" cy="10972"/>
          </a:xfrm>
          <a:prstGeom prst="rect">
            <a:avLst/>
          </a:prstGeom>
          <a:solidFill>
            <a:srgbClr val="D2D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3063239"/>
            <a:ext cx="446684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B3282D"/>
                </a:solidFill>
                <a:latin typeface="Arial"/>
              </a:rPr>
              <a:t>Business rules silently lost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36107" y="3063239"/>
            <a:ext cx="446684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46A38"/>
                </a:solidFill>
                <a:latin typeface="Arial"/>
              </a:rPr>
              <a:t>An AI reviewer checks rule preservation; a parity score proves 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" y="3666744"/>
            <a:ext cx="9482328" cy="10972"/>
          </a:xfrm>
          <a:prstGeom prst="rect">
            <a:avLst/>
          </a:prstGeom>
          <a:solidFill>
            <a:srgbClr val="D2D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" y="3721608"/>
            <a:ext cx="446684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B3282D"/>
                </a:solidFill>
                <a:latin typeface="Arial"/>
              </a:rPr>
              <a:t>“Trust me, it compiles”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36107" y="3721608"/>
            <a:ext cx="446684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46A38"/>
                </a:solidFill>
                <a:latin typeface="Arial"/>
              </a:rPr>
              <a:t>Deployed to a real org and self-corrected until verifiably green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3504" y="4325112"/>
            <a:ext cx="9482328" cy="10972"/>
          </a:xfrm>
          <a:prstGeom prst="rect">
            <a:avLst/>
          </a:prstGeom>
          <a:solidFill>
            <a:srgbClr val="D2D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4944" y="4379976"/>
            <a:ext cx="446684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B3282D"/>
                </a:solidFill>
                <a:latin typeface="Arial"/>
              </a:rPr>
              <a:t>Everything becomes custom code to own forever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36107" y="4379976"/>
            <a:ext cx="446684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46A38"/>
                </a:solidFill>
                <a:latin typeface="Arial"/>
              </a:rPr>
              <a:t>Native Salesforce products recommended where they fit — less debt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3504" y="4983480"/>
            <a:ext cx="9482328" cy="10972"/>
          </a:xfrm>
          <a:prstGeom prst="rect">
            <a:avLst/>
          </a:prstGeom>
          <a:solidFill>
            <a:srgbClr val="D2D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5038344"/>
            <a:ext cx="446684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B3282D"/>
                </a:solidFill>
                <a:latin typeface="Arial"/>
              </a:rPr>
              <a:t>A black-box engagement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36107" y="5038344"/>
            <a:ext cx="446684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46A38"/>
                </a:solidFill>
                <a:latin typeface="Arial"/>
              </a:rPr>
              <a:t>A decision log and a confidence score on every class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3504" y="5641848"/>
            <a:ext cx="9482328" cy="10972"/>
          </a:xfrm>
          <a:prstGeom prst="rect">
            <a:avLst/>
          </a:prstGeom>
          <a:solidFill>
            <a:srgbClr val="D2D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03504" y="6455664"/>
            <a:ext cx="9482328" cy="713232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03504" y="6455664"/>
            <a:ext cx="64008" cy="713232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6565392"/>
            <a:ext cx="8979407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 spc="140">
                <a:solidFill>
                  <a:srgbClr val="046A38"/>
                </a:solidFill>
                <a:latin typeface="Courier New"/>
              </a:rPr>
              <a:t>THE HONEST POSITIONING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427"/>
                </a:solidFill>
                <a:latin typeface="Arial"/>
              </a:rPr>
              <a:t>A strong, verified first draft plus a prioritized review list. It makes expert reviewers dramatically faster — it doesn't remove them, and we don't pretend it does.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89336" cy="7562088"/>
          </a:xfrm>
          <a:prstGeom prst="rect">
            <a:avLst/>
          </a:prstGeom>
          <a:solidFill>
            <a:srgbClr val="0E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206240" y="6126480"/>
            <a:ext cx="2286000" cy="2286000"/>
          </a:xfrm>
          <a:prstGeom prst="ellipse">
            <a:avLst/>
          </a:prstGeom>
          <a:noFill/>
          <a:ln w="12700">
            <a:solidFill>
              <a:srgbClr val="2A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554480"/>
            <a:ext cx="106893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 spc="200">
                <a:solidFill>
                  <a:srgbClr val="86BC25"/>
                </a:solidFill>
                <a:latin typeface="Courier New"/>
              </a:rPr>
              <a:t>● THE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8860536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FFFFFF"/>
                </a:solidFill>
                <a:latin typeface="Arial"/>
              </a:rPr>
              <a:t>Give us one real slice of a Hybris codebase.</a:t>
            </a:r>
          </a:p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700" b="1" i="0">
                <a:solidFill>
                  <a:srgbClr val="FFFFFF"/>
                </a:solidFill>
                <a:latin typeface="Arial"/>
              </a:rPr>
              <a:t>We'll hand back verified Salesforce — and the receipts</a:t>
            </a:r>
            <a:r>
              <a:rPr sz="2700" b="1" i="0">
                <a:solidFill>
                  <a:srgbClr val="86BC25"/>
                </a:solidFill>
                <a:latin typeface="Arial"/>
              </a:rPr>
              <a:t> 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4114800"/>
            <a:ext cx="66659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A7A8AA"/>
                </a:solidFill>
                <a:latin typeface="Arial"/>
              </a:rPr>
              <a:t>A pilot costs days, not months. Free mock mode first, a scored real run second, your team's verdict third.</a:t>
            </a:r>
          </a:p>
        </p:txBody>
      </p:sp>
      <p:sp>
        <p:nvSpPr>
          <p:cNvPr id="7" name="Rectangle 6"/>
          <p:cNvSpPr/>
          <p:nvPr/>
        </p:nvSpPr>
        <p:spPr>
          <a:xfrm>
            <a:off x="1970531" y="5120640"/>
            <a:ext cx="1591055" cy="384048"/>
          </a:xfrm>
          <a:prstGeom prst="rect">
            <a:avLst/>
          </a:prstGeom>
          <a:solidFill>
            <a:srgbClr val="181818"/>
          </a:solidFill>
          <a:ln w="9525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35124" y="5120640"/>
            <a:ext cx="1261872" cy="3840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A7A8AA"/>
                </a:solidFill>
                <a:latin typeface="Courier New"/>
              </a:rPr>
              <a:t>Live demo </a:t>
            </a:r>
            <a:r>
              <a:rPr sz="900" b="1" i="0">
                <a:solidFill>
                  <a:srgbClr val="FFFFFF"/>
                </a:solidFill>
                <a:latin typeface="Courier New"/>
              </a:rPr>
              <a:t>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3744468" y="5120640"/>
            <a:ext cx="3522268" cy="384048"/>
          </a:xfrm>
          <a:prstGeom prst="rect">
            <a:avLst/>
          </a:prstGeom>
          <a:solidFill>
            <a:srgbClr val="181818"/>
          </a:solidFill>
          <a:ln w="9525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09059" y="5120640"/>
            <a:ext cx="3193084" cy="3840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A7A8AA"/>
                </a:solidFill>
                <a:latin typeface="Courier New"/>
              </a:rPr>
              <a:t>Full docs: </a:t>
            </a:r>
            <a:r>
              <a:rPr sz="900" b="1" i="0">
                <a:solidFill>
                  <a:srgbClr val="FFFFFF"/>
                </a:solidFill>
                <a:latin typeface="Courier New"/>
              </a:rPr>
              <a:t>PRD · TDD · flows · security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49616" y="5120640"/>
            <a:ext cx="1269187" cy="384048"/>
          </a:xfrm>
          <a:prstGeom prst="rect">
            <a:avLst/>
          </a:prstGeom>
          <a:solidFill>
            <a:srgbClr val="181818"/>
          </a:solidFill>
          <a:ln w="9525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14208" y="5120640"/>
            <a:ext cx="940003" cy="3840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FFFFFF"/>
                </a:solidFill>
                <a:latin typeface="Courier New"/>
              </a:rPr>
              <a:t>Pilot-ready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" y="7296912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6A6D70"/>
                </a:solidFill>
                <a:latin typeface="Courier New"/>
              </a:rPr>
              <a:t>H2A MIGRATOR · ACCELERATOR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74151" y="7296912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6A6D70"/>
                </a:solidFill>
                <a:latin typeface="Courier New"/>
              </a:rPr>
              <a:t>10 / 10</a:t>
            </a:r>
          </a:p>
        </p:txBody>
      </p:sp>
      <p:sp>
        <p:nvSpPr>
          <p:cNvPr id="15" name="Oval 14"/>
          <p:cNvSpPr/>
          <p:nvPr/>
        </p:nvSpPr>
        <p:spPr>
          <a:xfrm>
            <a:off x="9957815" y="7319772"/>
            <a:ext cx="82296" cy="82296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