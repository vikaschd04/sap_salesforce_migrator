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223760" y="640080"/>
            <a:ext cx="4480560" cy="4480560"/>
          </a:xfrm>
          <a:prstGeom prst="ellipse">
            <a:avLst/>
          </a:prstGeom>
          <a:noFill/>
          <a:ln w="19050">
            <a:solidFill>
              <a:srgbClr val="86BC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3108960"/>
            <a:ext cx="2926080" cy="2926080"/>
          </a:xfrm>
          <a:prstGeom prst="ellipse">
            <a:avLst/>
          </a:prstGeom>
          <a:noFill/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67728" y="932688"/>
            <a:ext cx="292608" cy="292608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TECHNICAL OVERVIEW · ENGINEERING AUDIENCE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280160"/>
            <a:ext cx="6949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0E0E"/>
                </a:solidFill>
                <a:latin typeface="Arial"/>
              </a:rPr>
              <a:t>Application Architecture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0E0E"/>
                </a:solidFill>
                <a:latin typeface="Arial"/>
              </a:rPr>
              <a:t>Three surfaces. One engine</a:t>
            </a:r>
            <a:r>
              <a:rPr sz="34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697480"/>
            <a:ext cx="868680" cy="7315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2971800"/>
            <a:ext cx="6492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3565A"/>
                </a:solidFill>
                <a:latin typeface="Arial"/>
              </a:rPr>
              <a:t>H2A converts a SAP Hybris commerce monolith — Java/Spring, items.xml, and a Spartacus storefront — into a deployable Salesforce project of Apex, LWC, and metadata, with a human review gate at every consequential step.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4434840"/>
            <a:ext cx="1143000" cy="384048"/>
          </a:xfrm>
          <a:prstGeom prst="rect">
            <a:avLst/>
          </a:prstGeom>
          <a:noFill/>
          <a:ln w="19050">
            <a:solidFill>
              <a:srgbClr val="A96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4434840"/>
            <a:ext cx="1143000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A9622F"/>
                </a:solidFill>
                <a:latin typeface="Courier New"/>
              </a:rPr>
              <a:t>SAP HYBRIS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6504" y="4434840"/>
            <a:ext cx="457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8F9296"/>
                </a:solidFill>
                <a:latin typeface="Arial"/>
              </a:rPr>
              <a:t>──▶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03704" y="4434840"/>
            <a:ext cx="1143000" cy="384048"/>
          </a:xfrm>
          <a:prstGeom prst="rect">
            <a:avLst/>
          </a:prstGeom>
          <a:noFill/>
          <a:ln w="19050">
            <a:solidFill>
              <a:srgbClr val="0E0E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03704" y="4434840"/>
            <a:ext cx="1143000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0E0E"/>
                </a:solidFill>
                <a:latin typeface="Courier New"/>
              </a:rPr>
              <a:t>H2A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4434840"/>
            <a:ext cx="457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8F9296"/>
                </a:solidFill>
                <a:latin typeface="Arial"/>
              </a:rPr>
              <a:t>──▶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03904" y="4434840"/>
            <a:ext cx="1143000" cy="384048"/>
          </a:xfrm>
          <a:prstGeom prst="rect">
            <a:avLst/>
          </a:prstGeom>
          <a:noFill/>
          <a:ln w="19050">
            <a:solidFill>
              <a:srgbClr val="007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03904" y="4434840"/>
            <a:ext cx="1143000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07CB0"/>
                </a:solidFill>
                <a:latin typeface="Courier New"/>
              </a:rPr>
              <a:t>SALESFORCE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5212080"/>
            <a:ext cx="198059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5212080"/>
            <a:ext cx="1706270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Courier New"/>
              </a:rPr>
              <a:t>Python 3.12 </a:t>
            </a:r>
            <a:r>
              <a:rPr sz="900" b="1" i="0">
                <a:solidFill>
                  <a:srgbClr val="0E0E0E"/>
                </a:solidFill>
                <a:latin typeface="Courier New"/>
              </a:rPr>
              <a:t>· FastAPI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66974" y="5212080"/>
            <a:ext cx="2531059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04134" y="5212080"/>
            <a:ext cx="2256739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Courier New"/>
              </a:rPr>
              <a:t>React 18 + Vite </a:t>
            </a:r>
            <a:r>
              <a:rPr sz="900" b="1" i="0">
                <a:solidFill>
                  <a:srgbClr val="0E0E0E"/>
                </a:solidFill>
                <a:latin typeface="Courier New"/>
              </a:rPr>
              <a:t>· TypeScript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0913" y="5212080"/>
            <a:ext cx="1744675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18073" y="5212080"/>
            <a:ext cx="1470355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E0E0E"/>
                </a:solidFill>
                <a:latin typeface="Courier New"/>
              </a:rPr>
              <a:t>85</a:t>
            </a:r>
            <a:r>
              <a:rPr sz="900" b="0" i="0">
                <a:solidFill>
                  <a:srgbClr val="53565A"/>
                </a:solidFill>
                <a:latin typeface="Courier New"/>
              </a:rPr>
              <a:t> automated tests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729691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ARCHITECTURE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01 / 10</a:t>
            </a:r>
          </a:p>
        </p:txBody>
      </p:sp>
      <p:sp>
        <p:nvSpPr>
          <p:cNvPr id="27" name="Oval 26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01 · SYSTEM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0E0E"/>
                </a:solidFill>
                <a:latin typeface="Arial"/>
              </a:rPr>
              <a:t>Everything is a client of one function</a:t>
            </a:r>
            <a:r>
              <a:rPr sz="28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02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901952"/>
            <a:ext cx="94823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Courier New"/>
              </a:rPr>
              <a:t>run_agentic_migration()</a:t>
            </a:r>
            <a:r>
              <a:rPr sz="1250" b="0" i="0">
                <a:solidFill>
                  <a:srgbClr val="53565A"/>
                </a:solidFill>
                <a:latin typeface="Arial"/>
              </a:rPr>
              <a:t> in orchestrator.py is the single entry point. The CLI, the VS Code extension, and the web cockpit are three ways to call it — they differ only in which of its optional hooks they pass.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2587752"/>
            <a:ext cx="2977895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" y="2587752"/>
            <a:ext cx="2977895" cy="50292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816352"/>
            <a:ext cx="253898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 spc="50">
                <a:solidFill>
                  <a:srgbClr val="0E0E0E"/>
                </a:solidFill>
                <a:latin typeface="Courier New"/>
              </a:rPr>
              <a:t>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45536"/>
            <a:ext cx="2538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007CB0"/>
                </a:solidFill>
                <a:latin typeface="Courier New"/>
              </a:rPr>
              <a:t>python -m src.main agent-migrate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74720"/>
            <a:ext cx="253898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Direct, in-process call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Also: ingest · repo-migrate · impex · cronjob · metadata · report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The reference implementation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55719" y="2587752"/>
            <a:ext cx="2977895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55719" y="2587752"/>
            <a:ext cx="2977895" cy="50292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75175" y="2816352"/>
            <a:ext cx="253898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 spc="50">
                <a:solidFill>
                  <a:srgbClr val="0E0E0E"/>
                </a:solidFill>
                <a:latin typeface="Courier New"/>
              </a:rPr>
              <a:t>VS CODE EXTENSION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5175" y="3145536"/>
            <a:ext cx="2538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007CB0"/>
                </a:solidFill>
                <a:latin typeface="Courier New"/>
              </a:rPr>
              <a:t>TypeScript + webview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5175" y="3474720"/>
            <a:ext cx="253898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Spawns the CLI as a child process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Bootstraps its own .venv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Ships a synced copy of the engine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07935" y="2587752"/>
            <a:ext cx="2977895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07935" y="2587752"/>
            <a:ext cx="2977895" cy="50292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27391" y="2816352"/>
            <a:ext cx="253898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 spc="50">
                <a:solidFill>
                  <a:srgbClr val="0E0E0E"/>
                </a:solidFill>
                <a:latin typeface="Courier New"/>
              </a:rPr>
              <a:t>WEB COCKPIT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7391" y="3145536"/>
            <a:ext cx="2538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007CB0"/>
                </a:solidFill>
                <a:latin typeface="Courier New"/>
              </a:rPr>
              <a:t>React SPA + FastAPI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7391" y="3474720"/>
            <a:ext cx="253898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Imports the engine in-process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Runs it on a worker thread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Which is what makes live events and blocking gates possible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" y="5029200"/>
            <a:ext cx="9482328" cy="457200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5029200"/>
            <a:ext cx="911656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ourier New"/>
              </a:rPr>
              <a:t>run_agentic_migration(input, output, *, on_event, gate, should_cancel, on_blackboard, state_dir)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" y="5669280"/>
            <a:ext cx="2219706" cy="658368"/>
          </a:xfrm>
          <a:prstGeom prst="rect">
            <a:avLst/>
          </a:prstGeom>
          <a:solidFill>
            <a:srgbClr val="F3F3F1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760720"/>
            <a:ext cx="19636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46A38"/>
                </a:solidFill>
                <a:latin typeface="Courier New"/>
              </a:rPr>
              <a:t>on_event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980176"/>
            <a:ext cx="19636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53565A"/>
                </a:solidFill>
                <a:latin typeface="Arial"/>
              </a:rPr>
              <a:t>streams every stage, decision and artifact to the UI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378" y="5669280"/>
            <a:ext cx="2219706" cy="658368"/>
          </a:xfrm>
          <a:prstGeom prst="rect">
            <a:avLst/>
          </a:prstGeom>
          <a:solidFill>
            <a:srgbClr val="F3F3F1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52394" y="5760720"/>
            <a:ext cx="19636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46A38"/>
                </a:solidFill>
                <a:latin typeface="Courier New"/>
              </a:rPr>
              <a:t>gate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52394" y="5980176"/>
            <a:ext cx="19636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53565A"/>
                </a:solidFill>
                <a:latin typeface="Arial"/>
              </a:rPr>
              <a:t>suspends the run and waits for a human verdict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5252" y="5669280"/>
            <a:ext cx="2219706" cy="658368"/>
          </a:xfrm>
          <a:prstGeom prst="rect">
            <a:avLst/>
          </a:prstGeom>
          <a:solidFill>
            <a:srgbClr val="F3F3F1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3268" y="5760720"/>
            <a:ext cx="19636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46A38"/>
                </a:solidFill>
                <a:latin typeface="Courier New"/>
              </a:rPr>
              <a:t>should_cancel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3268" y="5980176"/>
            <a:ext cx="19636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53565A"/>
                </a:solidFill>
                <a:latin typeface="Arial"/>
              </a:rPr>
              <a:t>cooperative cancellation at every safe point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6125" y="5669280"/>
            <a:ext cx="2219706" cy="658368"/>
          </a:xfrm>
          <a:prstGeom prst="rect">
            <a:avLst/>
          </a:prstGeom>
          <a:solidFill>
            <a:srgbClr val="F3F3F1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94142" y="5760720"/>
            <a:ext cx="19636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46A38"/>
                </a:solidFill>
                <a:latin typeface="Courier New"/>
              </a:rPr>
              <a:t>on_blackboard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94142" y="5980176"/>
            <a:ext cx="19636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53565A"/>
                </a:solidFill>
                <a:latin typeface="Arial"/>
              </a:rPr>
              <a:t>exposes live state for diff, regenerate, Copilot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WHY IT MATTERS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Every hook defaults to </a:t>
            </a:r>
            <a:r>
              <a:rPr sz="1150" b="1" i="0">
                <a:solidFill>
                  <a:srgbClr val="0E0E0E"/>
                </a:solidFill>
                <a:latin typeface="Courier New"/>
              </a:rPr>
              <a:t>None</a:t>
            </a:r>
            <a:r>
              <a:rPr sz="1150" b="0" i="0">
                <a:solidFill>
                  <a:srgbClr val="222427"/>
                </a:solidFill>
                <a:latin typeface="Arial"/>
              </a:rPr>
              <a:t> — so the engine has no knowledge of HTTP, of VS Code, or of a browser. That is what keeps all three surfaces at feature parity without a shared UI layer, and why adding the cockpit changed no CLI behaviour.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02 · ARCHITECTURE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786384"/>
            <a:ext cx="9482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0E0E"/>
                </a:solidFill>
                <a:latin typeface="Arial"/>
              </a:rPr>
              <a:t>Five layers, two rails</a:t>
            </a:r>
            <a:r>
              <a:rPr sz="26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081" y="1353312"/>
            <a:ext cx="7671173" cy="5623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729691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03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03 · THE FIVE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0E0E"/>
                </a:solidFill>
                <a:latin typeface="Arial"/>
              </a:rPr>
              <a:t>What each layer owns, and what it must not know</a:t>
            </a:r>
            <a:r>
              <a:rPr sz="26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04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11680"/>
            <a:ext cx="9482328" cy="85039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011680"/>
            <a:ext cx="1783080" cy="850392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011680"/>
            <a:ext cx="1554480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SURFACES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9464" y="2167128"/>
            <a:ext cx="72877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CLI · VS Code extension · Web cockpit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9464" y="2468880"/>
            <a:ext cx="728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Know how to talk to a human. Know nothing about migration.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2834640"/>
            <a:ext cx="94823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3035808"/>
            <a:ext cx="9482328" cy="85039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" y="3035808"/>
            <a:ext cx="1783080" cy="850392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035808"/>
            <a:ext cx="1554480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9464" y="3191256"/>
            <a:ext cx="72877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orchestrator.py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9464" y="3493008"/>
            <a:ext cx="728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Stages, dependency wavefronts, human gates, checkpoints, failure containment.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3858768"/>
            <a:ext cx="94823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4059936"/>
            <a:ext cx="9482328" cy="85039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3504" y="4059936"/>
            <a:ext cx="1783080" cy="850392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059936"/>
            <a:ext cx="1554480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AGENTS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4215384"/>
            <a:ext cx="72877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Blackboard · Planner · Builder · Critic · Verifier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9464" y="4517136"/>
            <a:ext cx="728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Agents never call each other — they read and write one shared workspace.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4882896"/>
            <a:ext cx="94823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" y="5084064"/>
            <a:ext cx="9482328" cy="85039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" y="5084064"/>
            <a:ext cx="1783080" cy="8503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084064"/>
            <a:ext cx="1554480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CAPABILITIES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9464" y="5239512"/>
            <a:ext cx="72877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ingest · schema · generate · validate · verify · rule_ledger ·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9464" y="5541264"/>
            <a:ext cx="728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Stateless functions. Independently testable. Shared by both pipelines.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" y="5907024"/>
            <a:ext cx="94823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" y="6108192"/>
            <a:ext cx="9482328" cy="85039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3504" y="6108192"/>
            <a:ext cx="1783080" cy="850392"/>
          </a:xfrm>
          <a:prstGeom prst="rect">
            <a:avLst/>
          </a:prstGeom>
          <a:solidFill>
            <a:srgbClr val="6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6108192"/>
            <a:ext cx="1554480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LLM GATEWAY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9464" y="6263640"/>
            <a:ext cx="72877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llm.py → anthropic · openrouter · mock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9464" y="6565392"/>
            <a:ext cx="728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Routing, retries, caching and cost accounting — one choke point, no bypass.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" y="729691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ARCHITECTURE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04 / 10</a:t>
            </a:r>
          </a:p>
        </p:txBody>
      </p:sp>
      <p:sp>
        <p:nvSpPr>
          <p:cNvPr id="41" name="Oval 40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04 · THE AGENTIC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0E0E"/>
                </a:solidFill>
                <a:latin typeface="Arial"/>
              </a:rPr>
              <a:t>A shared blackboard, not a call graph</a:t>
            </a:r>
            <a:r>
              <a:rPr sz="27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05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39112"/>
            <a:ext cx="2834640" cy="3246120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spc="100">
                <a:solidFill>
                  <a:srgbClr val="FFFFFF"/>
                </a:solidFill>
                <a:latin typeface="Courier New"/>
              </a:rPr>
              <a:t>BLACKBOARD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2679192"/>
            <a:ext cx="640080" cy="54864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862072"/>
            <a:ext cx="2377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 i="0">
                <a:solidFill>
                  <a:srgbClr val="86BC25"/>
                </a:solidFill>
                <a:latin typeface="Arial"/>
              </a:rPr>
              <a:t>· </a:t>
            </a:r>
            <a:r>
              <a:rPr sz="1050" b="0" i="0">
                <a:solidFill>
                  <a:srgbClr val="C8CBCE"/>
                </a:solidFill>
                <a:latin typeface="Courier New"/>
              </a:rPr>
              <a:t>schema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 i="0">
                <a:solidFill>
                  <a:srgbClr val="86BC25"/>
                </a:solidFill>
                <a:latin typeface="Arial"/>
              </a:rPr>
              <a:t>· </a:t>
            </a:r>
            <a:r>
              <a:rPr sz="1050" b="0" i="0">
                <a:solidFill>
                  <a:srgbClr val="C8CBCE"/>
                </a:solidFill>
                <a:latin typeface="Courier New"/>
              </a:rPr>
              <a:t>comprehensions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 i="0">
                <a:solidFill>
                  <a:srgbClr val="86BC25"/>
                </a:solidFill>
                <a:latin typeface="Arial"/>
              </a:rPr>
              <a:t>· </a:t>
            </a:r>
            <a:r>
              <a:rPr sz="1050" b="0" i="0">
                <a:solidFill>
                  <a:srgbClr val="C8CBCE"/>
                </a:solidFill>
                <a:latin typeface="Courier New"/>
              </a:rPr>
              <a:t>plan (PlanItem)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 i="0">
                <a:solidFill>
                  <a:srgbClr val="86BC25"/>
                </a:solidFill>
                <a:latin typeface="Arial"/>
              </a:rPr>
              <a:t>· </a:t>
            </a:r>
            <a:r>
              <a:rPr sz="1050" b="0" i="0">
                <a:solidFill>
                  <a:srgbClr val="C8CBCE"/>
                </a:solidFill>
                <a:latin typeface="Courier New"/>
              </a:rPr>
              <a:t>artifacts (Artifact)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 i="0">
                <a:solidFill>
                  <a:srgbClr val="86BC25"/>
                </a:solidFill>
                <a:latin typeface="Arial"/>
              </a:rPr>
              <a:t>· </a:t>
            </a:r>
            <a:r>
              <a:rPr sz="1050" b="0" i="0">
                <a:solidFill>
                  <a:srgbClr val="C8CBCE"/>
                </a:solidFill>
                <a:latin typeface="Courier New"/>
              </a:rPr>
              <a:t>decisions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 i="0">
                <a:solidFill>
                  <a:srgbClr val="86BC25"/>
                </a:solidFill>
                <a:latin typeface="Arial"/>
              </a:rPr>
              <a:t>· </a:t>
            </a:r>
            <a:r>
              <a:rPr sz="1050" b="0" i="0">
                <a:solidFill>
                  <a:srgbClr val="C8CBCE"/>
                </a:solidFill>
                <a:latin typeface="Courier New"/>
              </a:rPr>
              <a:t>open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58184" y="2039112"/>
            <a:ext cx="1926335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58184" y="2039112"/>
            <a:ext cx="1926335" cy="50292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58568"/>
            <a:ext cx="1560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Courier New"/>
              </a:rPr>
              <a:t>planner.py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41064" y="2587752"/>
            <a:ext cx="156057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Convert vs Skip per target. A native-product fit becomes a review flag — never a dropped class.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58840" y="2039112"/>
            <a:ext cx="1926335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58840" y="2039112"/>
            <a:ext cx="1926335" cy="50292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41720" y="2258568"/>
            <a:ext cx="1560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Courier New"/>
              </a:rPr>
              <a:t>builders.py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1720" y="2587752"/>
            <a:ext cx="156057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Builder + Verifier. Branches on layer: Java → Apex, Angular Component → LWC bundle.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59495" y="2039112"/>
            <a:ext cx="1926335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59495" y="2039112"/>
            <a:ext cx="1926335" cy="50292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42375" y="2258568"/>
            <a:ext cx="1560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Courier New"/>
              </a:rPr>
              <a:t>critic.py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2375" y="2587752"/>
            <a:ext cx="156057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Adversarial review of each artifact. Findings carry severity, category and a concrete fix.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58184" y="3730752"/>
            <a:ext cx="1926335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58184" y="3730752"/>
            <a:ext cx="1926335" cy="50292"/>
          </a:xfrm>
          <a:prstGeom prst="rect">
            <a:avLst/>
          </a:prstGeom>
          <a:solidFill>
            <a:srgbClr val="6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41064" y="3950208"/>
            <a:ext cx="1560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Courier New"/>
              </a:rPr>
              <a:t>retriever.py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41064" y="4279392"/>
            <a:ext cx="156057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Lexical RAG over 8 bundled Salesforce docs. No vector DB — zero infra, zero drift.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58840" y="3730752"/>
            <a:ext cx="1926335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58840" y="3730752"/>
            <a:ext cx="1926335" cy="50292"/>
          </a:xfrm>
          <a:prstGeom prst="rect">
            <a:avLst/>
          </a:prstGeom>
          <a:solidFill>
            <a:srgbClr val="6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41720" y="3950208"/>
            <a:ext cx="1560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Courier New"/>
              </a:rPr>
              <a:t>router.py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41720" y="4279392"/>
            <a:ext cx="156057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Cheap tier for comprehend and plan; frontier tier for generate, repair and critic.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59495" y="3730752"/>
            <a:ext cx="1926335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59495" y="3730752"/>
            <a:ext cx="1926335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42375" y="3950208"/>
            <a:ext cx="1560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Courier New"/>
              </a:rPr>
              <a:t>incremental.py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2375" y="4279392"/>
            <a:ext cx="156057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Fingerprints source, deps, schema and plan so an unchanged class is never re-generated.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WHY A BLACKBOARD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Because every intermediate state stays inspectable. That is precisely what makes the human review gates, the per-file diff, the regenerate-one-file action and the full audit trail possible at all — none of which you can bolt onto agents that call each other directly.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05 · THE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0E0E"/>
                </a:solidFill>
                <a:latin typeface="Arial"/>
              </a:rPr>
              <a:t>Six stages, three human gates</a:t>
            </a:r>
            <a:r>
              <a:rPr sz="28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06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176272"/>
            <a:ext cx="1458467" cy="3063240"/>
          </a:xfrm>
          <a:prstGeom prst="rect">
            <a:avLst/>
          </a:prstGeom>
          <a:solidFill>
            <a:srgbClr val="FBF7F2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176272"/>
            <a:ext cx="1458467" cy="50292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359152"/>
            <a:ext cx="11658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 spc="100">
                <a:solidFill>
                  <a:srgbClr val="8F9296"/>
                </a:solidFill>
                <a:latin typeface="Courier New"/>
              </a:rPr>
              <a:t>STAGE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15184"/>
            <a:ext cx="11658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Analyze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090672"/>
            <a:ext cx="11658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Ingest Java + Angular, parse items.xml, build the dependency graph and domain schedule.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35424"/>
            <a:ext cx="11658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1">
                <a:solidFill>
                  <a:srgbClr val="8F9296"/>
                </a:solidFill>
                <a:latin typeface="Arial"/>
              </a:rPr>
              <a:t>Deterministic — no model calls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974336"/>
            <a:ext cx="1165859" cy="18288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08275" y="2176272"/>
            <a:ext cx="1458467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08275" y="2176272"/>
            <a:ext cx="1458467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54579" y="2359152"/>
            <a:ext cx="11658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 spc="100">
                <a:solidFill>
                  <a:srgbClr val="8F9296"/>
                </a:solidFill>
                <a:latin typeface="Courier New"/>
              </a:rPr>
              <a:t>STAGE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54579" y="2615184"/>
            <a:ext cx="11658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Comprehend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54579" y="3090672"/>
            <a:ext cx="11658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One structured LLM pass per class: purpose, business rules, queries, side effects, risks.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54579" y="4535424"/>
            <a:ext cx="11658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1">
                <a:solidFill>
                  <a:srgbClr val="8F9296"/>
                </a:solidFill>
                <a:latin typeface="Arial"/>
              </a:rPr>
              <a:t>Fully parallel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3047" y="2176272"/>
            <a:ext cx="1458467" cy="3063240"/>
          </a:xfrm>
          <a:prstGeom prst="rect">
            <a:avLst/>
          </a:prstGeom>
          <a:solidFill>
            <a:srgbClr val="FBF7F2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13047" y="2176272"/>
            <a:ext cx="1458467" cy="50292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9351" y="2359152"/>
            <a:ext cx="11658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 spc="100">
                <a:solidFill>
                  <a:srgbClr val="8F9296"/>
                </a:solidFill>
                <a:latin typeface="Courier New"/>
              </a:rPr>
              <a:t>STAGE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59351" y="2615184"/>
            <a:ext cx="11658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9351" y="3090672"/>
            <a:ext cx="11658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Group classes into Salesforce targets; decide Convert vs Skip; attach review suggestions.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59351" y="4535424"/>
            <a:ext cx="11658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1">
                <a:solidFill>
                  <a:srgbClr val="8F9296"/>
                </a:solidFill>
                <a:latin typeface="Arial"/>
              </a:rPr>
              <a:t>Cheap model tier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59351" y="4974336"/>
            <a:ext cx="1165859" cy="18288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17819" y="2176272"/>
            <a:ext cx="1458467" cy="3063240"/>
          </a:xfrm>
          <a:prstGeom prst="rect">
            <a:avLst/>
          </a:prstGeom>
          <a:solidFill>
            <a:srgbClr val="FBF7F2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17819" y="2176272"/>
            <a:ext cx="1458467" cy="50292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64123" y="2359152"/>
            <a:ext cx="11658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 spc="100">
                <a:solidFill>
                  <a:srgbClr val="8F9296"/>
                </a:solidFill>
                <a:latin typeface="Courier New"/>
              </a:rPr>
              <a:t>STAGE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4123" y="2615184"/>
            <a:ext cx="11658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Build + Critic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64123" y="3090672"/>
            <a:ext cx="11658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Generate Apex/LWC, validate, repair, then adversarially review each artifact.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64123" y="4535424"/>
            <a:ext cx="11658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1">
                <a:solidFill>
                  <a:srgbClr val="8F9296"/>
                </a:solidFill>
                <a:latin typeface="Arial"/>
              </a:rPr>
              <a:t>One wavefront at a time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4123" y="4974336"/>
            <a:ext cx="1165859" cy="18288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22591" y="2176272"/>
            <a:ext cx="1458467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22591" y="2176272"/>
            <a:ext cx="1458467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8895" y="2359152"/>
            <a:ext cx="11658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 spc="100">
                <a:solidFill>
                  <a:srgbClr val="8F9296"/>
                </a:solidFill>
                <a:latin typeface="Courier New"/>
              </a:rPr>
              <a:t>STAGE 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8895" y="2615184"/>
            <a:ext cx="11658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Reconcile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68895" y="3090672"/>
            <a:ext cx="11658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Merge artifacts, augment schema, write the SFDX tree, emit data, schedules and reports.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8895" y="4535424"/>
            <a:ext cx="11658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1">
                <a:solidFill>
                  <a:srgbClr val="8F9296"/>
                </a:solidFill>
                <a:latin typeface="Arial"/>
              </a:rPr>
              <a:t>Deterministic merge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27363" y="2176272"/>
            <a:ext cx="1458467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627363" y="2176272"/>
            <a:ext cx="1458467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73667" y="2359152"/>
            <a:ext cx="11658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 spc="100">
                <a:solidFill>
                  <a:srgbClr val="8F9296"/>
                </a:solidFill>
                <a:latin typeface="Courier New"/>
              </a:rPr>
              <a:t>STAGE 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3667" y="2615184"/>
            <a:ext cx="11658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Verify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3667" y="3090672"/>
            <a:ext cx="11658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Optional real sf dry-run deploy; compiler errors feed the repair loop and redeploy.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3667" y="4535424"/>
            <a:ext cx="11658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1">
                <a:solidFill>
                  <a:srgbClr val="8F9296"/>
                </a:solidFill>
                <a:latin typeface="Arial"/>
              </a:rPr>
              <a:t>Needs a live org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" y="5394960"/>
            <a:ext cx="23335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60">
                <a:solidFill>
                  <a:srgbClr val="A9622F"/>
                </a:solidFill>
                <a:latin typeface="Courier New"/>
              </a:rPr>
              <a:t>⏸ DISCOVERY 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13047" y="5394960"/>
            <a:ext cx="23335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60">
                <a:solidFill>
                  <a:srgbClr val="A9622F"/>
                </a:solidFill>
                <a:latin typeface="Courier New"/>
              </a:rPr>
              <a:t>⏸ PLAN GATE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7819" y="5394960"/>
            <a:ext cx="23335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60">
                <a:solidFill>
                  <a:srgbClr val="A9622F"/>
                </a:solidFill>
                <a:latin typeface="Courier New"/>
              </a:rPr>
              <a:t>⏸ BUILD GATE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THE GATE THAT COSTS NOTHING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The Discovery gate fires </a:t>
            </a:r>
            <a:r>
              <a:rPr sz="1150" b="1" i="0">
                <a:solidFill>
                  <a:srgbClr val="0E0E0E"/>
                </a:solidFill>
                <a:latin typeface="Arial"/>
              </a:rPr>
              <a:t>before a single LLM call is made</a:t>
            </a:r>
            <a:r>
              <a:rPr sz="1150" b="0" i="0">
                <a:solidFill>
                  <a:srgbClr val="222427"/>
                </a:solidFill>
                <a:latin typeface="Arial"/>
              </a:rPr>
              <a:t>. A reviewer sees the complete repository understanding — file tree, architecture, every class and the data model — and can walk away at zero cost. Verified: 0 model requests before approval.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06 · A SUPERVISED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0E0E"/>
                </a:solidFill>
                <a:latin typeface="Arial"/>
              </a:rPr>
              <a:t>How a review gate actually works</a:t>
            </a:r>
            <a:r>
              <a:rPr sz="28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07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84832"/>
            <a:ext cx="4558283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084832"/>
            <a:ext cx="4558283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359152"/>
            <a:ext cx="40827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 spc="80">
                <a:solidFill>
                  <a:srgbClr val="0E0E0E"/>
                </a:solidFill>
                <a:latin typeface="Courier New"/>
              </a:rPr>
              <a:t>REQUEST LIFECYCLE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743200"/>
            <a:ext cx="408279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86BC25"/>
                </a:solidFill>
                <a:latin typeface="Courier New"/>
              </a:rPr>
              <a:t>1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Reviewer uploads a .zip and enables supervised mode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86BC25"/>
                </a:solidFill>
                <a:latin typeface="Courier New"/>
              </a:rPr>
              <a:t>2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POST /api/runs → FastAPI spawns a worker thread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86BC25"/>
                </a:solidFill>
                <a:latin typeface="Courier New"/>
              </a:rPr>
              <a:t>3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Client begins polling GET /api/runs/{id} every 1.2 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86BC25"/>
                </a:solidFill>
                <a:latin typeface="Courier New"/>
              </a:rPr>
              <a:t>4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Analyze completes — still zero model calls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86BC25"/>
                </a:solidFill>
                <a:latin typeface="Courier New"/>
              </a:rPr>
              <a:t>5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gate("discovery") blocks the worker thread on an Event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86BC25"/>
                </a:solidFill>
                <a:latin typeface="Courier New"/>
              </a:rPr>
              <a:t>6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Cockpit renders the scan; reviewer approves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86BC25"/>
                </a:solidFill>
                <a:latin typeface="Courier New"/>
              </a:rPr>
              <a:t>7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Event.set() releases the thread; Comprehend begins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86BC25"/>
                </a:solidFill>
                <a:latin typeface="Courier New"/>
              </a:rPr>
              <a:t>8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Plan and Build gates repeat the same exchange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86BC25"/>
                </a:solidFill>
                <a:latin typeface="Courier New"/>
              </a:rPr>
              <a:t>9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run_complete carries ledger, rule_ledger, cost, decisions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27548" y="2084832"/>
            <a:ext cx="4558283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27548" y="2084832"/>
            <a:ext cx="4558283" cy="50292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5292" y="2359152"/>
            <a:ext cx="40827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 spc="80">
                <a:solidFill>
                  <a:srgbClr val="0E0E0E"/>
                </a:solidFill>
                <a:latin typeface="Courier New"/>
              </a:rPr>
              <a:t>WHY POLLING, NOT 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5292" y="2743200"/>
            <a:ext cx="40827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An SSE endpoint still exists, but the shipped client does not use it. Corporate proxies were silently killing idle connections while a supervised run sat quiet at a gate. The client polls a replay-by-index endpoint instead — less elegant, dramatically more likely to work.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27548" y="4142232"/>
            <a:ext cx="4558283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27548" y="4142232"/>
            <a:ext cx="4558283" cy="50292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5292" y="4416552"/>
            <a:ext cx="40827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 spc="80">
                <a:solidFill>
                  <a:srgbClr val="0E0E0E"/>
                </a:solidFill>
                <a:latin typeface="Courier New"/>
              </a:rPr>
              <a:t>WHAT THE REVIEWER CAN 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5292" y="4782312"/>
            <a:ext cx="40827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046A38"/>
                </a:solidFill>
                <a:latin typeface="Arial"/>
              </a:rPr>
              <a:t>—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Approve, or reject with written feedback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046A38"/>
                </a:solidFill>
                <a:latin typeface="Arial"/>
              </a:rPr>
              <a:t>—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Inspect any file side-by-side against its Java origin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046A38"/>
                </a:solidFill>
                <a:latin typeface="Arial"/>
              </a:rPr>
              <a:t>—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Regenerate a single class without re-running the migration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046A38"/>
                </a:solidFill>
                <a:latin typeface="Arial"/>
              </a:rPr>
              <a:t>—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Ask the Copilot to rework a target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THE HARD PART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The engine runs on a worker thread and a gate blocks that thread while HTTP stays responsive. An early version waited with no timeout and held the global run lock forever — which made a stopped migration un-restartable. Gates now honour cancellation, and a new run auto-cancels the previous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07 · WHAT GOES IN, WHAT COMES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0E0E"/>
                </a:solidFill>
                <a:latin typeface="Arial"/>
              </a:rPr>
              <a:t>Code is half the deliverable</a:t>
            </a:r>
            <a:r>
              <a:rPr sz="26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08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130552"/>
            <a:ext cx="288036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130552"/>
            <a:ext cx="2880360" cy="50292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04872"/>
            <a:ext cx="2441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60">
                <a:solidFill>
                  <a:srgbClr val="0E0E0E"/>
                </a:solidFill>
                <a:latin typeface="Courier New"/>
              </a:rPr>
              <a:t>IN — SAP HYBRIS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16352"/>
            <a:ext cx="2441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Java / Spring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54096"/>
            <a:ext cx="2441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services, DAOs, facades, jobs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93008"/>
            <a:ext cx="2441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items.xml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30752"/>
            <a:ext cx="2441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the Hybris type 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69664"/>
            <a:ext cx="2441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Spartacus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07408"/>
            <a:ext cx="2441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*.component.ts + templates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846320"/>
            <a:ext cx="2441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ImpEx · cronjobs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84064"/>
            <a:ext cx="2441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seed data and schedules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864" y="3730752"/>
            <a:ext cx="42062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8F9296"/>
                </a:solidFill>
                <a:latin typeface="Arial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04487" y="2130552"/>
            <a:ext cx="288036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04487" y="2130552"/>
            <a:ext cx="2880360" cy="50292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23944" y="2404872"/>
            <a:ext cx="2441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60">
                <a:solidFill>
                  <a:srgbClr val="0E0E0E"/>
                </a:solidFill>
                <a:latin typeface="Courier New"/>
              </a:rPr>
              <a:t>OUT — SALESFORCE DX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23944" y="2816352"/>
            <a:ext cx="2441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force-app/classes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23944" y="3054096"/>
            <a:ext cx="2441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Apex + a test class for each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23944" y="3493008"/>
            <a:ext cx="2441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force-app/objects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23944" y="3730752"/>
            <a:ext cx="2441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SObjects and fields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23944" y="4169664"/>
            <a:ext cx="2441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force-app/lwc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23944" y="4407408"/>
            <a:ext cx="2441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LWC bundles + @AuraEnabled Apex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23944" y="4846320"/>
            <a:ext cx="2441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data/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23944" y="5084064"/>
            <a:ext cx="2441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records converted from ImpEx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4848" y="3730752"/>
            <a:ext cx="42062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8F9296"/>
                </a:solidFill>
                <a:latin typeface="Arial"/>
              </a:rPr>
              <a:t>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05472" y="2130552"/>
            <a:ext cx="288036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05472" y="2130552"/>
            <a:ext cx="2880360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24927" y="2404872"/>
            <a:ext cx="2441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60">
                <a:solidFill>
                  <a:srgbClr val="0E0E0E"/>
                </a:solidFill>
                <a:latin typeface="Courier New"/>
              </a:rPr>
              <a:t>OUT —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7" y="2816352"/>
            <a:ext cx="2441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MIGRATION_PLAN.md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24927" y="3054096"/>
            <a:ext cx="2441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every target, decision and rationale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4927" y="3493008"/>
            <a:ext cx="2441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BUSINESS_RULES.md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4927" y="3730752"/>
            <a:ext cx="2441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every rule traced to code and test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24927" y="4169664"/>
            <a:ext cx="2441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FEASIBILITY_REPORT.md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4927" y="4407408"/>
            <a:ext cx="2441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per-artifact confidence + completeness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24927" y="4846320"/>
            <a:ext cx="2441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E0E0E"/>
                </a:solidFill>
                <a:latin typeface="Courier New"/>
              </a:rPr>
              <a:t>PARITY · DATA · CRON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24927" y="5084064"/>
            <a:ext cx="2441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coverage, records, schedules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THE DIFFERENTIATOR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Any tool can emit Apex. </a:t>
            </a:r>
            <a:r>
              <a:rPr sz="1150" b="1" i="0">
                <a:solidFill>
                  <a:srgbClr val="0E0E0E"/>
                </a:solidFill>
                <a:latin typeface="Courier New"/>
              </a:rPr>
              <a:t>BUSINESS_RULES.md</a:t>
            </a:r>
            <a:r>
              <a:rPr sz="1150" b="0" i="0">
                <a:solidFill>
                  <a:srgbClr val="222427"/>
                </a:solidFill>
                <a:latin typeface="Arial"/>
              </a:rPr>
              <a:t> measures completeness in business rules preserved rather than files converted — and names the rules that no generated artifact carries at all. That is the row nothing else reports.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08 ·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0E0E"/>
                </a:solidFill>
                <a:latin typeface="Arial"/>
              </a:rPr>
              <a:t>What each piece is, and why it is there</a:t>
            </a:r>
            <a:r>
              <a:rPr sz="27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09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84832"/>
            <a:ext cx="4585716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084832"/>
            <a:ext cx="4585716" cy="50292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04288"/>
            <a:ext cx="41468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 spc="90">
                <a:solidFill>
                  <a:srgbClr val="0E0E0E"/>
                </a:solidFill>
                <a:latin typeface="Courier New"/>
              </a:rPr>
              <a:t>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46A38"/>
                </a:solidFill>
                <a:latin typeface="Courier New"/>
              </a:rPr>
              <a:t>Python 3.12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65176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host language for the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7180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46A38"/>
                </a:solidFill>
                <a:latin typeface="Courier New"/>
              </a:rPr>
              <a:t>javalang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297180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real Java AST — classes, methods, annotations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46A38"/>
                </a:solidFill>
                <a:latin typeface="Courier New"/>
              </a:rPr>
              <a:t>pydantic · pyyaml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329184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structured-output validation; config + mappings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61188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46A38"/>
                </a:solidFill>
                <a:latin typeface="Courier New"/>
              </a:rPr>
              <a:t>rich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35808" y="361188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CLI rendering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00116" y="2084832"/>
            <a:ext cx="4585716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00116" y="2084832"/>
            <a:ext cx="4585716" cy="50292"/>
          </a:xfrm>
          <a:prstGeom prst="rect">
            <a:avLst/>
          </a:prstGeom>
          <a:solidFill>
            <a:srgbClr val="6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9572" y="2304288"/>
            <a:ext cx="41468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 spc="90">
                <a:solidFill>
                  <a:srgbClr val="0E0E0E"/>
                </a:solidFill>
                <a:latin typeface="Courier New"/>
              </a:rPr>
              <a:t>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9572" y="265176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B4FA8"/>
                </a:solidFill>
                <a:latin typeface="Courier New"/>
              </a:rPr>
              <a:t>anthropic SDK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2420" y="265176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primary provider; per-stage thinking effort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572" y="297180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B4FA8"/>
                </a:solidFill>
                <a:latin typeface="Courier New"/>
              </a:rPr>
              <a:t>openai SDK → OpenRouter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2420" y="297180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alternate provider, OpenAI-compatible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9572" y="329184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B4FA8"/>
                </a:solidFill>
                <a:latin typeface="Courier New"/>
              </a:rPr>
              <a:t>bundled lexical RAG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2420" y="329184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8 Salesforce docs, top-3 per prompt — no vector DB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9572" y="361188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B4FA8"/>
                </a:solidFill>
                <a:latin typeface="Courier New"/>
              </a:rPr>
              <a:t>mock provider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32420" y="361188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keyless, deterministic; CI and safe demos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" y="4233672"/>
            <a:ext cx="4585716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3504" y="4233672"/>
            <a:ext cx="4585716" cy="50292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453128"/>
            <a:ext cx="41468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 spc="90">
                <a:solidFill>
                  <a:srgbClr val="0E0E0E"/>
                </a:solidFill>
                <a:latin typeface="Courier New"/>
              </a:rPr>
              <a:t>WEB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80060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07CB0"/>
                </a:solidFill>
                <a:latin typeface="Courier New"/>
              </a:rPr>
              <a:t>FastAPI + uvicorn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35808" y="480060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15 JSON routes + SPA catch-all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07CB0"/>
                </a:solidFill>
                <a:latin typeface="Courier New"/>
              </a:rPr>
              <a:t>React 18 + TypeScript 5.5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35808" y="512064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the cockpit, typed to the event contract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44068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07CB0"/>
                </a:solidFill>
                <a:latin typeface="Courier New"/>
              </a:rPr>
              <a:t>Vite 5 + Monaco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35808" y="544068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lazy-chunked diff editor; ~61 kB gzipped main bundle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76072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07CB0"/>
                </a:solidFill>
                <a:latin typeface="Courier New"/>
              </a:rPr>
              <a:t>markdown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35808" y="576072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renders .md reports to HTML in-app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00116" y="4233672"/>
            <a:ext cx="4585716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500116" y="4233672"/>
            <a:ext cx="4585716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19572" y="4453128"/>
            <a:ext cx="41468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 spc="90">
                <a:solidFill>
                  <a:srgbClr val="0E0E0E"/>
                </a:solidFill>
                <a:latin typeface="Courier New"/>
              </a:rPr>
              <a:t>DELIVERY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19572" y="480060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Courier New"/>
              </a:rPr>
              <a:t>VS Code API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32420" y="480060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webview + self-bootstrapping venv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19572" y="512064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Courier New"/>
              </a:rPr>
              <a:t>Salesforce CLI (sf)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32420" y="512064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dry-run deploy — the only objective 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9572" y="544068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Courier New"/>
              </a:rPr>
              <a:t>Docker multi-stage → Render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32420" y="544068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node builds the SPA, python serves 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9572" y="576072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Courier New"/>
              </a:rPr>
              <a:t>pytest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32420" y="5760720"/>
            <a:ext cx="19339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85 tests across pipeline, planner, LWC, rule ledger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" y="729691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ARCHITECTURE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09 / 10</a:t>
            </a:r>
          </a:p>
        </p:txBody>
      </p:sp>
      <p:sp>
        <p:nvSpPr>
          <p:cNvPr id="56" name="Oval 55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09 · ARCHITECTURAL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0E0E"/>
                </a:solidFill>
                <a:latin typeface="Arial"/>
              </a:rPr>
              <a:t>The choices that shaped everything else</a:t>
            </a:r>
            <a:r>
              <a:rPr sz="26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10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84832"/>
            <a:ext cx="2990087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084832"/>
            <a:ext cx="2990087" cy="50292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322576"/>
            <a:ext cx="258775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Blackboard over a message bus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26080"/>
            <a:ext cx="25877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Agents read and write one shared workspace; the orchestrator decides who runs when.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" y="3511296"/>
            <a:ext cx="457200" cy="36576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02736"/>
            <a:ext cx="25877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1">
                <a:solidFill>
                  <a:srgbClr val="8F9296"/>
                </a:solidFill>
                <a:latin typeface="Arial"/>
              </a:rPr>
              <a:t>Every intermediate state stays inspectable — which is what the review gates need.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9624" y="2084832"/>
            <a:ext cx="2990087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9624" y="2084832"/>
            <a:ext cx="2990087" cy="50292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50791" y="2322576"/>
            <a:ext cx="258775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Optional hooks, never subclassing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50791" y="2926080"/>
            <a:ext cx="25877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Every integration point is a keyword argument defaulting to None.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50791" y="3511296"/>
            <a:ext cx="457200" cy="36576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50791" y="3602736"/>
            <a:ext cx="25877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1">
                <a:solidFill>
                  <a:srgbClr val="8F9296"/>
                </a:solidFill>
                <a:latin typeface="Arial"/>
              </a:rPr>
              <a:t>The cockpit was added without touching a single CLI code path.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95744" y="2084832"/>
            <a:ext cx="2990087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95744" y="2084832"/>
            <a:ext cx="2990087" cy="50292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912" y="2322576"/>
            <a:ext cx="258775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Convert everything, flag natives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6912" y="2926080"/>
            <a:ext cx="25877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A better native home (CPQ, Flow, Approvals) produces a review flag on converted code.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96912" y="3511296"/>
            <a:ext cx="457200" cy="36576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6912" y="3602736"/>
            <a:ext cx="25877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1">
                <a:solidFill>
                  <a:srgbClr val="8F9296"/>
                </a:solidFill>
                <a:latin typeface="Arial"/>
              </a:rPr>
              <a:t>Silently dropping logic is how migrations lose requirements until go-live.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" y="4187952"/>
            <a:ext cx="2990087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" y="4187952"/>
            <a:ext cx="2990087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425696"/>
            <a:ext cx="258775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Deterministic parallelism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029200"/>
            <a:ext cx="25877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Concurrency bounded by dependency wavefronts; results merge in fixed order.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" y="5614416"/>
            <a:ext cx="457200" cy="3657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705856"/>
            <a:ext cx="25877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1">
                <a:solidFill>
                  <a:srgbClr val="8F9296"/>
                </a:solidFill>
                <a:latin typeface="Arial"/>
              </a:rPr>
              <a:t>A 7× speed-up is worthless if it makes output non-reproducible.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9624" y="4187952"/>
            <a:ext cx="2990087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9624" y="4187952"/>
            <a:ext cx="2990087" cy="50292"/>
          </a:xfrm>
          <a:prstGeom prst="rect">
            <a:avLst/>
          </a:prstGeom>
          <a:solidFill>
            <a:srgbClr val="6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50791" y="4425696"/>
            <a:ext cx="258775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One LLM choke point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0791" y="5029200"/>
            <a:ext cx="25877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Routing, retries, caching and cost accounting all live in llm.py.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50791" y="5614416"/>
            <a:ext cx="457200" cy="36576"/>
          </a:xfrm>
          <a:prstGeom prst="rect">
            <a:avLst/>
          </a:prstGeom>
          <a:solidFill>
            <a:srgbClr val="6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50791" y="5705856"/>
            <a:ext cx="25877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1">
                <a:solidFill>
                  <a:srgbClr val="8F9296"/>
                </a:solidFill>
                <a:latin typeface="Arial"/>
              </a:rPr>
              <a:t>No call site can accidentally bypass the retry or the cost meter.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95744" y="4187952"/>
            <a:ext cx="2990087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95744" y="4187952"/>
            <a:ext cx="2990087" cy="50292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96912" y="4425696"/>
            <a:ext cx="258775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Polling over SSE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96912" y="5029200"/>
            <a:ext cx="25877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The client polls a replay-by-index endpoint instead of holding a stream open.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96912" y="5614416"/>
            <a:ext cx="457200" cy="36576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96912" y="5705856"/>
            <a:ext cx="25877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1">
                <a:solidFill>
                  <a:srgbClr val="8F9296"/>
                </a:solidFill>
                <a:latin typeface="Arial"/>
              </a:rPr>
              <a:t>Chosen after SSE plus heartbeats still failed on a real locked-down network.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" y="729691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ARCHITECTURE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10 / 10</a:t>
            </a:r>
          </a:p>
        </p:txBody>
      </p:sp>
      <p:sp>
        <p:nvSpPr>
          <p:cNvPr id="48" name="Oval 47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