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640080"/>
            <a:ext cx="4480560" cy="4480560"/>
          </a:xfrm>
          <a:prstGeom prst="ellipse">
            <a:avLst/>
          </a:prstGeom>
          <a:noFill/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3108960"/>
            <a:ext cx="2926080" cy="2926080"/>
          </a:xfrm>
          <a:prstGeom prst="ellipse">
            <a:avLst/>
          </a:prstGeom>
          <a:noFill/>
          <a:ln w="12700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67728" y="932688"/>
            <a:ext cx="292608" cy="292608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TECHNICAL OVERVIEW · ENGINEERING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280160"/>
            <a:ext cx="6949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E0E0E"/>
                </a:solidFill>
                <a:latin typeface="Arial"/>
              </a:rPr>
              <a:t>Application Architecture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E0E0E"/>
                </a:solidFill>
                <a:latin typeface="Arial"/>
              </a:rPr>
              <a:t>Three surfaces. One engine</a:t>
            </a:r>
            <a:r>
              <a:rPr sz="34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697480"/>
            <a:ext cx="868680" cy="7315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97180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53565A"/>
                </a:solidFill>
                <a:latin typeface="Arial"/>
              </a:rPr>
              <a:t>Portage converts a SAP Hybris commerce monolith — Java/Spring, items.xml, and a Spartacus storefront — into a deployable Salesforce project of Apex, LWC, and metadata, with a human review gate at every consequential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4434840"/>
            <a:ext cx="1143000" cy="384048"/>
          </a:xfrm>
          <a:prstGeom prst="rect">
            <a:avLst/>
          </a:prstGeom>
          <a:noFill/>
          <a:ln w="19050">
            <a:solidFill>
              <a:srgbClr val="A96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4434840"/>
            <a:ext cx="114300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A9622F"/>
                </a:solidFill>
                <a:latin typeface="Courier New"/>
              </a:rPr>
              <a:t>SAP HYBRIS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4434840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F9296"/>
                </a:solidFill>
                <a:latin typeface="Arial"/>
              </a:rPr>
              <a:t>──▶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3704" y="4434840"/>
            <a:ext cx="1490472" cy="384048"/>
          </a:xfrm>
          <a:prstGeom prst="rect">
            <a:avLst/>
          </a:prstGeom>
          <a:noFill/>
          <a:ln w="19050">
            <a:solidFill>
              <a:srgbClr val="0E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03704" y="4434840"/>
            <a:ext cx="1490472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0E0E"/>
                </a:solidFill>
                <a:latin typeface="Courier New"/>
              </a:rPr>
              <a:t>PORTAGE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434840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F9296"/>
                </a:solidFill>
                <a:latin typeface="Arial"/>
              </a:rPr>
              <a:t>──▶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51376" y="4434840"/>
            <a:ext cx="1143000" cy="384048"/>
          </a:xfrm>
          <a:prstGeom prst="rect">
            <a:avLst/>
          </a:prstGeom>
          <a:noFill/>
          <a:ln w="19050">
            <a:solidFill>
              <a:srgbClr val="007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6" y="4434840"/>
            <a:ext cx="114300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07CB0"/>
                </a:solidFill>
                <a:latin typeface="Courier New"/>
              </a:rPr>
              <a:t>SALESFORCE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5212080"/>
            <a:ext cx="198059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5212080"/>
            <a:ext cx="1706270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Courier New"/>
              </a:rPr>
              <a:t>Python 3.12 </a:t>
            </a:r>
            <a:r>
              <a:rPr sz="900" b="1" i="0">
                <a:solidFill>
                  <a:srgbClr val="0E0E0E"/>
                </a:solidFill>
                <a:latin typeface="Courier New"/>
              </a:rPr>
              <a:t>· FastAPI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6974" y="5212080"/>
            <a:ext cx="2531059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4134" y="5212080"/>
            <a:ext cx="2256739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3565A"/>
                </a:solidFill>
                <a:latin typeface="Courier New"/>
              </a:rPr>
              <a:t>React 18 + Vite </a:t>
            </a:r>
            <a:r>
              <a:rPr sz="900" b="1" i="0">
                <a:solidFill>
                  <a:srgbClr val="0E0E0E"/>
                </a:solidFill>
                <a:latin typeface="Courier New"/>
              </a:rPr>
              <a:t>· TypeScript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0913" y="5212080"/>
            <a:ext cx="1744675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8073" y="5212080"/>
            <a:ext cx="1470355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E0E0E"/>
                </a:solidFill>
                <a:latin typeface="Courier New"/>
              </a:rPr>
              <a:t>85</a:t>
            </a:r>
            <a:r>
              <a:rPr sz="900" b="0" i="0">
                <a:solidFill>
                  <a:srgbClr val="53565A"/>
                </a:solidFill>
                <a:latin typeface="Courier New"/>
              </a:rPr>
              <a:t> automated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01 / 10</a:t>
            </a:r>
          </a:p>
        </p:txBody>
      </p:sp>
      <p:sp>
        <p:nvSpPr>
          <p:cNvPr id="27" name="Oval 26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01 · SYSTEM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0E0E"/>
                </a:solidFill>
                <a:latin typeface="Arial"/>
              </a:rPr>
              <a:t>Everything is a client of one function</a:t>
            </a:r>
            <a:r>
              <a:rPr sz="28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02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901952"/>
            <a:ext cx="9482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Courier New"/>
              </a:rPr>
              <a:t>run_agentic_migration()</a:t>
            </a:r>
            <a:r>
              <a:rPr sz="1250" b="0" i="0">
                <a:solidFill>
                  <a:srgbClr val="53565A"/>
                </a:solidFill>
                <a:latin typeface="Arial"/>
              </a:rPr>
              <a:t> in orchestrator.py is the single entry point. The CLI, the VS Code extension, and the web cockpit are three ways to call it — they differ only in which of its optional hooks they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587752"/>
            <a:ext cx="2977895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2587752"/>
            <a:ext cx="2977895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2538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spc="50">
                <a:solidFill>
                  <a:srgbClr val="0E0E0E"/>
                </a:solidFill>
                <a:latin typeface="Courier New"/>
              </a:rPr>
              <a:t>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45536"/>
            <a:ext cx="253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7CB0"/>
                </a:solidFill>
                <a:latin typeface="Courier New"/>
              </a:rPr>
              <a:t>python -m src.main agent-migrate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25389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Direct, in-process call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Also: ingest · repo-migrate · impex · cronjob · metadata · report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The reference implementation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5719" y="2587752"/>
            <a:ext cx="2977895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55719" y="2587752"/>
            <a:ext cx="2977895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5175" y="2816352"/>
            <a:ext cx="2538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spc="50">
                <a:solidFill>
                  <a:srgbClr val="0E0E0E"/>
                </a:solidFill>
                <a:latin typeface="Courier New"/>
              </a:rPr>
              <a:t>VS CODE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5175" y="3145536"/>
            <a:ext cx="253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7CB0"/>
                </a:solidFill>
                <a:latin typeface="Courier New"/>
              </a:rPr>
              <a:t>TypeScript + webview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5175" y="3474720"/>
            <a:ext cx="25389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Spawns the CLI as a child process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Bootstraps its own .venv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Ships a synced copy of the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07935" y="2587752"/>
            <a:ext cx="2977895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7935" y="2587752"/>
            <a:ext cx="2977895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7391" y="2816352"/>
            <a:ext cx="25389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 spc="50">
                <a:solidFill>
                  <a:srgbClr val="0E0E0E"/>
                </a:solidFill>
                <a:latin typeface="Courier New"/>
              </a:rPr>
              <a:t>WEB COCKPIT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7391" y="3145536"/>
            <a:ext cx="2538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007CB0"/>
                </a:solidFill>
                <a:latin typeface="Courier New"/>
              </a:rPr>
              <a:t>React SPA + 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7391" y="3474720"/>
            <a:ext cx="253898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Imports the engine in-process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Runs it on a worker thread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07CB0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Which is what makes live events and blocking gates possible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5029200"/>
            <a:ext cx="9482328" cy="45720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5029200"/>
            <a:ext cx="911656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ourier New"/>
              </a:rPr>
              <a:t>run_agentic_migration(input, output, *, on_event, gate, should_cancel, on_blackboard, state_dir)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5669280"/>
            <a:ext cx="2219706" cy="658368"/>
          </a:xfrm>
          <a:prstGeom prst="rect">
            <a:avLst/>
          </a:prstGeom>
          <a:solidFill>
            <a:srgbClr val="F3F3F1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9636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46A38"/>
                </a:solidFill>
                <a:latin typeface="Courier New"/>
              </a:rPr>
              <a:t>on_event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0176"/>
            <a:ext cx="19636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streams every stage, decision and artifact to the UI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378" y="5669280"/>
            <a:ext cx="2219706" cy="658368"/>
          </a:xfrm>
          <a:prstGeom prst="rect">
            <a:avLst/>
          </a:prstGeom>
          <a:solidFill>
            <a:srgbClr val="F3F3F1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2394" y="5760720"/>
            <a:ext cx="19636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46A38"/>
                </a:solidFill>
                <a:latin typeface="Courier New"/>
              </a:rPr>
              <a:t>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2394" y="5980176"/>
            <a:ext cx="19636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suspends the run and waits for a human verdict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5252" y="5669280"/>
            <a:ext cx="2219706" cy="658368"/>
          </a:xfrm>
          <a:prstGeom prst="rect">
            <a:avLst/>
          </a:prstGeom>
          <a:solidFill>
            <a:srgbClr val="F3F3F1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3268" y="5760720"/>
            <a:ext cx="19636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46A38"/>
                </a:solidFill>
                <a:latin typeface="Courier New"/>
              </a:rPr>
              <a:t>should_cancel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3268" y="5980176"/>
            <a:ext cx="19636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cooperative cancellation at every safe 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6125" y="5669280"/>
            <a:ext cx="2219706" cy="658368"/>
          </a:xfrm>
          <a:prstGeom prst="rect">
            <a:avLst/>
          </a:prstGeom>
          <a:solidFill>
            <a:srgbClr val="F3F3F1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4142" y="5760720"/>
            <a:ext cx="196367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46A38"/>
                </a:solidFill>
                <a:latin typeface="Courier New"/>
              </a:rPr>
              <a:t>on_blackboard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4142" y="5980176"/>
            <a:ext cx="19636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3565A"/>
                </a:solidFill>
                <a:latin typeface="Arial"/>
              </a:rPr>
              <a:t>exposes live state for diff, regenerate, Copilot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" y="6455664"/>
            <a:ext cx="9482328" cy="713232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" y="6455664"/>
            <a:ext cx="64008" cy="7132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6565392"/>
            <a:ext cx="897940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140">
                <a:solidFill>
                  <a:srgbClr val="046A38"/>
                </a:solidFill>
                <a:latin typeface="Courier New"/>
              </a:rPr>
              <a:t>WHY IT MATTERS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Every hook defaults to </a:t>
            </a:r>
            <a:r>
              <a:rPr sz="1150" b="1" i="0">
                <a:solidFill>
                  <a:srgbClr val="0E0E0E"/>
                </a:solidFill>
                <a:latin typeface="Courier New"/>
              </a:rPr>
              <a:t>None</a:t>
            </a:r>
            <a:r>
              <a:rPr sz="1150" b="0" i="0">
                <a:solidFill>
                  <a:srgbClr val="222427"/>
                </a:solidFill>
                <a:latin typeface="Arial"/>
              </a:rPr>
              <a:t> — so the engine has no knowledge of HTTP, of VS Code, or of a browser. That is what keeps all three surfaces at feature parity without a shared UI layer, and why adding the cockpit changed no CLI behaviour.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02 · 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9482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0E0E"/>
                </a:solidFill>
                <a:latin typeface="Arial"/>
              </a:rPr>
              <a:t>Five layers, two rails</a:t>
            </a:r>
            <a:r>
              <a:rPr sz="26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81" y="1353312"/>
            <a:ext cx="7671173" cy="5623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03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03 · THE FIVE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0E0E"/>
                </a:solidFill>
                <a:latin typeface="Arial"/>
              </a:rPr>
              <a:t>What each layer owns, and what it must not know</a:t>
            </a:r>
            <a:r>
              <a:rPr sz="26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04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11680"/>
            <a:ext cx="9482328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11680"/>
            <a:ext cx="1783080" cy="8503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11680"/>
            <a:ext cx="1554480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80">
                <a:solidFill>
                  <a:srgbClr val="FFFFFF"/>
                </a:solidFill>
                <a:latin typeface="Courier New"/>
              </a:rPr>
              <a:t>SURFACES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2167128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CLI · VS Code extension · Web cockpit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468880"/>
            <a:ext cx="728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Know how to talk to a human. Know nothing about migration.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834640"/>
            <a:ext cx="9482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035808"/>
            <a:ext cx="9482328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3035808"/>
            <a:ext cx="1783080" cy="8503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035808"/>
            <a:ext cx="1554480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80">
                <a:solidFill>
                  <a:srgbClr val="FFFFFF"/>
                </a:solidFill>
                <a:latin typeface="Courier New"/>
              </a:rPr>
              <a:t>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3191256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orchestrator.py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4" y="3493008"/>
            <a:ext cx="728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Stages, dependency wavefronts, human gates, checkpoints, failure containment.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858768"/>
            <a:ext cx="9482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" y="4059936"/>
            <a:ext cx="9482328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4059936"/>
            <a:ext cx="1783080" cy="8503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9936"/>
            <a:ext cx="1554480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80">
                <a:solidFill>
                  <a:srgbClr val="FFFFFF"/>
                </a:solidFill>
                <a:latin typeface="Courier New"/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4215384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Blackboard · Planner · Builder · Critic · 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9464" y="4517136"/>
            <a:ext cx="728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Agents never call each other — they read and write one shared workspace.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4882896"/>
            <a:ext cx="9482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5084064"/>
            <a:ext cx="9482328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" y="5084064"/>
            <a:ext cx="1783080" cy="8503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84064"/>
            <a:ext cx="1554480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80">
                <a:solidFill>
                  <a:srgbClr val="FFFFFF"/>
                </a:solidFill>
                <a:latin typeface="Courier New"/>
              </a:rPr>
              <a:t>CAPABILITIES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9464" y="5239512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ingest · schema · generate · validate · verify · rule_ledger ·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9464" y="5541264"/>
            <a:ext cx="728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Stateless functions. Independently testable. Shared by both pipelines.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5907024"/>
            <a:ext cx="9482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F9296"/>
                </a:solidFill>
                <a:latin typeface="Arial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" y="6108192"/>
            <a:ext cx="9482328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" y="6108192"/>
            <a:ext cx="1783080" cy="850392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108192"/>
            <a:ext cx="1554480" cy="8503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80">
                <a:solidFill>
                  <a:srgbClr val="FFFFFF"/>
                </a:solidFill>
                <a:latin typeface="Courier New"/>
              </a:rPr>
              <a:t>LLM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9464" y="6263640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llm.py → anthropic · openrouter · mock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9464" y="6565392"/>
            <a:ext cx="7287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Routing, retries, caching and cost accounting — one choke point, no bypass.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04 / 10</a:t>
            </a:r>
          </a:p>
        </p:txBody>
      </p:sp>
      <p:sp>
        <p:nvSpPr>
          <p:cNvPr id="41" name="Oval 40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04 · THE AGENTIC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A shared blackboard, not a call graph</a:t>
            </a:r>
            <a:r>
              <a:rPr sz="27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05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39112"/>
            <a:ext cx="2834640" cy="3246120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spc="100">
                <a:solidFill>
                  <a:srgbClr val="FFFFFF"/>
                </a:solidFill>
                <a:latin typeface="Courier New"/>
              </a:rPr>
              <a:t>BLACKBOARD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679192"/>
            <a:ext cx="640080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62072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schema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comprehensions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plan (PlanItem)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artifacts (Artifact)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decisions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6BC25"/>
                </a:solidFill>
                <a:latin typeface="Arial"/>
              </a:rPr>
              <a:t>· </a:t>
            </a:r>
            <a:r>
              <a:rPr sz="1050" b="0" i="0">
                <a:solidFill>
                  <a:srgbClr val="C8CBCE"/>
                </a:solidFill>
                <a:latin typeface="Courier New"/>
              </a:rPr>
              <a:t>open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8184" y="203911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58184" y="2039112"/>
            <a:ext cx="1926335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4" y="225856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planner.py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58775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Convert vs Skip per target. A native-product fit becomes a review flag — never a dropped class.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8840" y="203911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58840" y="2039112"/>
            <a:ext cx="1926335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720" y="225856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builders.py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1720" y="258775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Builder + Verifier. Branches on layer: Java → Apex, Angular Component → LWC bundle.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9495" y="203911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9495" y="2039112"/>
            <a:ext cx="1926335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2375" y="225856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critic.py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2375" y="258775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Adversarial review of each artifact. Findings carry severity, category and a concrete fix.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8184" y="373075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58184" y="3730752"/>
            <a:ext cx="1926335" cy="50292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1064" y="395020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retriever.py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4" y="427939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Lexical RAG over 8 bundled Salesforce docs. No vector DB — zero infra, zero drift.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8840" y="373075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58840" y="3730752"/>
            <a:ext cx="1926335" cy="50292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1720" y="395020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router.py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27939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Cheap tier for comprehend and plan; frontier tier for generate, repair and critic.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59495" y="3730752"/>
            <a:ext cx="192633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9495" y="3730752"/>
            <a:ext cx="1926335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2375" y="3950208"/>
            <a:ext cx="1560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E0E0E"/>
                </a:solidFill>
                <a:latin typeface="Courier New"/>
              </a:rPr>
              <a:t>incremental.py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2375" y="4279392"/>
            <a:ext cx="1560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3565A"/>
                </a:solidFill>
                <a:latin typeface="Arial"/>
              </a:rPr>
              <a:t>Fingerprints source, deps, schema and plan so an unchanged class is never re-generated.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" y="6455664"/>
            <a:ext cx="9482328" cy="713232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" y="6455664"/>
            <a:ext cx="64008" cy="7132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6565392"/>
            <a:ext cx="897940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140">
                <a:solidFill>
                  <a:srgbClr val="046A38"/>
                </a:solidFill>
                <a:latin typeface="Courier New"/>
              </a:rPr>
              <a:t>WHY A BLACKBOARD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Because every intermediate state stays inspectable. That is precisely what makes the human review gates, the per-file diff, the regenerate-one-file action and the full audit trail possible at all — none of which you can bolt onto agents that call each other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05 ·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0E0E"/>
                </a:solidFill>
                <a:latin typeface="Arial"/>
              </a:rPr>
              <a:t>Six stages, three human gates</a:t>
            </a:r>
            <a:r>
              <a:rPr sz="28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06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176272"/>
            <a:ext cx="1458467" cy="3063240"/>
          </a:xfrm>
          <a:prstGeom prst="rect">
            <a:avLst/>
          </a:prstGeom>
          <a:solidFill>
            <a:srgbClr val="FBF7F2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176272"/>
            <a:ext cx="1458467" cy="50292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Ingest Java + Angular, parse items.xml, build the dependency graph and domain schedule.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Deterministic — no model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974336"/>
            <a:ext cx="1165859" cy="18288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08275" y="2176272"/>
            <a:ext cx="145846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8275" y="2176272"/>
            <a:ext cx="1458467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4579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4579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Comprehend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4579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One structured LLM pass per class: purpose, business rules, queries, side effects,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4579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Fully parallel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3047" y="2176272"/>
            <a:ext cx="1458467" cy="3063240"/>
          </a:xfrm>
          <a:prstGeom prst="rect">
            <a:avLst/>
          </a:prstGeom>
          <a:solidFill>
            <a:srgbClr val="FBF7F2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13047" y="2176272"/>
            <a:ext cx="1458467" cy="50292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9351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1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1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Group classes into Salesforce targets; decide Convert vs Skip; attach review suggestions.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1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Cheap model tier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9351" y="4974336"/>
            <a:ext cx="1165859" cy="18288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17819" y="2176272"/>
            <a:ext cx="1458467" cy="3063240"/>
          </a:xfrm>
          <a:prstGeom prst="rect">
            <a:avLst/>
          </a:prstGeom>
          <a:solidFill>
            <a:srgbClr val="FBF7F2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17819" y="2176272"/>
            <a:ext cx="1458467" cy="50292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4123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4123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Build + Critic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4123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Generate Apex/LWC, validate, repair, then adversarially review each artifact.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4123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One wavefront at a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4123" y="4974336"/>
            <a:ext cx="1165859" cy="18288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22591" y="2176272"/>
            <a:ext cx="145846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2591" y="2176272"/>
            <a:ext cx="1458467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5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5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Reconcile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5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Merge artifacts, augment schema, write the SFDX tree, emit data, schedules and reports.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5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Deterministic merge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27363" y="2176272"/>
            <a:ext cx="145846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27363" y="2176272"/>
            <a:ext cx="1458467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3667" y="2359152"/>
            <a:ext cx="11658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 spc="100">
                <a:solidFill>
                  <a:srgbClr val="8F9296"/>
                </a:solidFill>
                <a:latin typeface="Courier New"/>
              </a:rPr>
              <a:t>STAGE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3667" y="2615184"/>
            <a:ext cx="11658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0E0E"/>
                </a:solidFill>
                <a:latin typeface="Arial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3667" y="3090672"/>
            <a:ext cx="11658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Optional real sf dry-run deploy; compiler errors feed the repair loop and redeploy.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3667" y="4535424"/>
            <a:ext cx="11658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1">
                <a:solidFill>
                  <a:srgbClr val="8F9296"/>
                </a:solidFill>
                <a:latin typeface="Arial"/>
              </a:rPr>
              <a:t>Needs a live org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5394960"/>
            <a:ext cx="23335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60">
                <a:solidFill>
                  <a:srgbClr val="A9622F"/>
                </a:solidFill>
                <a:latin typeface="Courier New"/>
              </a:rPr>
              <a:t>⏸ DISCOVERY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3047" y="5394960"/>
            <a:ext cx="23335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60">
                <a:solidFill>
                  <a:srgbClr val="A9622F"/>
                </a:solidFill>
                <a:latin typeface="Courier New"/>
              </a:rPr>
              <a:t>⏸ PLAN GATE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7819" y="5394960"/>
            <a:ext cx="23335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 spc="60">
                <a:solidFill>
                  <a:srgbClr val="A9622F"/>
                </a:solidFill>
                <a:latin typeface="Courier New"/>
              </a:rPr>
              <a:t>⏸ BUILD GATE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" y="6455664"/>
            <a:ext cx="9482328" cy="713232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" y="6455664"/>
            <a:ext cx="64008" cy="7132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6565392"/>
            <a:ext cx="897940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140">
                <a:solidFill>
                  <a:srgbClr val="046A38"/>
                </a:solidFill>
                <a:latin typeface="Courier New"/>
              </a:rPr>
              <a:t>THE GATE THAT COSTS NOTHING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The Discovery gate fires </a:t>
            </a:r>
            <a:r>
              <a:rPr sz="1150" b="1" i="0">
                <a:solidFill>
                  <a:srgbClr val="0E0E0E"/>
                </a:solidFill>
                <a:latin typeface="Arial"/>
              </a:rPr>
              <a:t>before a single LLM call is made</a:t>
            </a:r>
            <a:r>
              <a:rPr sz="1150" b="0" i="0">
                <a:solidFill>
                  <a:srgbClr val="222427"/>
                </a:solidFill>
                <a:latin typeface="Arial"/>
              </a:rPr>
              <a:t>. A reviewer sees the complete repository understanding — file tree, architecture, every class and the data model — and can walk away at zero cost. Verified: 0 model requests before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06 · A SUPERVISED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0E0E"/>
                </a:solidFill>
                <a:latin typeface="Arial"/>
              </a:rPr>
              <a:t>How a review gate actually works</a:t>
            </a:r>
            <a:r>
              <a:rPr sz="28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07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84832"/>
            <a:ext cx="4558283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84832"/>
            <a:ext cx="4558283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59152"/>
            <a:ext cx="4082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80">
                <a:solidFill>
                  <a:srgbClr val="0E0E0E"/>
                </a:solidFill>
                <a:latin typeface="Courier New"/>
              </a:rPr>
              <a:t>REQUEST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43200"/>
            <a:ext cx="408279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1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Reviewer uploads a .zip and enables supervised mode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2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POST /api/runs → FastAPI spawns a worker thread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3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Client begins polling GET /api/runs/{id} every 1.2 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4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Analyze completes — still zero model calls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5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gate("discovery") blocks the worker thread on an Event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6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Cockpit renders the scan; reviewer approves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7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Event.set() releases the thread; Comprehend begins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8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Plan and Build gates repeat the same exchange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86BC25"/>
                </a:solidFill>
                <a:latin typeface="Courier New"/>
              </a:rPr>
              <a:t>9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run_complete carries ledger, rule_ledger, cost,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8" y="2084832"/>
            <a:ext cx="455828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7548" y="2084832"/>
            <a:ext cx="4558283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5292" y="2359152"/>
            <a:ext cx="4082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80">
                <a:solidFill>
                  <a:srgbClr val="0E0E0E"/>
                </a:solidFill>
                <a:latin typeface="Courier New"/>
              </a:rPr>
              <a:t>WHY POLLING, NOT 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5292" y="2743200"/>
            <a:ext cx="40827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3565A"/>
                </a:solidFill>
                <a:latin typeface="Arial"/>
              </a:rPr>
              <a:t>An SSE endpoint still exists, but the shipped client does not use it. Corporate proxies were silently killing idle connections while a supervised run sat quiet at a gate. The client polls a replay-by-index endpoint instead — less elegant, dramatically more likely to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7548" y="4142232"/>
            <a:ext cx="4558283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7548" y="4142232"/>
            <a:ext cx="4558283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5292" y="4416552"/>
            <a:ext cx="40827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80">
                <a:solidFill>
                  <a:srgbClr val="0E0E0E"/>
                </a:solidFill>
                <a:latin typeface="Courier New"/>
              </a:rPr>
              <a:t>WHAT THE REVIEWER CAN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5292" y="4782312"/>
            <a:ext cx="40827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46A38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Approve, or reject with written feedback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46A38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Inspect any file side-by-side against its Java origin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46A38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Regenerate a single class without re-running the migration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046A38"/>
                </a:solidFill>
                <a:latin typeface="Arial"/>
              </a:rPr>
              <a:t>—  </a:t>
            </a:r>
            <a:r>
              <a:rPr sz="1050" b="0" i="0">
                <a:solidFill>
                  <a:srgbClr val="53565A"/>
                </a:solidFill>
                <a:latin typeface="Arial"/>
              </a:rPr>
              <a:t>Ask the Copilot to rework a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" y="6455664"/>
            <a:ext cx="9482328" cy="713232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6455664"/>
            <a:ext cx="64008" cy="7132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6565392"/>
            <a:ext cx="897940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140">
                <a:solidFill>
                  <a:srgbClr val="046A38"/>
                </a:solidFill>
                <a:latin typeface="Courier New"/>
              </a:rPr>
              <a:t>THE HARD PART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The engine runs on a worker thread and a gate blocks that thread while HTTP stays responsive. An early version waited with no timeout and held the global run lock forever — which made a stopped migration un-restartable. Gates now honour cancellation, and a new run auto-cancels the previous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07 · WHAT GOES IN, WHAT COMES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0E0E"/>
                </a:solidFill>
                <a:latin typeface="Arial"/>
              </a:rPr>
              <a:t>Code is half the deliverable</a:t>
            </a:r>
            <a:r>
              <a:rPr sz="26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08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130552"/>
            <a:ext cx="28803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130552"/>
            <a:ext cx="2880360" cy="50292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487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spc="60">
                <a:solidFill>
                  <a:srgbClr val="0E0E0E"/>
                </a:solidFill>
                <a:latin typeface="Courier New"/>
              </a:rPr>
              <a:t>IN — SAP HYBRIS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Java / Spring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54096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services, DAOs, facades,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93008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items.xml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3075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the Hybris type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9664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Spartacus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07408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*.component.ts +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ImpEx · cronjobs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84064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seed data and schedules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730752"/>
            <a:ext cx="4206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8F9296"/>
                </a:solidFill>
                <a:latin typeface="Arial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4487" y="2130552"/>
            <a:ext cx="28803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4487" y="2130552"/>
            <a:ext cx="2880360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240487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spc="60">
                <a:solidFill>
                  <a:srgbClr val="0E0E0E"/>
                </a:solidFill>
                <a:latin typeface="Courier New"/>
              </a:rPr>
              <a:t>OUT — SALESFORCE DX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3944" y="2816352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force-app/classes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3054096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Apex + a test class for 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944" y="3493008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force-app/objects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373075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SObjects and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4169664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force-app/lwc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4407408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LWC bundles + @AuraEnabled Apex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3944" y="4846320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data/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23944" y="5084064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records converted from ImpEx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3730752"/>
            <a:ext cx="42062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8F9296"/>
                </a:solidFill>
                <a:latin typeface="Arial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5472" y="2130552"/>
            <a:ext cx="28803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5472" y="2130552"/>
            <a:ext cx="2880360" cy="5029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927" y="240487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 spc="60">
                <a:solidFill>
                  <a:srgbClr val="0E0E0E"/>
                </a:solidFill>
                <a:latin typeface="Courier New"/>
              </a:rPr>
              <a:t>OUT —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2816352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MIGRATION_PLAN.md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3054096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every target, decision and rationale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3493008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BUSINESS_RULES.md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7" y="3730752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every rule traced to code and 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7" y="4169664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FEASIBILITY_REPORT.md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4407408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per-artifact confidence + completeness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7" y="4846320"/>
            <a:ext cx="24414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E0E0E"/>
                </a:solidFill>
                <a:latin typeface="Courier New"/>
              </a:rPr>
              <a:t>PARITY · DATA · CRON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7" y="5084064"/>
            <a:ext cx="2441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coverage, records, schedules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" y="6455664"/>
            <a:ext cx="9482328" cy="713232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" y="6455664"/>
            <a:ext cx="64008" cy="7132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" y="6565392"/>
            <a:ext cx="8979407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140">
                <a:solidFill>
                  <a:srgbClr val="046A38"/>
                </a:solidFill>
                <a:latin typeface="Courier New"/>
              </a:rPr>
              <a:t>THE DIFFERENTIATOR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22427"/>
                </a:solidFill>
                <a:latin typeface="Arial"/>
              </a:rPr>
              <a:t>Any tool can emit Apex. </a:t>
            </a:r>
            <a:r>
              <a:rPr sz="1150" b="1" i="0">
                <a:solidFill>
                  <a:srgbClr val="0E0E0E"/>
                </a:solidFill>
                <a:latin typeface="Courier New"/>
              </a:rPr>
              <a:t>BUSINESS_RULES.md</a:t>
            </a:r>
            <a:r>
              <a:rPr sz="1150" b="0" i="0">
                <a:solidFill>
                  <a:srgbClr val="222427"/>
                </a:solidFill>
                <a:latin typeface="Arial"/>
              </a:rPr>
              <a:t> measures completeness in business rules preserved rather than files converted — and names the rules that no generated artifact carries at all. That is the row nothing else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08 ·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0E0E"/>
                </a:solidFill>
                <a:latin typeface="Arial"/>
              </a:rPr>
              <a:t>What each piece is, and why it is there</a:t>
            </a:r>
            <a:r>
              <a:rPr sz="27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09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84832"/>
            <a:ext cx="458571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84832"/>
            <a:ext cx="4585716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04288"/>
            <a:ext cx="41468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90">
                <a:solidFill>
                  <a:srgbClr val="0E0E0E"/>
                </a:solidFill>
                <a:latin typeface="Courier New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6A38"/>
                </a:solidFill>
                <a:latin typeface="Courier New"/>
              </a:rPr>
              <a:t>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5176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host language for the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6A38"/>
                </a:solidFill>
                <a:latin typeface="Courier New"/>
              </a:rPr>
              <a:t>javalang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97180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real Java AST — classes, methods, annotations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6A38"/>
                </a:solidFill>
                <a:latin typeface="Courier New"/>
              </a:rPr>
              <a:t>pydantic · pyyaml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29184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structured-output validation; config + mappings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118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46A38"/>
                </a:solidFill>
                <a:latin typeface="Courier New"/>
              </a:rPr>
              <a:t>rich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61188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CLI rendering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0116" y="2084832"/>
            <a:ext cx="458571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00116" y="2084832"/>
            <a:ext cx="4585716" cy="50292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9572" y="2304288"/>
            <a:ext cx="41468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90">
                <a:solidFill>
                  <a:srgbClr val="0E0E0E"/>
                </a:solidFill>
                <a:latin typeface="Courier New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9572" y="26517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6B4FA8"/>
                </a:solidFill>
                <a:latin typeface="Courier New"/>
              </a:rPr>
              <a:t>anthropic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2420" y="265176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primary provider; per-stage thinking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9572" y="29718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6B4FA8"/>
                </a:solidFill>
                <a:latin typeface="Courier New"/>
              </a:rPr>
              <a:t>openai SDK → OpenRouter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2420" y="297180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alternate provider, OpenAI-compatible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9572" y="32918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6B4FA8"/>
                </a:solidFill>
                <a:latin typeface="Courier New"/>
              </a:rPr>
              <a:t>bundled lexical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2420" y="329184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8 Salesforce docs, top-3 per prompt — no vector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9572" y="36118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6B4FA8"/>
                </a:solidFill>
                <a:latin typeface="Courier New"/>
              </a:rPr>
              <a:t>mock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2420" y="361188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keyless, deterministic; CI and safe demos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" y="4233672"/>
            <a:ext cx="458571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" y="4233672"/>
            <a:ext cx="4585716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453128"/>
            <a:ext cx="41468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90">
                <a:solidFill>
                  <a:srgbClr val="0E0E0E"/>
                </a:solidFill>
                <a:latin typeface="Courier New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7CB0"/>
                </a:solidFill>
                <a:latin typeface="Courier New"/>
              </a:rPr>
              <a:t>FastAPI + uvicorn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5808" y="480060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15 JSON routes + SPA catch-all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7CB0"/>
                </a:solidFill>
                <a:latin typeface="Courier New"/>
              </a:rPr>
              <a:t>React 18 + TypeScript 5.5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5808" y="512064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the cockpit, typed to the event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40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7CB0"/>
                </a:solidFill>
                <a:latin typeface="Courier New"/>
              </a:rPr>
              <a:t>Vite 5 + Monaco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35808" y="544068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lazy-chunked diff editor; ~61 kB gzipped main bundle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76072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07CB0"/>
                </a:solidFill>
                <a:latin typeface="Courier New"/>
              </a:rPr>
              <a:t>markdown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576072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renders .md reports to HTML in-app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00116" y="4233672"/>
            <a:ext cx="4585716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00116" y="4233672"/>
            <a:ext cx="4585716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9572" y="4453128"/>
            <a:ext cx="41468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spc="90">
                <a:solidFill>
                  <a:srgbClr val="0E0E0E"/>
                </a:solidFill>
                <a:latin typeface="Courier New"/>
              </a:rPr>
              <a:t>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9572" y="48006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0E0E"/>
                </a:solidFill>
                <a:latin typeface="Courier New"/>
              </a:rPr>
              <a:t>VS Code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2420" y="480060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webview + self-bootstrapping venv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9572" y="51206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0E0E"/>
                </a:solidFill>
                <a:latin typeface="Courier New"/>
              </a:rPr>
              <a:t>Salesforce CLI (sf)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2420" y="512064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dry-run deploy — the only objective 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9572" y="5440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0E0E"/>
                </a:solidFill>
                <a:latin typeface="Courier New"/>
              </a:rPr>
              <a:t>Docker multi-stage → Render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2420" y="544068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node builds the SPA, python serves 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9572" y="576072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0E0E"/>
                </a:solidFill>
                <a:latin typeface="Courier New"/>
              </a:rPr>
              <a:t>pytest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2420" y="5760720"/>
            <a:ext cx="19339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85 tests across pipeline, planner, LWC, rule ledger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09 / 10</a:t>
            </a:r>
          </a:p>
        </p:txBody>
      </p:sp>
      <p:sp>
        <p:nvSpPr>
          <p:cNvPr id="56" name="Oval 55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3504" y="493776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38912"/>
            <a:ext cx="92080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spc="200">
                <a:solidFill>
                  <a:srgbClr val="53565A"/>
                </a:solidFill>
                <a:latin typeface="Courier New"/>
              </a:rPr>
              <a:t>09 · ARCHITECTURAL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22960"/>
            <a:ext cx="948232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0E0E"/>
                </a:solidFill>
                <a:latin typeface="Arial"/>
              </a:rPr>
              <a:t>The choices that shaped everything else</a:t>
            </a:r>
            <a:r>
              <a:rPr sz="2600" b="1" i="0">
                <a:solidFill>
                  <a:srgbClr val="86BC25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64208"/>
            <a:ext cx="9482328" cy="18288"/>
          </a:xfrm>
          <a:prstGeom prst="rect">
            <a:avLst/>
          </a:prstGeom>
          <a:solidFill>
            <a:srgbClr val="D2D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10 / 10</a:t>
            </a:r>
          </a:p>
        </p:txBody>
      </p:sp>
      <p:sp>
        <p:nvSpPr>
          <p:cNvPr id="9" name="Oval 8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8483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84832"/>
            <a:ext cx="2990087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2257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Blackboard over a message 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2608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Agents read and write one shared workspace; the orchestrator decides who runs when.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511296"/>
            <a:ext cx="457200" cy="3657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0273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Every intermediate state stays inspectable — which is what the review gates need.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9624" y="208483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9624" y="2084832"/>
            <a:ext cx="2990087" cy="50292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0791" y="232257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Optional hooks, never subclassing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292608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Every integration point is a keyword argument defaulting to None.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0791" y="3511296"/>
            <a:ext cx="457200" cy="3657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50791" y="360273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The cockpit was added without touching a single CLI code path.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208483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5744" y="2084832"/>
            <a:ext cx="2990087" cy="50292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232257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Convert everything, flag natives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92608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A better native home (CPQ, Flow, Approvals) produces a review flag on converted code.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3511296"/>
            <a:ext cx="457200" cy="36576"/>
          </a:xfrm>
          <a:prstGeom prst="rect">
            <a:avLst/>
          </a:prstGeom>
          <a:solidFill>
            <a:srgbClr val="A96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360273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Silently dropping logic is how migrations lose requirements until go-live.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418795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" y="4187952"/>
            <a:ext cx="2990087" cy="50292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42569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Deterministic parallelism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2920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Concurrency bounded by dependency wavefronts; results merge in fixed order.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5614416"/>
            <a:ext cx="457200" cy="36576"/>
          </a:xfrm>
          <a:prstGeom prst="rect">
            <a:avLst/>
          </a:prstGeom>
          <a:solidFill>
            <a:srgbClr val="0E0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70585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A 7× speed-up is worthless if it makes output non-reproducible.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9624" y="418795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9624" y="4187952"/>
            <a:ext cx="2990087" cy="50292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0791" y="442569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One LLM choke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791" y="502920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Routing, retries, caching and cost accounting all live in llm.py.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50791" y="5614416"/>
            <a:ext cx="457200" cy="36576"/>
          </a:xfrm>
          <a:prstGeom prst="rect">
            <a:avLst/>
          </a:prstGeom>
          <a:solidFill>
            <a:srgbClr val="6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0791" y="570585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No call site can accidentally bypass the retry or the cost meter.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95744" y="4187952"/>
            <a:ext cx="2990087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95744" y="4187952"/>
            <a:ext cx="2990087" cy="50292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4425696"/>
            <a:ext cx="258775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E0E0E"/>
                </a:solidFill>
                <a:latin typeface="Arial"/>
              </a:rPr>
              <a:t>Polling over 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6912" y="5029200"/>
            <a:ext cx="25877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65A"/>
                </a:solidFill>
                <a:latin typeface="Arial"/>
              </a:rPr>
              <a:t>The client polls a replay-by-index endpoint instead of holding a stream open.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96912" y="5614416"/>
            <a:ext cx="457200" cy="36576"/>
          </a:xfrm>
          <a:prstGeom prst="rect">
            <a:avLst/>
          </a:prstGeom>
          <a:solidFill>
            <a:srgbClr val="00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5705856"/>
            <a:ext cx="25877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1">
                <a:solidFill>
                  <a:srgbClr val="8F9296"/>
                </a:solidFill>
                <a:latin typeface="Arial"/>
              </a:rPr>
              <a:t>Chosen after SSE plus heartbeats still failed on a real locked-down network.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7296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PORTAGE · ARCHITECTURE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1" y="72969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spc="120">
                <a:solidFill>
                  <a:srgbClr val="8F9296"/>
                </a:solidFill>
                <a:latin typeface="Courier New"/>
              </a:rPr>
              <a:t>10 / 10</a:t>
            </a:r>
          </a:p>
        </p:txBody>
      </p:sp>
      <p:sp>
        <p:nvSpPr>
          <p:cNvPr id="48" name="Oval 47"/>
          <p:cNvSpPr/>
          <p:nvPr/>
        </p:nvSpPr>
        <p:spPr>
          <a:xfrm>
            <a:off x="9957815" y="7319772"/>
            <a:ext cx="82296" cy="82296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