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100" b="1" i="0" spc="240">
                <a:solidFill>
                  <a:srgbClr val="86BC25"/>
                </a:solidFill>
                <a:latin typeface="Courier New"/>
              </a:rPr>
              <a:t>AI-POWERED MIGRATION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578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4200" b="1" i="0">
                <a:solidFill>
                  <a:srgbClr val="FFFFFF"/>
                </a:solidFill>
                <a:latin typeface="Arial"/>
              </a:rPr>
              <a:t>SAP Hybris</a:t>
            </a:r>
            <a:r>
              <a:rPr sz="4200" b="0" i="0">
                <a:solidFill>
                  <a:srgbClr val="86BC25"/>
                </a:solidFill>
                <a:latin typeface="Arial"/>
              </a:rPr>
              <a:t>  →  </a:t>
            </a:r>
            <a:r>
              <a:rPr sz="4200" b="1" i="0">
                <a:solidFill>
                  <a:srgbClr val="FFFFFF"/>
                </a:solidFill>
                <a:latin typeface="Arial"/>
              </a:rPr>
              <a:t>Salesforce</a:t>
            </a:r>
          </a:p>
          <a:p>
            <a:pPr algn="ctr">
              <a:lnSpc>
                <a:spcPct val="130000"/>
              </a:lnSpc>
              <a:spcAft>
                <a:spcPts val="1000"/>
              </a:spcAft>
            </a:pPr>
            <a:r>
              <a:rPr sz="1700" b="0" i="0">
                <a:solidFill>
                  <a:srgbClr val="C9CCD0"/>
                </a:solidFill>
                <a:latin typeface="Arial"/>
              </a:rPr>
              <a:t>Migrated by an AI agent team. </a:t>
            </a:r>
            <a:r>
              <a:rPr sz="1700" b="1" i="0">
                <a:solidFill>
                  <a:srgbClr val="86BC25"/>
                </a:solidFill>
                <a:latin typeface="Arial"/>
              </a:rPr>
              <a:t>Proven to still behave the same.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08379" y="370332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A1C1F"/>
          </a:solidFill>
          <a:ln w="12700">
            <a:solidFill>
              <a:srgbClr val="333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08379" y="3703320"/>
            <a:ext cx="2880360" cy="64008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56535" y="3968496"/>
            <a:ext cx="384048" cy="384048"/>
          </a:xfrm>
          <a:prstGeom prst="ellipse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6535" y="39684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0E0E0E"/>
                </a:solidFill>
                <a:latin typeface="Arial"/>
              </a:rPr>
              <a:t>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4683" y="4416552"/>
            <a:ext cx="25877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Your Hybris code</a:t>
            </a:r>
          </a:p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Java · data model · data · jobs · storefront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1035" y="4233672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6BC25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55667" y="370332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A1C1F"/>
          </a:solidFill>
          <a:ln w="12700">
            <a:solidFill>
              <a:srgbClr val="333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55667" y="3703320"/>
            <a:ext cx="2880360" cy="64008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03823" y="3968496"/>
            <a:ext cx="384048" cy="38404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3823" y="39684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0E0E0E"/>
                </a:solidFill>
                <a:latin typeface="Arial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1971" y="4416552"/>
            <a:ext cx="25877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AI agent team</a:t>
            </a:r>
          </a:p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plan · build · review · 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8323" y="4233672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6BC25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2955" y="370332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A1C1F"/>
          </a:solidFill>
          <a:ln w="12700">
            <a:solidFill>
              <a:srgbClr val="333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955" y="3703320"/>
            <a:ext cx="2880360" cy="64008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51111" y="3968496"/>
            <a:ext cx="384048" cy="384048"/>
          </a:xfrm>
          <a:prstGeom prst="ellipse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1111" y="39684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0E0E0E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9259" y="4416552"/>
            <a:ext cx="25877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Deployable Salesforce</a:t>
            </a:r>
          </a:p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Apex · LWC · objects · Flows + 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6235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Courier New"/>
              </a:rPr>
              <a:t>Web cockpit  ·  VS Code  ·  Command line</a:t>
            </a:r>
            <a:r>
              <a:rPr sz="1100" b="0" i="0">
                <a:solidFill>
                  <a:srgbClr val="8F9296"/>
                </a:solidFill>
                <a:latin typeface="Courier New"/>
              </a:rPr>
              <a:t>        Powered by Anthropic Claude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00" b="0" i="0" spc="140">
                <a:solidFill>
                  <a:srgbClr val="8F9296"/>
                </a:solidFill>
                <a:latin typeface="Courier New"/>
              </a:rPr>
              <a:t>H2A  ·  HYBRIS TO SALESFORCE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Courier New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 i="0" spc="200">
                <a:solidFill>
                  <a:srgbClr val="046A38"/>
                </a:solidFill>
                <a:latin typeface="Courier New"/>
              </a:rPr>
              <a:t>01 ·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Point it at the old system. Get a working new one — with receipts.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89888"/>
            <a:ext cx="822960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00" b="0" i="0" spc="140">
                <a:solidFill>
                  <a:srgbClr val="8F9296"/>
                </a:solidFill>
                <a:latin typeface="Courier New"/>
              </a:rPr>
              <a:t>H2A  ·  HYBRIS TO 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7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Courier New"/>
              </a:rPr>
              <a:t>02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3228746" cy="3200400"/>
          </a:xfrm>
          <a:prstGeom prst="roundRect">
            <a:avLst>
              <a:gd name="adj" fmla="val 6000"/>
            </a:avLst>
          </a:prstGeom>
          <a:solidFill>
            <a:srgbClr val="F3F3F1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3228746" cy="68580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8629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IN — what you have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32888"/>
            <a:ext cx="286298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Java business logic — orders, pricing, customers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data model (items.xml)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Real data (ImpEx files)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Scheduled jobs (cronjobs)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Workflows (business processes)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Spartacus storefront (Angular)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1474" y="1783080"/>
            <a:ext cx="3228746" cy="3200400"/>
          </a:xfrm>
          <a:prstGeom prst="roundRect">
            <a:avLst>
              <a:gd name="adj" fmla="val 6000"/>
            </a:avLst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1474" y="1783080"/>
            <a:ext cx="3228746" cy="6858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6663" y="2231136"/>
            <a:ext cx="658368" cy="65836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6663" y="22311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600" b="0" i="0">
                <a:solidFill>
                  <a:srgbClr val="0E0E0E"/>
                </a:solidFill>
                <a:latin typeface="Arial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4354" y="3026664"/>
            <a:ext cx="2862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Four AI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930" y="3474720"/>
            <a:ext cx="278983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1" i="0">
                <a:solidFill>
                  <a:srgbClr val="86BC25"/>
                </a:solidFill>
                <a:latin typeface="Arial"/>
              </a:rPr>
              <a:t>Planner  </a:t>
            </a:r>
            <a:r>
              <a:rPr sz="1100" b="0" i="0">
                <a:solidFill>
                  <a:srgbClr val="B8BCC0"/>
                </a:solidFill>
                <a:latin typeface="Arial"/>
              </a:rPr>
              <a:t>decides what becomes what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1" i="0">
                <a:solidFill>
                  <a:srgbClr val="86BC25"/>
                </a:solidFill>
                <a:latin typeface="Arial"/>
              </a:rPr>
              <a:t>Builder  </a:t>
            </a:r>
            <a:r>
              <a:rPr sz="1100" b="0" i="0">
                <a:solidFill>
                  <a:srgbClr val="B8BCC0"/>
                </a:solidFill>
                <a:latin typeface="Arial"/>
              </a:rPr>
              <a:t>writes the code + tests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1" i="0">
                <a:solidFill>
                  <a:srgbClr val="86BC25"/>
                </a:solidFill>
                <a:latin typeface="Arial"/>
              </a:rPr>
              <a:t>Critic  </a:t>
            </a:r>
            <a:r>
              <a:rPr sz="1100" b="0" i="0">
                <a:solidFill>
                  <a:srgbClr val="B8BCC0"/>
                </a:solidFill>
                <a:latin typeface="Arial"/>
              </a:rPr>
              <a:t>reviews it, adversarially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1" i="0">
                <a:solidFill>
                  <a:srgbClr val="86BC25"/>
                </a:solidFill>
                <a:latin typeface="Arial"/>
              </a:rPr>
              <a:t>Verifier  </a:t>
            </a:r>
            <a:r>
              <a:rPr sz="1100" b="0" i="0">
                <a:solidFill>
                  <a:srgbClr val="B8BCC0"/>
                </a:solidFill>
                <a:latin typeface="Arial"/>
              </a:rPr>
              <a:t>deploys it for real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6020" y="1783080"/>
            <a:ext cx="3228746" cy="3200400"/>
          </a:xfrm>
          <a:prstGeom prst="roundRect">
            <a:avLst>
              <a:gd name="adj" fmla="val 6000"/>
            </a:avLst>
          </a:prstGeom>
          <a:solidFill>
            <a:srgbClr val="ECF3E4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6020" y="1783080"/>
            <a:ext cx="3228746" cy="68580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8900" y="2057400"/>
            <a:ext cx="28629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OUT — what you 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8900" y="2532888"/>
            <a:ext cx="286298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Apex classes + a test for every one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Custom objects and fields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Lightning Web Components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Salesforce Flows from your workflows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Data loaders and job schedules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The evidence it still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41978" y="3200400"/>
            <a:ext cx="39319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F9296"/>
                </a:solidFill>
                <a:latin typeface="Arial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6524" y="3200400"/>
            <a:ext cx="39319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F9296"/>
                </a:solidFill>
                <a:latin typeface="Arial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300"/>
              </a:spcAft>
            </a:pPr>
            <a:r>
              <a:rPr sz="1300" b="0" i="0">
                <a:solidFill>
                  <a:srgbClr val="53565A"/>
                </a:solidFill>
                <a:latin typeface="Arial"/>
              </a:rPr>
              <a:t>Months of manual rewriting becomes a reviewed first draft in </a:t>
            </a:r>
            <a:r>
              <a:rPr sz="1300" b="1" i="0">
                <a:solidFill>
                  <a:srgbClr val="0E0E0E"/>
                </a:solidFill>
                <a:latin typeface="Arial"/>
              </a:rPr>
              <a:t>minutes to hours</a:t>
            </a:r>
            <a:r>
              <a:rPr sz="1300" b="0" i="0">
                <a:solidFill>
                  <a:srgbClr val="53565A"/>
                </a:solidFill>
                <a:latin typeface="Arial"/>
              </a:rPr>
              <a:t> — and every business rule is tracked from the old code to the new.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 i="0" spc="200">
                <a:solidFill>
                  <a:srgbClr val="046A38"/>
                </a:solidFill>
                <a:latin typeface="Courier New"/>
              </a:rPr>
              <a:t>02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Three front doors. One engine. One place the AI is called.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89888"/>
            <a:ext cx="822960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00" b="0" i="0" spc="140">
                <a:solidFill>
                  <a:srgbClr val="8F9296"/>
                </a:solidFill>
                <a:latin typeface="Courier New"/>
              </a:rPr>
              <a:t>H2A  ·  HYBRIS TO 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7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Courier New"/>
              </a:rPr>
              <a:t>03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55648"/>
            <a:ext cx="1920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1" i="0" spc="100">
                <a:solidFill>
                  <a:srgbClr val="007CB0"/>
                </a:solidFill>
                <a:latin typeface="Courier New"/>
              </a:rPr>
              <a:t>YOU USE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874519"/>
            <a:ext cx="276545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15768" y="1874519"/>
            <a:ext cx="2765450" cy="68580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43784" y="2112263"/>
            <a:ext cx="25094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Web cockpit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watch and approve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73242" y="1874519"/>
            <a:ext cx="276545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73242" y="1874519"/>
            <a:ext cx="2765450" cy="68580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1258" y="2112263"/>
            <a:ext cx="25094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VS Code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right-click a folder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30716" y="1874519"/>
            <a:ext cx="276545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30716" y="1874519"/>
            <a:ext cx="2765450" cy="68580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8732" y="2112263"/>
            <a:ext cx="25094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Command line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for CI/CD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2967" y="2560320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816352"/>
            <a:ext cx="11057839" cy="1006571"/>
          </a:xfrm>
          <a:prstGeom prst="roundRect">
            <a:avLst>
              <a:gd name="adj" fmla="val 6000"/>
            </a:avLst>
          </a:prstGeom>
          <a:solidFill>
            <a:srgbClr val="F3F3F1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816352"/>
            <a:ext cx="1920240" cy="100657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1" i="0" spc="100">
                <a:solidFill>
                  <a:srgbClr val="046A38"/>
                </a:solidFill>
                <a:latin typeface="Courier New"/>
              </a:rPr>
              <a:t>THE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15768" y="2962656"/>
            <a:ext cx="2051227" cy="7139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15768" y="2962656"/>
            <a:ext cx="2051227" cy="6858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43784" y="3200400"/>
            <a:ext cx="1795195" cy="384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Planner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what becomes what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2443" y="2962656"/>
            <a:ext cx="2051227" cy="7139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22443" y="2962656"/>
            <a:ext cx="2051227" cy="6858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50459" y="3200400"/>
            <a:ext cx="1795195" cy="384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Builder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writes Apex + LWC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29119" y="2962656"/>
            <a:ext cx="2051227" cy="7139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29119" y="2962656"/>
            <a:ext cx="2051227" cy="6858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57135" y="3200400"/>
            <a:ext cx="1795195" cy="384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Critic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challenges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35795" y="2962656"/>
            <a:ext cx="2051227" cy="7139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35795" y="2962656"/>
            <a:ext cx="2051227" cy="6858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63811" y="3200400"/>
            <a:ext cx="1795195" cy="384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Verifier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850" b="0" i="0">
                <a:solidFill>
                  <a:srgbClr val="53565A"/>
                </a:solidFill>
                <a:latin typeface="Arial"/>
              </a:rPr>
              <a:t>deploys to your org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2967" y="3841211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097243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ECF3E4"/>
          </a:solidFill>
          <a:ln w="1270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097243"/>
            <a:ext cx="19202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1" i="0" spc="100">
                <a:solidFill>
                  <a:srgbClr val="046A38"/>
                </a:solidFill>
                <a:latin typeface="Courier New"/>
              </a:rPr>
              <a:t>THE PROOF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15768" y="4097243"/>
            <a:ext cx="868039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Rule ledger  ·  your own tests replayed  ·  line-level traceability  ·  review triage  ·  sign-off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No AI is used here at all — it checks the AI's work by reading what the run recorded.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2967" y="4901915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157947"/>
            <a:ext cx="11057839" cy="62910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157947"/>
            <a:ext cx="1920240" cy="6291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1" i="0" spc="100">
                <a:solidFill>
                  <a:srgbClr val="A9622F"/>
                </a:solidFill>
                <a:latin typeface="Courier New"/>
              </a:rPr>
              <a:t>THE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15768" y="5157947"/>
            <a:ext cx="8680399" cy="6291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One gateway  —  Anthropic Claude  ·  a cheaper model for simple work  ·  an offline mode that makes no calls at 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77900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300"/>
              </a:spcAft>
            </a:pPr>
            <a:r>
              <a:rPr sz="1300" b="0" i="0">
                <a:solidFill>
                  <a:srgbClr val="53565A"/>
                </a:solidFill>
                <a:latin typeface="Arial"/>
              </a:rPr>
              <a:t>Every AI call goes through one door, so cost, retries and caching are controlled in one place — and </a:t>
            </a:r>
            <a:r>
              <a:rPr sz="1300" b="1" i="0">
                <a:solidFill>
                  <a:srgbClr val="0E0E0E"/>
                </a:solidFill>
                <a:latin typeface="Arial"/>
              </a:rPr>
              <a:t>the offline mode lets you evaluate the whole thing with zero exposure</a:t>
            </a:r>
            <a:r>
              <a:rPr sz="1300" b="0" i="0">
                <a:solidFill>
                  <a:srgbClr val="53565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 i="0" spc="200">
                <a:solidFill>
                  <a:srgbClr val="046A38"/>
                </a:solidFill>
                <a:latin typeface="Courier New"/>
              </a:rPr>
              <a:t>03 · HOW A MIGRATION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Minutes of machine work. Three moments that are yours.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89888"/>
            <a:ext cx="822960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00" b="0" i="0" spc="140">
                <a:solidFill>
                  <a:srgbClr val="8F9296"/>
                </a:solidFill>
                <a:latin typeface="Courier New"/>
              </a:rPr>
              <a:t>H2A  ·  HYBRIS TO 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7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Courier New"/>
              </a:rPr>
              <a:t>04 / 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7" y="2889504"/>
            <a:ext cx="10509199" cy="45720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0912" y="2775204"/>
            <a:ext cx="274320" cy="27432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60912" y="27752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938528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12404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Finds every file and
works out the shape</a:t>
            </a:r>
          </a:p>
        </p:txBody>
      </p:sp>
      <p:sp>
        <p:nvSpPr>
          <p:cNvPr id="13" name="Oval 12"/>
          <p:cNvSpPr/>
          <p:nvPr/>
        </p:nvSpPr>
        <p:spPr>
          <a:xfrm>
            <a:off x="2674562" y="2775204"/>
            <a:ext cx="274320" cy="27432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4562" y="27752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4897" y="1938528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Check the bill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1473" y="2286000"/>
            <a:ext cx="12404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What it will cost, and
what clashes in your org</a:t>
            </a:r>
          </a:p>
        </p:txBody>
      </p:sp>
      <p:sp>
        <p:nvSpPr>
          <p:cNvPr id="17" name="Oval 16"/>
          <p:cNvSpPr/>
          <p:nvPr/>
        </p:nvSpPr>
        <p:spPr>
          <a:xfrm>
            <a:off x="3951636" y="2738628"/>
            <a:ext cx="347472" cy="347472"/>
          </a:xfrm>
          <a:prstGeom prst="ellipse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1636" y="273862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8547" y="3255264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50" b="1" i="0" spc="60">
                <a:solidFill>
                  <a:srgbClr val="A9622F"/>
                </a:solidFill>
                <a:latin typeface="Courier New"/>
              </a:rPr>
              <a:t>YOU APPROVE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123" y="3584448"/>
            <a:ext cx="124049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Before a single
AI call is made</a:t>
            </a:r>
          </a:p>
        </p:txBody>
      </p:sp>
      <p:sp>
        <p:nvSpPr>
          <p:cNvPr id="21" name="Oval 20"/>
          <p:cNvSpPr/>
          <p:nvPr/>
        </p:nvSpPr>
        <p:spPr>
          <a:xfrm>
            <a:off x="5301862" y="2775204"/>
            <a:ext cx="274320" cy="27432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1862" y="27752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197" y="1938528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Understand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773" y="2286000"/>
            <a:ext cx="12404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What each class does,
and the rules inside it</a:t>
            </a:r>
          </a:p>
        </p:txBody>
      </p:sp>
      <p:sp>
        <p:nvSpPr>
          <p:cNvPr id="25" name="Oval 24"/>
          <p:cNvSpPr/>
          <p:nvPr/>
        </p:nvSpPr>
        <p:spPr>
          <a:xfrm>
            <a:off x="6578936" y="2738628"/>
            <a:ext cx="347472" cy="347472"/>
          </a:xfrm>
          <a:prstGeom prst="ellipse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8936" y="273862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7" y="3255264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50" b="1" i="0" spc="60">
                <a:solidFill>
                  <a:srgbClr val="A9622F"/>
                </a:solidFill>
                <a:latin typeface="Courier New"/>
              </a:rPr>
              <a:t>YOU APPROVE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32423" y="3584448"/>
            <a:ext cx="124049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The plan — change
anything you disagree with</a:t>
            </a:r>
          </a:p>
        </p:txBody>
      </p:sp>
      <p:sp>
        <p:nvSpPr>
          <p:cNvPr id="29" name="Oval 28"/>
          <p:cNvSpPr/>
          <p:nvPr/>
        </p:nvSpPr>
        <p:spPr>
          <a:xfrm>
            <a:off x="7929162" y="2775204"/>
            <a:ext cx="274320" cy="27432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9162" y="27752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9497" y="1938528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Build &amp;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6073" y="2286000"/>
            <a:ext cx="12404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Writes it, then a second
AI challenges it</a:t>
            </a:r>
          </a:p>
        </p:txBody>
      </p:sp>
      <p:sp>
        <p:nvSpPr>
          <p:cNvPr id="33" name="Oval 32"/>
          <p:cNvSpPr/>
          <p:nvPr/>
        </p:nvSpPr>
        <p:spPr>
          <a:xfrm>
            <a:off x="9206236" y="2738628"/>
            <a:ext cx="347472" cy="347472"/>
          </a:xfrm>
          <a:prstGeom prst="ellipse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6236" y="273862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3147" y="3255264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50" b="1" i="0" spc="60">
                <a:solidFill>
                  <a:srgbClr val="A9622F"/>
                </a:solidFill>
                <a:latin typeface="Courier New"/>
              </a:rPr>
              <a:t>YOU APPROVE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9723" y="3584448"/>
            <a:ext cx="124049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The code — or send it
back for a rework</a:t>
            </a:r>
          </a:p>
        </p:txBody>
      </p:sp>
      <p:sp>
        <p:nvSpPr>
          <p:cNvPr id="37" name="Oval 36"/>
          <p:cNvSpPr/>
          <p:nvPr/>
        </p:nvSpPr>
        <p:spPr>
          <a:xfrm>
            <a:off x="10556462" y="2775204"/>
            <a:ext cx="274320" cy="27432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56462" y="27752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6797" y="1938528"/>
            <a:ext cx="131364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Verify &amp; prove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73373" y="2286000"/>
            <a:ext cx="12404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Deploys for real, then
proves the rules survived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1572768"/>
            <a:ext cx="11057839" cy="274320"/>
          </a:xfrm>
          <a:prstGeom prst="rect">
            <a:avLst/>
          </a:prstGeom>
          <a:solidFill>
            <a:srgbClr val="EC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1572768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1" i="0" spc="120">
                <a:solidFill>
                  <a:srgbClr val="046A38"/>
                </a:solidFill>
                <a:latin typeface="Courier New"/>
              </a:rPr>
              <a:t>THE MACHINE WORKS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443984"/>
            <a:ext cx="11057839" cy="292608"/>
          </a:xfrm>
          <a:prstGeom prst="rect">
            <a:avLst/>
          </a:prstGeom>
          <a:solidFill>
            <a:srgbClr val="F7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4443984"/>
            <a:ext cx="1076523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00" b="1" i="0" spc="120">
                <a:solidFill>
                  <a:srgbClr val="A9622F"/>
                </a:solidFill>
                <a:latin typeface="Courier New"/>
              </a:rPr>
              <a:t>YOU DECIDE  —  AND CAN STOP AT ANY POINT TO FIX THE SOURCE, THEN RE-RUN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02920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Nothing happens that you did not approve. </a:t>
            </a:r>
            <a:r>
              <a:rPr sz="1300" b="0" i="0">
                <a:solidFill>
                  <a:srgbClr val="53565A"/>
                </a:solidFill>
                <a:latin typeface="Arial"/>
              </a:rPr>
              <a:t>The first gate comes </a:t>
            </a:r>
            <a:r>
              <a:rPr sz="1300" b="1" i="0">
                <a:solidFill>
                  <a:srgbClr val="0E0E0E"/>
                </a:solidFill>
                <a:latin typeface="Arial"/>
              </a:rPr>
              <a:t>before any AI is used</a:t>
            </a:r>
            <a:r>
              <a:rPr sz="1300" b="0" i="0">
                <a:solidFill>
                  <a:srgbClr val="53565A"/>
                </a:solidFill>
                <a:latin typeface="Arial"/>
              </a:rPr>
              <a:t> — so if the tool has misread your codebase, you find out at zero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 i="0" spc="200">
                <a:solidFill>
                  <a:srgbClr val="046A38"/>
                </a:solidFill>
                <a:latin typeface="Courier New"/>
              </a:rPr>
              <a:t>04 · WHY YOU CAN TRUST THE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Anyone can hand you Apex. This proves it still behaves the same.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89888"/>
            <a:ext cx="822960" cy="4572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00" b="0" i="0" spc="140">
                <a:solidFill>
                  <a:srgbClr val="8F9296"/>
                </a:solidFill>
                <a:latin typeface="Courier New"/>
              </a:rPr>
              <a:t>H2A  ·  HYBRIS TO 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7" y="6455664"/>
            <a:ext cx="5528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800" b="0" i="0">
                <a:solidFill>
                  <a:srgbClr val="8F9296"/>
                </a:solidFill>
                <a:latin typeface="Courier New"/>
              </a:rPr>
              <a:t>05 / 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3484778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3484778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4997" y="2167128"/>
            <a:ext cx="548640" cy="54864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4997" y="216712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43784"/>
            <a:ext cx="308244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Every rule is tracked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64408"/>
            <a:ext cx="308244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Each business rule found in your Java is followed to the finished code and lands in one of four buckets — including “nothing carries this any more”. That last one is what no other tool shows you.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3458" y="1783080"/>
            <a:ext cx="3484778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3458" y="1783080"/>
            <a:ext cx="3484778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21527" y="2167128"/>
            <a:ext cx="548640" cy="54864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216712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4626" y="2843784"/>
            <a:ext cx="308244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Your own tests, replayed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4626" y="3264408"/>
            <a:ext cx="308244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We take your existing JUnit suite, extract what the old code actually did, and replay it against the new Apex. The AI can set a test up — it is never allowed to write the expected answer.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9988" y="1783080"/>
            <a:ext cx="3484778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9988" y="1783080"/>
            <a:ext cx="3484778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8057" y="2167128"/>
            <a:ext cx="548640" cy="54864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8057" y="216712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43784"/>
            <a:ext cx="308244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Deployed, not assumed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1156" y="3264408"/>
            <a:ext cx="308244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Connect an org and the output is deployed to it — validation only, nothing destructive. Real compiler errors are read and fixed until it is green, and the sign-off says plainly whether this step ran.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590288"/>
            <a:ext cx="11057839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A96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590288"/>
            <a:ext cx="68580" cy="1024128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754880"/>
            <a:ext cx="105091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 i="0" spc="160">
                <a:solidFill>
                  <a:srgbClr val="A9622F"/>
                </a:solidFill>
                <a:latin typeface="Courier New"/>
              </a:rPr>
              <a:t>AND IT TELLS YOU WHAT IT CANNOT 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0749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Every run ends with a sign-off document recording who approved what, on what evidence — and, listed just as prominently, the rules with no test, the code with no traceable origin, and whether a real org ever compiled it.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There is no “100%” badge anywhere in this product, deliberately.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870448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A number you can trust when it is green </a:t>
            </a:r>
            <a:r>
              <a:rPr sz="1300" b="0" i="0">
                <a:solidFill>
                  <a:srgbClr val="53565A"/>
                </a:solidFill>
                <a:latin typeface="Arial"/>
              </a:rPr>
              <a:t>is worth more than a green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